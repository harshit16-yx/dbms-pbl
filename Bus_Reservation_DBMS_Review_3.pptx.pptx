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mbria" charset="1" panose="02040503050406030204"/>
      <p:regular r:id="rId18"/>
    </p:embeddedFont>
    <p:embeddedFont>
      <p:font typeface="Cambria Bold" charset="1" panose="02040803050406030204"/>
      <p:regular r:id="rId19"/>
    </p:embeddedFont>
    <p:embeddedFont>
      <p:font typeface="Calibri (MS)" charset="1" panose="020F0502020204030204"/>
      <p:regular r:id="rId20"/>
    </p:embeddedFont>
    <p:embeddedFont>
      <p:font typeface="Calibri (MS) Bold" charset="1" panose="020F0702030404030204"/>
      <p:regular r:id="rId21"/>
    </p:embeddedFont>
    <p:embeddedFont>
      <p:font typeface="Calibri (MS) Italics" charset="1" panose="020F05020202040A0204"/>
      <p:regular r:id="rId24"/>
    </p:embeddedFont>
    <p:embeddedFont>
      <p:font typeface="Consolas" charset="1" panose="020B060902020403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1097280" y="822960"/>
            <a:ext cx="10972800" cy="548640"/>
            <a:chOff x="0" y="0"/>
            <a:chExt cx="14630400" cy="731520"/>
          </a:xfrm>
        </p:grpSpPr>
        <p:sp>
          <p:nvSpPr>
            <p:cNvPr name="Freeform 3" id="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4" id="4"/>
            <p:cNvSpPr txBox="true"/>
            <p:nvPr/>
          </p:nvSpPr>
          <p:spPr>
            <a:xfrm>
              <a:off x="0" y="-9525"/>
              <a:ext cx="14630400" cy="741045"/>
            </a:xfrm>
            <a:prstGeom prst="rect">
              <a:avLst/>
            </a:prstGeom>
          </p:spPr>
          <p:txBody>
            <a:bodyPr anchor="ctr" rtlCol="false" tIns="0" lIns="0" bIns="0" rIns="0"/>
            <a:lstStyle/>
            <a:p>
              <a:pPr algn="l">
                <a:lnSpc>
                  <a:spcPts val="2879"/>
                </a:lnSpc>
              </a:pPr>
              <a:r>
                <a:rPr lang="en-US" sz="2400">
                  <a:solidFill>
                    <a:srgbClr val="1B4A4A"/>
                  </a:solidFill>
                  <a:latin typeface="Cambria"/>
                  <a:ea typeface="Cambria"/>
                  <a:cs typeface="Cambria"/>
                  <a:sym typeface="Cambria"/>
                </a:rPr>
                <a:t>DBMS – PBL  |  Review 3</a:t>
              </a:r>
            </a:p>
          </p:txBody>
        </p:sp>
      </p:grpSp>
      <p:sp>
        <p:nvSpPr>
          <p:cNvPr name="TextBox 5" id="5"/>
          <p:cNvSpPr txBox="true"/>
          <p:nvPr/>
        </p:nvSpPr>
        <p:spPr>
          <a:xfrm rot="0">
            <a:off x="1097280" y="2185035"/>
            <a:ext cx="15361920" cy="2935605"/>
          </a:xfrm>
          <a:prstGeom prst="rect">
            <a:avLst/>
          </a:prstGeom>
        </p:spPr>
        <p:txBody>
          <a:bodyPr anchor="t" rtlCol="false" tIns="0" lIns="0" bIns="0" rIns="0">
            <a:spAutoFit/>
          </a:bodyPr>
          <a:lstStyle/>
          <a:p>
            <a:pPr algn="l">
              <a:lnSpc>
                <a:spcPts val="6239"/>
              </a:lnSpc>
            </a:pPr>
            <a:r>
              <a:rPr lang="en-US" sz="5199" b="true">
                <a:solidFill>
                  <a:srgbClr val="1B4A4A"/>
                </a:solidFill>
                <a:latin typeface="Cambria Bold"/>
                <a:ea typeface="Cambria Bold"/>
                <a:cs typeface="Cambria Bold"/>
                <a:sym typeface="Cambria Bold"/>
              </a:rPr>
              <a:t>Design and Implementation of a Database Management System for Bus Reservation and Fleet Scheduling System</a:t>
            </a:r>
          </a:p>
        </p:txBody>
      </p:sp>
      <p:grpSp>
        <p:nvGrpSpPr>
          <p:cNvPr name="Group 6" id="6"/>
          <p:cNvGrpSpPr/>
          <p:nvPr/>
        </p:nvGrpSpPr>
        <p:grpSpPr>
          <a:xfrm rot="0">
            <a:off x="1084583" y="6570983"/>
            <a:ext cx="7706363" cy="2402843"/>
            <a:chOff x="0" y="0"/>
            <a:chExt cx="10275151" cy="3203791"/>
          </a:xfrm>
        </p:grpSpPr>
        <p:sp>
          <p:nvSpPr>
            <p:cNvPr name="Freeform 7" id="7"/>
            <p:cNvSpPr/>
            <p:nvPr/>
          </p:nvSpPr>
          <p:spPr>
            <a:xfrm flipH="false" flipV="false" rot="0">
              <a:off x="0" y="0"/>
              <a:ext cx="10275062" cy="3203702"/>
            </a:xfrm>
            <a:custGeom>
              <a:avLst/>
              <a:gdLst/>
              <a:ahLst/>
              <a:cxnLst/>
              <a:rect r="r" b="b" t="t" l="l"/>
              <a:pathLst>
                <a:path h="3203702" w="10275062">
                  <a:moveTo>
                    <a:pt x="0" y="197104"/>
                  </a:moveTo>
                  <a:cubicBezTo>
                    <a:pt x="0" y="88265"/>
                    <a:pt x="88265" y="0"/>
                    <a:pt x="197104" y="0"/>
                  </a:cubicBezTo>
                  <a:lnTo>
                    <a:pt x="10077958" y="0"/>
                  </a:lnTo>
                  <a:cubicBezTo>
                    <a:pt x="10186797" y="0"/>
                    <a:pt x="10275062" y="88265"/>
                    <a:pt x="10275062" y="197104"/>
                  </a:cubicBezTo>
                  <a:lnTo>
                    <a:pt x="10275062" y="3006598"/>
                  </a:lnTo>
                  <a:cubicBezTo>
                    <a:pt x="10275062" y="3115437"/>
                    <a:pt x="10186797" y="3203702"/>
                    <a:pt x="10077958" y="3203702"/>
                  </a:cubicBezTo>
                  <a:lnTo>
                    <a:pt x="197104" y="3203702"/>
                  </a:lnTo>
                  <a:cubicBezTo>
                    <a:pt x="88265" y="3203829"/>
                    <a:pt x="0" y="3115564"/>
                    <a:pt x="0" y="3006598"/>
                  </a:cubicBezTo>
                  <a:close/>
                </a:path>
              </a:pathLst>
            </a:custGeom>
            <a:solidFill>
              <a:srgbClr val="FFFFFF"/>
            </a:solidFill>
            <a:ln w="25400" cap="sq">
              <a:solidFill>
                <a:srgbClr val="FFFFFF"/>
              </a:solidFill>
              <a:prstDash val="solid"/>
              <a:miter/>
            </a:ln>
          </p:spPr>
        </p:sp>
      </p:grpSp>
      <p:grpSp>
        <p:nvGrpSpPr>
          <p:cNvPr name="Group 8" id="8"/>
          <p:cNvGrpSpPr/>
          <p:nvPr/>
        </p:nvGrpSpPr>
        <p:grpSpPr>
          <a:xfrm rot="0">
            <a:off x="1554480" y="6766560"/>
            <a:ext cx="6949440" cy="2011680"/>
            <a:chOff x="0" y="0"/>
            <a:chExt cx="9265920" cy="2682240"/>
          </a:xfrm>
        </p:grpSpPr>
        <p:sp>
          <p:nvSpPr>
            <p:cNvPr name="Freeform 9" id="9"/>
            <p:cNvSpPr/>
            <p:nvPr/>
          </p:nvSpPr>
          <p:spPr>
            <a:xfrm flipH="false" flipV="false" rot="0">
              <a:off x="0" y="0"/>
              <a:ext cx="9265920" cy="2682240"/>
            </a:xfrm>
            <a:custGeom>
              <a:avLst/>
              <a:gdLst/>
              <a:ahLst/>
              <a:cxnLst/>
              <a:rect r="r" b="b" t="t" l="l"/>
              <a:pathLst>
                <a:path h="2682240" w="9265920">
                  <a:moveTo>
                    <a:pt x="0" y="0"/>
                  </a:moveTo>
                  <a:lnTo>
                    <a:pt x="9265920" y="0"/>
                  </a:lnTo>
                  <a:lnTo>
                    <a:pt x="9265920" y="2682240"/>
                  </a:lnTo>
                  <a:lnTo>
                    <a:pt x="0" y="2682240"/>
                  </a:lnTo>
                  <a:close/>
                </a:path>
              </a:pathLst>
            </a:custGeom>
            <a:blipFill>
              <a:blip r:embed="rId3">
                <a:alphaModFix amt="0"/>
              </a:blip>
              <a:stretch>
                <a:fillRect l="0" t="-17311" r="0" b="-17311"/>
              </a:stretch>
            </a:blipFill>
          </p:spPr>
        </p:sp>
        <p:sp>
          <p:nvSpPr>
            <p:cNvPr name="TextBox 10" id="10"/>
            <p:cNvSpPr txBox="true"/>
            <p:nvPr/>
          </p:nvSpPr>
          <p:spPr>
            <a:xfrm>
              <a:off x="0" y="-38100"/>
              <a:ext cx="9265920" cy="2720340"/>
            </a:xfrm>
            <a:prstGeom prst="rect">
              <a:avLst/>
            </a:prstGeom>
          </p:spPr>
          <p:txBody>
            <a:bodyPr anchor="ctr" rtlCol="false" tIns="0" lIns="0" bIns="0" rIns="0"/>
            <a:lstStyle/>
            <a:p>
              <a:pPr algn="l">
                <a:lnSpc>
                  <a:spcPts val="2160"/>
                </a:lnSpc>
              </a:pPr>
              <a:r>
                <a:rPr lang="en-US" sz="1800">
                  <a:solidFill>
                    <a:srgbClr val="5C7A70"/>
                  </a:solidFill>
                  <a:latin typeface="Calibri (MS)"/>
                  <a:ea typeface="Calibri (MS)"/>
                  <a:cs typeface="Calibri (MS)"/>
                  <a:sym typeface="Calibri (MS)"/>
                </a:rPr>
                <a:t>by</a:t>
              </a:r>
            </a:p>
            <a:p>
              <a:pPr algn="l">
                <a:lnSpc>
                  <a:spcPts val="3120"/>
                </a:lnSpc>
              </a:pPr>
              <a:r>
                <a:rPr lang="en-US" sz="2600" b="true">
                  <a:solidFill>
                    <a:srgbClr val="1F332F"/>
                  </a:solidFill>
                  <a:latin typeface="Calibri (MS) Bold"/>
                  <a:ea typeface="Calibri (MS) Bold"/>
                  <a:cs typeface="Calibri (MS) Bold"/>
                  <a:sym typeface="Calibri (MS) Bold"/>
                </a:rPr>
                <a:t>Harshit Palla</a:t>
              </a:r>
            </a:p>
            <a:p>
              <a:pPr algn="l">
                <a:lnSpc>
                  <a:spcPts val="2400"/>
                </a:lnSpc>
              </a:pPr>
              <a:r>
                <a:rPr lang="en-US" sz="2000">
                  <a:solidFill>
                    <a:srgbClr val="1F332F"/>
                  </a:solidFill>
                  <a:latin typeface="Calibri (MS)"/>
                  <a:ea typeface="Calibri (MS)"/>
                  <a:cs typeface="Calibri (MS)"/>
                  <a:sym typeface="Calibri (MS)"/>
                </a:rPr>
                <a:t>B.Tech AIML  |  Woxsen University</a:t>
              </a:r>
            </a:p>
            <a:p>
              <a:pPr algn="l">
                <a:lnSpc>
                  <a:spcPts val="2400"/>
                </a:lnSpc>
              </a:pPr>
              <a:r>
                <a:rPr lang="en-US" sz="2000">
                  <a:solidFill>
                    <a:srgbClr val="1F332F"/>
                  </a:solidFill>
                  <a:latin typeface="Calibri (MS)"/>
                  <a:ea typeface="Calibri (MS)"/>
                  <a:cs typeface="Calibri (MS)"/>
                  <a:sym typeface="Calibri (MS)"/>
                </a:rPr>
                <a:t>25WU0102095</a:t>
              </a:r>
            </a:p>
          </p:txBody>
        </p:sp>
      </p:grpSp>
      <p:grpSp>
        <p:nvGrpSpPr>
          <p:cNvPr name="Group 11" id="11"/>
          <p:cNvGrpSpPr/>
          <p:nvPr/>
        </p:nvGrpSpPr>
        <p:grpSpPr>
          <a:xfrm rot="0">
            <a:off x="11691623" y="6845303"/>
            <a:ext cx="5511803" cy="1854203"/>
            <a:chOff x="0" y="0"/>
            <a:chExt cx="7349071" cy="2472271"/>
          </a:xfrm>
        </p:grpSpPr>
        <p:sp>
          <p:nvSpPr>
            <p:cNvPr name="Freeform 12" id="12"/>
            <p:cNvSpPr/>
            <p:nvPr/>
          </p:nvSpPr>
          <p:spPr>
            <a:xfrm flipH="false" flipV="false" rot="0">
              <a:off x="0" y="0"/>
              <a:ext cx="7348982" cy="2472182"/>
            </a:xfrm>
            <a:custGeom>
              <a:avLst/>
              <a:gdLst/>
              <a:ahLst/>
              <a:cxnLst/>
              <a:rect r="r" b="b" t="t" l="l"/>
              <a:pathLst>
                <a:path h="2472182" w="7348982">
                  <a:moveTo>
                    <a:pt x="0" y="197739"/>
                  </a:moveTo>
                  <a:cubicBezTo>
                    <a:pt x="0" y="88519"/>
                    <a:pt x="88519" y="0"/>
                    <a:pt x="197739" y="0"/>
                  </a:cubicBezTo>
                  <a:lnTo>
                    <a:pt x="7151243" y="0"/>
                  </a:lnTo>
                  <a:cubicBezTo>
                    <a:pt x="7260463" y="0"/>
                    <a:pt x="7348982" y="88519"/>
                    <a:pt x="7348982" y="197739"/>
                  </a:cubicBezTo>
                  <a:lnTo>
                    <a:pt x="7348982" y="2274443"/>
                  </a:lnTo>
                  <a:cubicBezTo>
                    <a:pt x="7348982" y="2383663"/>
                    <a:pt x="7260463" y="2472182"/>
                    <a:pt x="7151243" y="2472182"/>
                  </a:cubicBezTo>
                  <a:lnTo>
                    <a:pt x="197739" y="2472182"/>
                  </a:lnTo>
                  <a:cubicBezTo>
                    <a:pt x="88519" y="2472309"/>
                    <a:pt x="0" y="2383663"/>
                    <a:pt x="0" y="2274443"/>
                  </a:cubicBezTo>
                  <a:close/>
                </a:path>
              </a:pathLst>
            </a:custGeom>
            <a:solidFill>
              <a:srgbClr val="1B4A4A"/>
            </a:solidFill>
            <a:ln w="25400" cap="sq">
              <a:solidFill>
                <a:srgbClr val="1B4A4A"/>
              </a:solidFill>
              <a:prstDash val="solid"/>
              <a:miter/>
            </a:ln>
          </p:spPr>
        </p:sp>
      </p:grpSp>
      <p:grpSp>
        <p:nvGrpSpPr>
          <p:cNvPr name="Group 13" id="13"/>
          <p:cNvGrpSpPr/>
          <p:nvPr/>
        </p:nvGrpSpPr>
        <p:grpSpPr>
          <a:xfrm rot="0">
            <a:off x="11704320" y="6858000"/>
            <a:ext cx="5486400" cy="1828800"/>
            <a:chOff x="0" y="0"/>
            <a:chExt cx="7315200" cy="2438400"/>
          </a:xfrm>
        </p:grpSpPr>
        <p:sp>
          <p:nvSpPr>
            <p:cNvPr name="Freeform 14" id="14"/>
            <p:cNvSpPr/>
            <p:nvPr/>
          </p:nvSpPr>
          <p:spPr>
            <a:xfrm flipH="false" flipV="false" rot="0">
              <a:off x="0" y="0"/>
              <a:ext cx="7315200" cy="2438400"/>
            </a:xfrm>
            <a:custGeom>
              <a:avLst/>
              <a:gdLst/>
              <a:ahLst/>
              <a:cxnLst/>
              <a:rect r="r" b="b" t="t" l="l"/>
              <a:pathLst>
                <a:path h="2438400" w="7315200">
                  <a:moveTo>
                    <a:pt x="0" y="0"/>
                  </a:moveTo>
                  <a:lnTo>
                    <a:pt x="7315200" y="0"/>
                  </a:lnTo>
                  <a:lnTo>
                    <a:pt x="7315200" y="2438400"/>
                  </a:lnTo>
                  <a:lnTo>
                    <a:pt x="0" y="2438400"/>
                  </a:lnTo>
                  <a:close/>
                </a:path>
              </a:pathLst>
            </a:custGeom>
            <a:blipFill>
              <a:blip r:embed="rId3">
                <a:alphaModFix amt="0"/>
              </a:blip>
              <a:stretch>
                <a:fillRect l="0" t="-8455" r="0" b="-8455"/>
              </a:stretch>
            </a:blipFill>
          </p:spPr>
        </p:sp>
        <p:sp>
          <p:nvSpPr>
            <p:cNvPr name="TextBox 15" id="15"/>
            <p:cNvSpPr txBox="true"/>
            <p:nvPr/>
          </p:nvSpPr>
          <p:spPr>
            <a:xfrm>
              <a:off x="0" y="-47625"/>
              <a:ext cx="7315200" cy="2486025"/>
            </a:xfrm>
            <a:prstGeom prst="rect">
              <a:avLst/>
            </a:prstGeom>
          </p:spPr>
          <p:txBody>
            <a:bodyPr anchor="ctr" rtlCol="false" tIns="0" lIns="0" bIns="0" rIns="0"/>
            <a:lstStyle/>
            <a:p>
              <a:pPr algn="ctr">
                <a:lnSpc>
                  <a:spcPts val="2639"/>
                </a:lnSpc>
              </a:pPr>
              <a:r>
                <a:rPr lang="en-US" sz="2199" b="true">
                  <a:solidFill>
                    <a:srgbClr val="FFFFFF"/>
                  </a:solidFill>
                  <a:latin typeface="Calibri (MS) Bold"/>
                  <a:ea typeface="Calibri (MS) Bold"/>
                  <a:cs typeface="Calibri (MS) Bold"/>
                  <a:sym typeface="Calibri (MS) Bold"/>
                </a:rPr>
                <a:t>MySQL back-end: built</a:t>
              </a:r>
            </a:p>
            <a:p>
              <a:pPr algn="ctr">
                <a:lnSpc>
                  <a:spcPts val="2639"/>
                </a:lnSpc>
              </a:pPr>
              <a:r>
                <a:rPr lang="en-US" sz="2199" b="true">
                  <a:solidFill>
                    <a:srgbClr val="FFFFFF"/>
                  </a:solidFill>
                  <a:latin typeface="Calibri (MS) Bold"/>
                  <a:ea typeface="Calibri (MS) Bold"/>
                  <a:cs typeface="Calibri (MS) Bold"/>
                  <a:sym typeface="Calibri (MS) Bold"/>
                </a:rPr>
                <a:t>Application layer: in progress</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WHERE WE STARTED AND WHAT WE BUILT</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Project Recap</a:t>
              </a:r>
            </a:p>
          </p:txBody>
        </p:sp>
      </p:grpSp>
      <p:grpSp>
        <p:nvGrpSpPr>
          <p:cNvPr name="Group 11" id="11"/>
          <p:cNvGrpSpPr/>
          <p:nvPr/>
        </p:nvGrpSpPr>
        <p:grpSpPr>
          <a:xfrm rot="0">
            <a:off x="901703" y="2181863"/>
            <a:ext cx="8072123" cy="3134363"/>
            <a:chOff x="0" y="0"/>
            <a:chExt cx="10762831" cy="4179151"/>
          </a:xfrm>
        </p:grpSpPr>
        <p:sp>
          <p:nvSpPr>
            <p:cNvPr name="Freeform 12" id="12"/>
            <p:cNvSpPr/>
            <p:nvPr/>
          </p:nvSpPr>
          <p:spPr>
            <a:xfrm flipH="false" flipV="false" rot="0">
              <a:off x="0" y="0"/>
              <a:ext cx="10762869" cy="4179189"/>
            </a:xfrm>
            <a:custGeom>
              <a:avLst/>
              <a:gdLst/>
              <a:ahLst/>
              <a:cxnLst/>
              <a:rect r="r" b="b" t="t" l="l"/>
              <a:pathLst>
                <a:path h="4179189" w="10762869">
                  <a:moveTo>
                    <a:pt x="0" y="196723"/>
                  </a:moveTo>
                  <a:cubicBezTo>
                    <a:pt x="0" y="88011"/>
                    <a:pt x="88011" y="0"/>
                    <a:pt x="196723" y="0"/>
                  </a:cubicBezTo>
                  <a:lnTo>
                    <a:pt x="10566146" y="0"/>
                  </a:lnTo>
                  <a:cubicBezTo>
                    <a:pt x="10674731" y="0"/>
                    <a:pt x="10762869" y="88011"/>
                    <a:pt x="10762869" y="196723"/>
                  </a:cubicBezTo>
                  <a:lnTo>
                    <a:pt x="10762869" y="3982466"/>
                  </a:lnTo>
                  <a:cubicBezTo>
                    <a:pt x="10762869" y="4091051"/>
                    <a:pt x="10674858" y="4179189"/>
                    <a:pt x="10566146" y="4179189"/>
                  </a:cubicBezTo>
                  <a:lnTo>
                    <a:pt x="196723" y="4179189"/>
                  </a:lnTo>
                  <a:cubicBezTo>
                    <a:pt x="88011" y="4179189"/>
                    <a:pt x="0" y="4091051"/>
                    <a:pt x="0" y="3982466"/>
                  </a:cubicBezTo>
                  <a:close/>
                </a:path>
              </a:pathLst>
            </a:custGeom>
            <a:solidFill>
              <a:srgbClr val="FFFFFF"/>
            </a:solidFill>
            <a:ln w="25400" cap="sq">
              <a:solidFill>
                <a:srgbClr val="FFFFFF"/>
              </a:solidFill>
              <a:prstDash val="solid"/>
              <a:miter/>
            </a:ln>
          </p:spPr>
        </p:sp>
      </p:grpSp>
      <p:sp>
        <p:nvSpPr>
          <p:cNvPr name="TextBox 13" id="13"/>
          <p:cNvSpPr txBox="true"/>
          <p:nvPr/>
        </p:nvSpPr>
        <p:spPr>
          <a:xfrm rot="0">
            <a:off x="1280160" y="2367915"/>
            <a:ext cx="7315200" cy="2752725"/>
          </a:xfrm>
          <a:prstGeom prst="rect">
            <a:avLst/>
          </a:prstGeom>
        </p:spPr>
        <p:txBody>
          <a:bodyPr anchor="t" rtlCol="false" tIns="0" lIns="0" bIns="0" rIns="0">
            <a:spAutoFit/>
          </a:bodyPr>
          <a:lstStyle/>
          <a:p>
            <a:pPr algn="l">
              <a:lnSpc>
                <a:spcPts val="2879"/>
              </a:lnSpc>
            </a:pPr>
            <a:r>
              <a:rPr lang="en-US" sz="2400" b="true">
                <a:solidFill>
                  <a:srgbClr val="1B4A4A"/>
                </a:solidFill>
                <a:latin typeface="Cambria Bold"/>
                <a:ea typeface="Cambria Bold"/>
                <a:cs typeface="Cambria Bold"/>
                <a:sym typeface="Cambria Bold"/>
              </a:rPr>
              <a:t>The Problem</a:t>
            </a:r>
          </a:p>
          <a:p>
            <a:pPr algn="l">
              <a:lnSpc>
                <a:spcPts val="2400"/>
              </a:lnSpc>
            </a:pPr>
            <a:r>
              <a:rPr lang="en-US" sz="2000">
                <a:solidFill>
                  <a:srgbClr val="1F332F"/>
                </a:solidFill>
                <a:latin typeface="Calibri (MS)"/>
                <a:ea typeface="Calibri (MS)"/>
                <a:cs typeface="Calibri (MS)"/>
                <a:sym typeface="Calibri (MS)"/>
              </a:rPr>
              <a:t>Bus operators manage routes, fleets, crews and bookings in registers and spreadsheets. Seats get double-booked, crews clash and reports are manual.</a:t>
            </a:r>
          </a:p>
        </p:txBody>
      </p:sp>
      <p:grpSp>
        <p:nvGrpSpPr>
          <p:cNvPr name="Group 14" id="14"/>
          <p:cNvGrpSpPr/>
          <p:nvPr/>
        </p:nvGrpSpPr>
        <p:grpSpPr>
          <a:xfrm rot="0">
            <a:off x="901703" y="5565143"/>
            <a:ext cx="8072123" cy="3591563"/>
            <a:chOff x="0" y="0"/>
            <a:chExt cx="10762831" cy="4788751"/>
          </a:xfrm>
        </p:grpSpPr>
        <p:sp>
          <p:nvSpPr>
            <p:cNvPr name="Freeform 15" id="15"/>
            <p:cNvSpPr/>
            <p:nvPr/>
          </p:nvSpPr>
          <p:spPr>
            <a:xfrm flipH="false" flipV="false" rot="0">
              <a:off x="0" y="0"/>
              <a:ext cx="10762869" cy="4788789"/>
            </a:xfrm>
            <a:custGeom>
              <a:avLst/>
              <a:gdLst/>
              <a:ahLst/>
              <a:cxnLst/>
              <a:rect r="r" b="b" t="t" l="l"/>
              <a:pathLst>
                <a:path h="4788789" w="10762869">
                  <a:moveTo>
                    <a:pt x="0" y="196469"/>
                  </a:moveTo>
                  <a:cubicBezTo>
                    <a:pt x="0" y="88011"/>
                    <a:pt x="88011" y="0"/>
                    <a:pt x="196469" y="0"/>
                  </a:cubicBezTo>
                  <a:lnTo>
                    <a:pt x="10566400" y="0"/>
                  </a:lnTo>
                  <a:cubicBezTo>
                    <a:pt x="10674858" y="0"/>
                    <a:pt x="10762869" y="88011"/>
                    <a:pt x="10762869" y="196469"/>
                  </a:cubicBezTo>
                  <a:lnTo>
                    <a:pt x="10762869" y="4592320"/>
                  </a:lnTo>
                  <a:cubicBezTo>
                    <a:pt x="10762869" y="4700778"/>
                    <a:pt x="10674858" y="4788789"/>
                    <a:pt x="10566400" y="4788789"/>
                  </a:cubicBezTo>
                  <a:lnTo>
                    <a:pt x="196469" y="4788789"/>
                  </a:lnTo>
                  <a:cubicBezTo>
                    <a:pt x="88011" y="4788789"/>
                    <a:pt x="0" y="4700778"/>
                    <a:pt x="0" y="4592320"/>
                  </a:cubicBezTo>
                  <a:close/>
                </a:path>
              </a:pathLst>
            </a:custGeom>
            <a:solidFill>
              <a:srgbClr val="FFFFFF"/>
            </a:solidFill>
            <a:ln w="25400" cap="sq">
              <a:solidFill>
                <a:srgbClr val="FFFFFF"/>
              </a:solidFill>
              <a:prstDash val="solid"/>
              <a:miter/>
            </a:ln>
          </p:spPr>
        </p:sp>
      </p:grpSp>
      <p:sp>
        <p:nvSpPr>
          <p:cNvPr name="TextBox 16" id="16"/>
          <p:cNvSpPr txBox="true"/>
          <p:nvPr/>
        </p:nvSpPr>
        <p:spPr>
          <a:xfrm rot="0">
            <a:off x="1280160" y="5751195"/>
            <a:ext cx="7315200" cy="3209925"/>
          </a:xfrm>
          <a:prstGeom prst="rect">
            <a:avLst/>
          </a:prstGeom>
        </p:spPr>
        <p:txBody>
          <a:bodyPr anchor="t" rtlCol="false" tIns="0" lIns="0" bIns="0" rIns="0">
            <a:spAutoFit/>
          </a:bodyPr>
          <a:lstStyle/>
          <a:p>
            <a:pPr algn="l">
              <a:lnSpc>
                <a:spcPts val="2879"/>
              </a:lnSpc>
            </a:pPr>
            <a:r>
              <a:rPr lang="en-US" sz="2400" b="true">
                <a:solidFill>
                  <a:srgbClr val="1B4A4A"/>
                </a:solidFill>
                <a:latin typeface="Cambria Bold"/>
                <a:ea typeface="Cambria Bold"/>
                <a:cs typeface="Cambria Bold"/>
                <a:sym typeface="Cambria Bold"/>
              </a:rPr>
              <a:t>The Solution</a:t>
            </a:r>
          </a:p>
          <a:p>
            <a:pPr algn="l">
              <a:lnSpc>
                <a:spcPts val="2400"/>
              </a:lnSpc>
            </a:pPr>
            <a:r>
              <a:rPr lang="en-US" sz="2000">
                <a:solidFill>
                  <a:srgbClr val="1F332F"/>
                </a:solidFill>
                <a:latin typeface="Calibri (MS)"/>
                <a:ea typeface="Calibri (MS)"/>
                <a:cs typeface="Calibri (MS)"/>
                <a:sym typeface="Calibri (MS)"/>
              </a:rPr>
              <a:t>A MySQL database that enforces the booking, crew and refund rules itself, with an application on top for search, booking and cancellation (in progress).</a:t>
            </a:r>
          </a:p>
        </p:txBody>
      </p:sp>
      <p:grpSp>
        <p:nvGrpSpPr>
          <p:cNvPr name="Group 17" id="17"/>
          <p:cNvGrpSpPr/>
          <p:nvPr/>
        </p:nvGrpSpPr>
        <p:grpSpPr>
          <a:xfrm rot="0">
            <a:off x="9314183" y="2181863"/>
            <a:ext cx="3865883" cy="3408683"/>
            <a:chOff x="0" y="0"/>
            <a:chExt cx="5154511" cy="4544911"/>
          </a:xfrm>
        </p:grpSpPr>
        <p:sp>
          <p:nvSpPr>
            <p:cNvPr name="Freeform 18" id="18"/>
            <p:cNvSpPr/>
            <p:nvPr/>
          </p:nvSpPr>
          <p:spPr>
            <a:xfrm flipH="false" flipV="false" rot="0">
              <a:off x="0" y="0"/>
              <a:ext cx="5154422" cy="4544822"/>
            </a:xfrm>
            <a:custGeom>
              <a:avLst/>
              <a:gdLst/>
              <a:ahLst/>
              <a:cxnLst/>
              <a:rect r="r" b="b" t="t" l="l"/>
              <a:pathLst>
                <a:path h="4544822" w="5154422">
                  <a:moveTo>
                    <a:pt x="0" y="196469"/>
                  </a:moveTo>
                  <a:cubicBezTo>
                    <a:pt x="0" y="88011"/>
                    <a:pt x="88011" y="0"/>
                    <a:pt x="196469" y="0"/>
                  </a:cubicBezTo>
                  <a:lnTo>
                    <a:pt x="4957953" y="0"/>
                  </a:lnTo>
                  <a:cubicBezTo>
                    <a:pt x="5066538" y="0"/>
                    <a:pt x="5154422" y="88011"/>
                    <a:pt x="5154422" y="196469"/>
                  </a:cubicBezTo>
                  <a:lnTo>
                    <a:pt x="5154422" y="4348353"/>
                  </a:lnTo>
                  <a:cubicBezTo>
                    <a:pt x="5154422" y="4456938"/>
                    <a:pt x="5066411" y="4544822"/>
                    <a:pt x="4957953" y="4544822"/>
                  </a:cubicBezTo>
                  <a:lnTo>
                    <a:pt x="196469" y="4544822"/>
                  </a:lnTo>
                  <a:cubicBezTo>
                    <a:pt x="88011" y="4544949"/>
                    <a:pt x="0" y="4456938"/>
                    <a:pt x="0" y="4348353"/>
                  </a:cubicBezTo>
                  <a:close/>
                </a:path>
              </a:pathLst>
            </a:custGeom>
            <a:solidFill>
              <a:srgbClr val="1B4A4A"/>
            </a:solidFill>
            <a:ln w="25400" cap="sq">
              <a:solidFill>
                <a:srgbClr val="1B4A4A"/>
              </a:solidFill>
              <a:prstDash val="solid"/>
              <a:miter/>
            </a:ln>
          </p:spPr>
        </p:sp>
      </p:grpSp>
      <p:grpSp>
        <p:nvGrpSpPr>
          <p:cNvPr name="Group 19" id="19"/>
          <p:cNvGrpSpPr/>
          <p:nvPr/>
        </p:nvGrpSpPr>
        <p:grpSpPr>
          <a:xfrm rot="0">
            <a:off x="9326880" y="2743200"/>
            <a:ext cx="3840480" cy="1463040"/>
            <a:chOff x="0" y="0"/>
            <a:chExt cx="5120640" cy="1950720"/>
          </a:xfrm>
        </p:grpSpPr>
        <p:sp>
          <p:nvSpPr>
            <p:cNvPr name="Freeform 20" id="20"/>
            <p:cNvSpPr/>
            <p:nvPr/>
          </p:nvSpPr>
          <p:spPr>
            <a:xfrm flipH="false" flipV="false" rot="0">
              <a:off x="0" y="0"/>
              <a:ext cx="5120640" cy="1950720"/>
            </a:xfrm>
            <a:custGeom>
              <a:avLst/>
              <a:gdLst/>
              <a:ahLst/>
              <a:cxnLst/>
              <a:rect r="r" b="b" t="t" l="l"/>
              <a:pathLst>
                <a:path h="1950720" w="5120640">
                  <a:moveTo>
                    <a:pt x="0" y="0"/>
                  </a:moveTo>
                  <a:lnTo>
                    <a:pt x="5120640" y="0"/>
                  </a:lnTo>
                  <a:lnTo>
                    <a:pt x="5120640" y="1950720"/>
                  </a:lnTo>
                  <a:lnTo>
                    <a:pt x="0" y="1950720"/>
                  </a:lnTo>
                  <a:close/>
                </a:path>
              </a:pathLst>
            </a:custGeom>
            <a:blipFill>
              <a:blip r:embed="rId3">
                <a:alphaModFix amt="0"/>
              </a:blip>
              <a:stretch>
                <a:fillRect l="0" t="-1148" r="0" b="-1148"/>
              </a:stretch>
            </a:blipFill>
          </p:spPr>
        </p:sp>
        <p:sp>
          <p:nvSpPr>
            <p:cNvPr name="TextBox 21" id="21"/>
            <p:cNvSpPr txBox="true"/>
            <p:nvPr/>
          </p:nvSpPr>
          <p:spPr>
            <a:xfrm>
              <a:off x="0" y="-9525"/>
              <a:ext cx="5120640" cy="1960245"/>
            </a:xfrm>
            <a:prstGeom prst="rect">
              <a:avLst/>
            </a:prstGeom>
          </p:spPr>
          <p:txBody>
            <a:bodyPr anchor="ctr" rtlCol="false" tIns="0" lIns="0" bIns="0" rIns="0"/>
            <a:lstStyle/>
            <a:p>
              <a:pPr algn="ctr">
                <a:lnSpc>
                  <a:spcPts val="9600"/>
                </a:lnSpc>
              </a:pPr>
              <a:r>
                <a:rPr lang="en-US" sz="8000" b="true">
                  <a:solidFill>
                    <a:srgbClr val="FFFFFF"/>
                  </a:solidFill>
                  <a:latin typeface="Cambria Bold"/>
                  <a:ea typeface="Cambria Bold"/>
                  <a:cs typeface="Cambria Bold"/>
                  <a:sym typeface="Cambria Bold"/>
                </a:rPr>
                <a:t>13</a:t>
              </a:r>
            </a:p>
          </p:txBody>
        </p:sp>
      </p:grpSp>
      <p:grpSp>
        <p:nvGrpSpPr>
          <p:cNvPr name="Group 22" id="22"/>
          <p:cNvGrpSpPr/>
          <p:nvPr/>
        </p:nvGrpSpPr>
        <p:grpSpPr>
          <a:xfrm rot="0">
            <a:off x="9326880" y="4297680"/>
            <a:ext cx="3840480" cy="640080"/>
            <a:chOff x="0" y="0"/>
            <a:chExt cx="5120640" cy="853440"/>
          </a:xfrm>
        </p:grpSpPr>
        <p:sp>
          <p:nvSpPr>
            <p:cNvPr name="Freeform 23" id="23"/>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24" id="24"/>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Tables</a:t>
              </a:r>
            </a:p>
          </p:txBody>
        </p:sp>
      </p:grpSp>
      <p:grpSp>
        <p:nvGrpSpPr>
          <p:cNvPr name="Group 25" id="25"/>
          <p:cNvGrpSpPr/>
          <p:nvPr/>
        </p:nvGrpSpPr>
        <p:grpSpPr>
          <a:xfrm rot="0">
            <a:off x="13337543" y="2181863"/>
            <a:ext cx="3865883" cy="3408683"/>
            <a:chOff x="0" y="0"/>
            <a:chExt cx="5154511" cy="4544911"/>
          </a:xfrm>
        </p:grpSpPr>
        <p:sp>
          <p:nvSpPr>
            <p:cNvPr name="Freeform 26" id="26"/>
            <p:cNvSpPr/>
            <p:nvPr/>
          </p:nvSpPr>
          <p:spPr>
            <a:xfrm flipH="false" flipV="false" rot="0">
              <a:off x="0" y="0"/>
              <a:ext cx="5154422" cy="4544822"/>
            </a:xfrm>
            <a:custGeom>
              <a:avLst/>
              <a:gdLst/>
              <a:ahLst/>
              <a:cxnLst/>
              <a:rect r="r" b="b" t="t" l="l"/>
              <a:pathLst>
                <a:path h="4544822" w="5154422">
                  <a:moveTo>
                    <a:pt x="0" y="196469"/>
                  </a:moveTo>
                  <a:cubicBezTo>
                    <a:pt x="0" y="88011"/>
                    <a:pt x="88011" y="0"/>
                    <a:pt x="196469" y="0"/>
                  </a:cubicBezTo>
                  <a:lnTo>
                    <a:pt x="4957953" y="0"/>
                  </a:lnTo>
                  <a:cubicBezTo>
                    <a:pt x="5066538" y="0"/>
                    <a:pt x="5154422" y="88011"/>
                    <a:pt x="5154422" y="196469"/>
                  </a:cubicBezTo>
                  <a:lnTo>
                    <a:pt x="5154422" y="4348353"/>
                  </a:lnTo>
                  <a:cubicBezTo>
                    <a:pt x="5154422" y="4456938"/>
                    <a:pt x="5066411" y="4544822"/>
                    <a:pt x="4957953" y="4544822"/>
                  </a:cubicBezTo>
                  <a:lnTo>
                    <a:pt x="196469" y="4544822"/>
                  </a:lnTo>
                  <a:cubicBezTo>
                    <a:pt x="88011" y="4544949"/>
                    <a:pt x="0" y="4456938"/>
                    <a:pt x="0" y="4348353"/>
                  </a:cubicBezTo>
                  <a:close/>
                </a:path>
              </a:pathLst>
            </a:custGeom>
            <a:solidFill>
              <a:srgbClr val="2C3A85"/>
            </a:solidFill>
            <a:ln w="25400" cap="sq">
              <a:solidFill>
                <a:srgbClr val="2C3A85"/>
              </a:solidFill>
              <a:prstDash val="solid"/>
              <a:miter/>
            </a:ln>
          </p:spPr>
        </p:sp>
      </p:grpSp>
      <p:grpSp>
        <p:nvGrpSpPr>
          <p:cNvPr name="Group 27" id="27"/>
          <p:cNvGrpSpPr/>
          <p:nvPr/>
        </p:nvGrpSpPr>
        <p:grpSpPr>
          <a:xfrm rot="0">
            <a:off x="13350240" y="2743200"/>
            <a:ext cx="3840480" cy="1463040"/>
            <a:chOff x="0" y="0"/>
            <a:chExt cx="5120640" cy="1950720"/>
          </a:xfrm>
        </p:grpSpPr>
        <p:sp>
          <p:nvSpPr>
            <p:cNvPr name="Freeform 28" id="28"/>
            <p:cNvSpPr/>
            <p:nvPr/>
          </p:nvSpPr>
          <p:spPr>
            <a:xfrm flipH="false" flipV="false" rot="0">
              <a:off x="0" y="0"/>
              <a:ext cx="5120640" cy="1950720"/>
            </a:xfrm>
            <a:custGeom>
              <a:avLst/>
              <a:gdLst/>
              <a:ahLst/>
              <a:cxnLst/>
              <a:rect r="r" b="b" t="t" l="l"/>
              <a:pathLst>
                <a:path h="1950720" w="5120640">
                  <a:moveTo>
                    <a:pt x="0" y="0"/>
                  </a:moveTo>
                  <a:lnTo>
                    <a:pt x="5120640" y="0"/>
                  </a:lnTo>
                  <a:lnTo>
                    <a:pt x="5120640" y="1950720"/>
                  </a:lnTo>
                  <a:lnTo>
                    <a:pt x="0" y="1950720"/>
                  </a:lnTo>
                  <a:close/>
                </a:path>
              </a:pathLst>
            </a:custGeom>
            <a:blipFill>
              <a:blip r:embed="rId3">
                <a:alphaModFix amt="0"/>
              </a:blip>
              <a:stretch>
                <a:fillRect l="0" t="-1148" r="0" b="-1148"/>
              </a:stretch>
            </a:blipFill>
          </p:spPr>
        </p:sp>
        <p:sp>
          <p:nvSpPr>
            <p:cNvPr name="TextBox 29" id="29"/>
            <p:cNvSpPr txBox="true"/>
            <p:nvPr/>
          </p:nvSpPr>
          <p:spPr>
            <a:xfrm>
              <a:off x="0" y="-9525"/>
              <a:ext cx="5120640" cy="1960245"/>
            </a:xfrm>
            <a:prstGeom prst="rect">
              <a:avLst/>
            </a:prstGeom>
          </p:spPr>
          <p:txBody>
            <a:bodyPr anchor="ctr" rtlCol="false" tIns="0" lIns="0" bIns="0" rIns="0"/>
            <a:lstStyle/>
            <a:p>
              <a:pPr algn="ctr">
                <a:lnSpc>
                  <a:spcPts val="9600"/>
                </a:lnSpc>
              </a:pPr>
              <a:r>
                <a:rPr lang="en-US" sz="8000" b="true">
                  <a:solidFill>
                    <a:srgbClr val="FFFFFF"/>
                  </a:solidFill>
                  <a:latin typeface="Cambria Bold"/>
                  <a:ea typeface="Cambria Bold"/>
                  <a:cs typeface="Cambria Bold"/>
                  <a:sym typeface="Cambria Bold"/>
                </a:rPr>
                <a:t>13</a:t>
              </a:r>
            </a:p>
          </p:txBody>
        </p:sp>
      </p:grpSp>
      <p:grpSp>
        <p:nvGrpSpPr>
          <p:cNvPr name="Group 30" id="30"/>
          <p:cNvGrpSpPr/>
          <p:nvPr/>
        </p:nvGrpSpPr>
        <p:grpSpPr>
          <a:xfrm rot="0">
            <a:off x="13350240" y="4297680"/>
            <a:ext cx="3840480" cy="640080"/>
            <a:chOff x="0" y="0"/>
            <a:chExt cx="5120640" cy="853440"/>
          </a:xfrm>
        </p:grpSpPr>
        <p:sp>
          <p:nvSpPr>
            <p:cNvPr name="Freeform 31" id="31"/>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32" id="32"/>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Foreign keys</a:t>
              </a:r>
            </a:p>
          </p:txBody>
        </p:sp>
      </p:grpSp>
      <p:grpSp>
        <p:nvGrpSpPr>
          <p:cNvPr name="Group 33" id="33"/>
          <p:cNvGrpSpPr/>
          <p:nvPr/>
        </p:nvGrpSpPr>
        <p:grpSpPr>
          <a:xfrm rot="0">
            <a:off x="9314183" y="5748023"/>
            <a:ext cx="3865883" cy="3408683"/>
            <a:chOff x="0" y="0"/>
            <a:chExt cx="5154511" cy="4544911"/>
          </a:xfrm>
        </p:grpSpPr>
        <p:sp>
          <p:nvSpPr>
            <p:cNvPr name="Freeform 34" id="34"/>
            <p:cNvSpPr/>
            <p:nvPr/>
          </p:nvSpPr>
          <p:spPr>
            <a:xfrm flipH="false" flipV="false" rot="0">
              <a:off x="0" y="0"/>
              <a:ext cx="5154422" cy="4544822"/>
            </a:xfrm>
            <a:custGeom>
              <a:avLst/>
              <a:gdLst/>
              <a:ahLst/>
              <a:cxnLst/>
              <a:rect r="r" b="b" t="t" l="l"/>
              <a:pathLst>
                <a:path h="4544822" w="5154422">
                  <a:moveTo>
                    <a:pt x="0" y="196469"/>
                  </a:moveTo>
                  <a:cubicBezTo>
                    <a:pt x="0" y="88011"/>
                    <a:pt x="88011" y="0"/>
                    <a:pt x="196469" y="0"/>
                  </a:cubicBezTo>
                  <a:lnTo>
                    <a:pt x="4957953" y="0"/>
                  </a:lnTo>
                  <a:cubicBezTo>
                    <a:pt x="5066538" y="0"/>
                    <a:pt x="5154422" y="88011"/>
                    <a:pt x="5154422" y="196469"/>
                  </a:cubicBezTo>
                  <a:lnTo>
                    <a:pt x="5154422" y="4348353"/>
                  </a:lnTo>
                  <a:cubicBezTo>
                    <a:pt x="5154422" y="4456938"/>
                    <a:pt x="5066411" y="4544822"/>
                    <a:pt x="4957953" y="4544822"/>
                  </a:cubicBezTo>
                  <a:lnTo>
                    <a:pt x="196469" y="4544822"/>
                  </a:lnTo>
                  <a:cubicBezTo>
                    <a:pt x="88011" y="4544949"/>
                    <a:pt x="0" y="4456938"/>
                    <a:pt x="0" y="4348353"/>
                  </a:cubicBezTo>
                  <a:close/>
                </a:path>
              </a:pathLst>
            </a:custGeom>
            <a:solidFill>
              <a:srgbClr val="2C3A85"/>
            </a:solidFill>
            <a:ln w="25400" cap="sq">
              <a:solidFill>
                <a:srgbClr val="2C3A85"/>
              </a:solidFill>
              <a:prstDash val="solid"/>
              <a:miter/>
            </a:ln>
          </p:spPr>
        </p:sp>
      </p:grpSp>
      <p:grpSp>
        <p:nvGrpSpPr>
          <p:cNvPr name="Group 35" id="35"/>
          <p:cNvGrpSpPr/>
          <p:nvPr/>
        </p:nvGrpSpPr>
        <p:grpSpPr>
          <a:xfrm rot="0">
            <a:off x="9326880" y="6309360"/>
            <a:ext cx="3840480" cy="1463040"/>
            <a:chOff x="0" y="0"/>
            <a:chExt cx="5120640" cy="1950720"/>
          </a:xfrm>
        </p:grpSpPr>
        <p:sp>
          <p:nvSpPr>
            <p:cNvPr name="Freeform 36" id="36"/>
            <p:cNvSpPr/>
            <p:nvPr/>
          </p:nvSpPr>
          <p:spPr>
            <a:xfrm flipH="false" flipV="false" rot="0">
              <a:off x="0" y="0"/>
              <a:ext cx="5120640" cy="1950720"/>
            </a:xfrm>
            <a:custGeom>
              <a:avLst/>
              <a:gdLst/>
              <a:ahLst/>
              <a:cxnLst/>
              <a:rect r="r" b="b" t="t" l="l"/>
              <a:pathLst>
                <a:path h="1950720" w="5120640">
                  <a:moveTo>
                    <a:pt x="0" y="0"/>
                  </a:moveTo>
                  <a:lnTo>
                    <a:pt x="5120640" y="0"/>
                  </a:lnTo>
                  <a:lnTo>
                    <a:pt x="5120640" y="1950720"/>
                  </a:lnTo>
                  <a:lnTo>
                    <a:pt x="0" y="1950720"/>
                  </a:lnTo>
                  <a:close/>
                </a:path>
              </a:pathLst>
            </a:custGeom>
            <a:blipFill>
              <a:blip r:embed="rId3">
                <a:alphaModFix amt="0"/>
              </a:blip>
              <a:stretch>
                <a:fillRect l="0" t="-1148" r="0" b="-1148"/>
              </a:stretch>
            </a:blipFill>
          </p:spPr>
        </p:sp>
        <p:sp>
          <p:nvSpPr>
            <p:cNvPr name="TextBox 37" id="37"/>
            <p:cNvSpPr txBox="true"/>
            <p:nvPr/>
          </p:nvSpPr>
          <p:spPr>
            <a:xfrm>
              <a:off x="0" y="-9525"/>
              <a:ext cx="5120640" cy="1960245"/>
            </a:xfrm>
            <a:prstGeom prst="rect">
              <a:avLst/>
            </a:prstGeom>
          </p:spPr>
          <p:txBody>
            <a:bodyPr anchor="ctr" rtlCol="false" tIns="0" lIns="0" bIns="0" rIns="0"/>
            <a:lstStyle/>
            <a:p>
              <a:pPr algn="ctr">
                <a:lnSpc>
                  <a:spcPts val="9600"/>
                </a:lnSpc>
              </a:pPr>
              <a:r>
                <a:rPr lang="en-US" sz="8000" b="true">
                  <a:solidFill>
                    <a:srgbClr val="FFFFFF"/>
                  </a:solidFill>
                  <a:latin typeface="Cambria Bold"/>
                  <a:ea typeface="Cambria Bold"/>
                  <a:cs typeface="Cambria Bold"/>
                  <a:sym typeface="Cambria Bold"/>
                </a:rPr>
                <a:t>6</a:t>
              </a:r>
            </a:p>
          </p:txBody>
        </p:sp>
      </p:grpSp>
      <p:grpSp>
        <p:nvGrpSpPr>
          <p:cNvPr name="Group 38" id="38"/>
          <p:cNvGrpSpPr/>
          <p:nvPr/>
        </p:nvGrpSpPr>
        <p:grpSpPr>
          <a:xfrm rot="0">
            <a:off x="9326880" y="7863840"/>
            <a:ext cx="3840480" cy="640080"/>
            <a:chOff x="0" y="0"/>
            <a:chExt cx="5120640" cy="853440"/>
          </a:xfrm>
        </p:grpSpPr>
        <p:sp>
          <p:nvSpPr>
            <p:cNvPr name="Freeform 39" id="39"/>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40" id="40"/>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Triggers</a:t>
              </a:r>
            </a:p>
          </p:txBody>
        </p:sp>
      </p:grpSp>
      <p:grpSp>
        <p:nvGrpSpPr>
          <p:cNvPr name="Group 41" id="41"/>
          <p:cNvGrpSpPr/>
          <p:nvPr/>
        </p:nvGrpSpPr>
        <p:grpSpPr>
          <a:xfrm rot="0">
            <a:off x="13337543" y="5748023"/>
            <a:ext cx="3865883" cy="3408683"/>
            <a:chOff x="0" y="0"/>
            <a:chExt cx="5154511" cy="4544911"/>
          </a:xfrm>
        </p:grpSpPr>
        <p:sp>
          <p:nvSpPr>
            <p:cNvPr name="Freeform 42" id="42"/>
            <p:cNvSpPr/>
            <p:nvPr/>
          </p:nvSpPr>
          <p:spPr>
            <a:xfrm flipH="false" flipV="false" rot="0">
              <a:off x="0" y="0"/>
              <a:ext cx="5154422" cy="4544822"/>
            </a:xfrm>
            <a:custGeom>
              <a:avLst/>
              <a:gdLst/>
              <a:ahLst/>
              <a:cxnLst/>
              <a:rect r="r" b="b" t="t" l="l"/>
              <a:pathLst>
                <a:path h="4544822" w="5154422">
                  <a:moveTo>
                    <a:pt x="0" y="196469"/>
                  </a:moveTo>
                  <a:cubicBezTo>
                    <a:pt x="0" y="88011"/>
                    <a:pt x="88011" y="0"/>
                    <a:pt x="196469" y="0"/>
                  </a:cubicBezTo>
                  <a:lnTo>
                    <a:pt x="4957953" y="0"/>
                  </a:lnTo>
                  <a:cubicBezTo>
                    <a:pt x="5066538" y="0"/>
                    <a:pt x="5154422" y="88011"/>
                    <a:pt x="5154422" y="196469"/>
                  </a:cubicBezTo>
                  <a:lnTo>
                    <a:pt x="5154422" y="4348353"/>
                  </a:lnTo>
                  <a:cubicBezTo>
                    <a:pt x="5154422" y="4456938"/>
                    <a:pt x="5066411" y="4544822"/>
                    <a:pt x="4957953" y="4544822"/>
                  </a:cubicBezTo>
                  <a:lnTo>
                    <a:pt x="196469" y="4544822"/>
                  </a:lnTo>
                  <a:cubicBezTo>
                    <a:pt x="88011" y="4544949"/>
                    <a:pt x="0" y="4456938"/>
                    <a:pt x="0" y="4348353"/>
                  </a:cubicBezTo>
                  <a:close/>
                </a:path>
              </a:pathLst>
            </a:custGeom>
            <a:solidFill>
              <a:srgbClr val="1B4A4A"/>
            </a:solidFill>
            <a:ln w="25400" cap="sq">
              <a:solidFill>
                <a:srgbClr val="1B4A4A"/>
              </a:solidFill>
              <a:prstDash val="solid"/>
              <a:miter/>
            </a:ln>
          </p:spPr>
        </p:sp>
      </p:grpSp>
      <p:grpSp>
        <p:nvGrpSpPr>
          <p:cNvPr name="Group 43" id="43"/>
          <p:cNvGrpSpPr/>
          <p:nvPr/>
        </p:nvGrpSpPr>
        <p:grpSpPr>
          <a:xfrm rot="0">
            <a:off x="13350240" y="6309360"/>
            <a:ext cx="3840480" cy="1463040"/>
            <a:chOff x="0" y="0"/>
            <a:chExt cx="5120640" cy="1950720"/>
          </a:xfrm>
        </p:grpSpPr>
        <p:sp>
          <p:nvSpPr>
            <p:cNvPr name="Freeform 44" id="44"/>
            <p:cNvSpPr/>
            <p:nvPr/>
          </p:nvSpPr>
          <p:spPr>
            <a:xfrm flipH="false" flipV="false" rot="0">
              <a:off x="0" y="0"/>
              <a:ext cx="5120640" cy="1950720"/>
            </a:xfrm>
            <a:custGeom>
              <a:avLst/>
              <a:gdLst/>
              <a:ahLst/>
              <a:cxnLst/>
              <a:rect r="r" b="b" t="t" l="l"/>
              <a:pathLst>
                <a:path h="1950720" w="5120640">
                  <a:moveTo>
                    <a:pt x="0" y="0"/>
                  </a:moveTo>
                  <a:lnTo>
                    <a:pt x="5120640" y="0"/>
                  </a:lnTo>
                  <a:lnTo>
                    <a:pt x="5120640" y="1950720"/>
                  </a:lnTo>
                  <a:lnTo>
                    <a:pt x="0" y="1950720"/>
                  </a:lnTo>
                  <a:close/>
                </a:path>
              </a:pathLst>
            </a:custGeom>
            <a:blipFill>
              <a:blip r:embed="rId3">
                <a:alphaModFix amt="0"/>
              </a:blip>
              <a:stretch>
                <a:fillRect l="0" t="-1148" r="0" b="-1148"/>
              </a:stretch>
            </a:blipFill>
          </p:spPr>
        </p:sp>
        <p:sp>
          <p:nvSpPr>
            <p:cNvPr name="TextBox 45" id="45"/>
            <p:cNvSpPr txBox="true"/>
            <p:nvPr/>
          </p:nvSpPr>
          <p:spPr>
            <a:xfrm>
              <a:off x="0" y="-9525"/>
              <a:ext cx="5120640" cy="1960245"/>
            </a:xfrm>
            <a:prstGeom prst="rect">
              <a:avLst/>
            </a:prstGeom>
          </p:spPr>
          <p:txBody>
            <a:bodyPr anchor="ctr" rtlCol="false" tIns="0" lIns="0" bIns="0" rIns="0"/>
            <a:lstStyle/>
            <a:p>
              <a:pPr algn="ctr">
                <a:lnSpc>
                  <a:spcPts val="9600"/>
                </a:lnSpc>
              </a:pPr>
              <a:r>
                <a:rPr lang="en-US" sz="8000" b="true">
                  <a:solidFill>
                    <a:srgbClr val="FFFFFF"/>
                  </a:solidFill>
                  <a:latin typeface="Cambria Bold"/>
                  <a:ea typeface="Cambria Bold"/>
                  <a:cs typeface="Cambria Bold"/>
                  <a:sym typeface="Cambria Bold"/>
                </a:rPr>
                <a:t>6</a:t>
              </a:r>
            </a:p>
          </p:txBody>
        </p:sp>
      </p:grpSp>
      <p:grpSp>
        <p:nvGrpSpPr>
          <p:cNvPr name="Group 46" id="46"/>
          <p:cNvGrpSpPr/>
          <p:nvPr/>
        </p:nvGrpSpPr>
        <p:grpSpPr>
          <a:xfrm rot="0">
            <a:off x="13350240" y="7863840"/>
            <a:ext cx="3840480" cy="640080"/>
            <a:chOff x="0" y="0"/>
            <a:chExt cx="5120640" cy="853440"/>
          </a:xfrm>
        </p:grpSpPr>
        <p:sp>
          <p:nvSpPr>
            <p:cNvPr name="Freeform 47" id="47"/>
            <p:cNvSpPr/>
            <p:nvPr/>
          </p:nvSpPr>
          <p:spPr>
            <a:xfrm flipH="false" flipV="false" rot="0">
              <a:off x="0" y="0"/>
              <a:ext cx="5120640" cy="853440"/>
            </a:xfrm>
            <a:custGeom>
              <a:avLst/>
              <a:gdLst/>
              <a:ahLst/>
              <a:cxnLst/>
              <a:rect r="r" b="b" t="t" l="l"/>
              <a:pathLst>
                <a:path h="853440" w="5120640">
                  <a:moveTo>
                    <a:pt x="0" y="0"/>
                  </a:moveTo>
                  <a:lnTo>
                    <a:pt x="5120640" y="0"/>
                  </a:lnTo>
                  <a:lnTo>
                    <a:pt x="5120640" y="853440"/>
                  </a:lnTo>
                  <a:lnTo>
                    <a:pt x="0" y="853440"/>
                  </a:lnTo>
                  <a:close/>
                </a:path>
              </a:pathLst>
            </a:custGeom>
            <a:blipFill>
              <a:blip r:embed="rId3">
                <a:alphaModFix amt="0"/>
              </a:blip>
              <a:stretch>
                <a:fillRect l="0" t="-66910" r="0" b="-66910"/>
              </a:stretch>
            </a:blipFill>
          </p:spPr>
        </p:sp>
        <p:sp>
          <p:nvSpPr>
            <p:cNvPr name="TextBox 48" id="48"/>
            <p:cNvSpPr txBox="true"/>
            <p:nvPr/>
          </p:nvSpPr>
          <p:spPr>
            <a:xfrm>
              <a:off x="0" y="-38100"/>
              <a:ext cx="5120640" cy="891540"/>
            </a:xfrm>
            <a:prstGeom prst="rect">
              <a:avLst/>
            </a:prstGeom>
          </p:spPr>
          <p:txBody>
            <a:bodyPr anchor="ctr" rtlCol="false" tIns="0" lIns="0" bIns="0" rIns="0"/>
            <a:lstStyle/>
            <a:p>
              <a:pPr algn="ctr">
                <a:lnSpc>
                  <a:spcPts val="2400"/>
                </a:lnSpc>
              </a:pPr>
              <a:r>
                <a:rPr lang="en-US" sz="2000">
                  <a:solidFill>
                    <a:srgbClr val="FFFFFF"/>
                  </a:solidFill>
                  <a:latin typeface="Calibri (MS)"/>
                  <a:ea typeface="Calibri (MS)"/>
                  <a:cs typeface="Calibri (MS)"/>
                  <a:sym typeface="Calibri (MS)"/>
                </a:rPr>
                <a:t>Indexes</a:t>
              </a:r>
            </a:p>
          </p:txBody>
        </p:sp>
      </p:grpSp>
      <p:sp>
        <p:nvSpPr>
          <p:cNvPr name="TextBox 49" id="49"/>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FINAL DATABASE DESIGN</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Entity Relationship Overview</a:t>
              </a:r>
            </a:p>
          </p:txBody>
        </p:sp>
      </p:grpSp>
      <p:grpSp>
        <p:nvGrpSpPr>
          <p:cNvPr name="Group 11" id="11"/>
          <p:cNvGrpSpPr/>
          <p:nvPr/>
        </p:nvGrpSpPr>
        <p:grpSpPr>
          <a:xfrm rot="0">
            <a:off x="718823" y="2090423"/>
            <a:ext cx="3134363" cy="1781051"/>
            <a:chOff x="0" y="0"/>
            <a:chExt cx="4179151" cy="2374735"/>
          </a:xfrm>
        </p:grpSpPr>
        <p:sp>
          <p:nvSpPr>
            <p:cNvPr name="Freeform 12" id="12"/>
            <p:cNvSpPr/>
            <p:nvPr/>
          </p:nvSpPr>
          <p:spPr>
            <a:xfrm flipH="false" flipV="false" rot="0">
              <a:off x="0" y="0"/>
              <a:ext cx="4179189" cy="2374773"/>
            </a:xfrm>
            <a:custGeom>
              <a:avLst/>
              <a:gdLst/>
              <a:ahLst/>
              <a:cxnLst/>
              <a:rect r="r" b="b" t="t" l="l"/>
              <a:pathLst>
                <a:path h="2374773" w="4179189">
                  <a:moveTo>
                    <a:pt x="0" y="0"/>
                  </a:moveTo>
                  <a:lnTo>
                    <a:pt x="4179189" y="0"/>
                  </a:lnTo>
                  <a:lnTo>
                    <a:pt x="4179189" y="2374773"/>
                  </a:lnTo>
                  <a:lnTo>
                    <a:pt x="0" y="2374773"/>
                  </a:lnTo>
                  <a:close/>
                </a:path>
              </a:pathLst>
            </a:custGeom>
            <a:solidFill>
              <a:srgbClr val="FFFFFF"/>
            </a:solidFill>
            <a:ln w="25400" cap="sq">
              <a:solidFill>
                <a:srgbClr val="1B4A4A"/>
              </a:solidFill>
              <a:prstDash val="solid"/>
              <a:miter/>
            </a:ln>
          </p:spPr>
        </p:sp>
      </p:grpSp>
      <p:grpSp>
        <p:nvGrpSpPr>
          <p:cNvPr name="Group 13" id="13"/>
          <p:cNvGrpSpPr/>
          <p:nvPr/>
        </p:nvGrpSpPr>
        <p:grpSpPr>
          <a:xfrm rot="0">
            <a:off x="718823" y="2090423"/>
            <a:ext cx="3134363" cy="537467"/>
            <a:chOff x="0" y="0"/>
            <a:chExt cx="4179151" cy="716623"/>
          </a:xfrm>
        </p:grpSpPr>
        <p:sp>
          <p:nvSpPr>
            <p:cNvPr name="Freeform 14" id="14"/>
            <p:cNvSpPr/>
            <p:nvPr/>
          </p:nvSpPr>
          <p:spPr>
            <a:xfrm flipH="false" flipV="false" rot="0">
              <a:off x="0" y="0"/>
              <a:ext cx="4179189" cy="716661"/>
            </a:xfrm>
            <a:custGeom>
              <a:avLst/>
              <a:gdLst/>
              <a:ahLst/>
              <a:cxnLst/>
              <a:rect r="r" b="b" t="t" l="l"/>
              <a:pathLst>
                <a:path h="716661" w="4179189">
                  <a:moveTo>
                    <a:pt x="0" y="0"/>
                  </a:moveTo>
                  <a:lnTo>
                    <a:pt x="4179189" y="0"/>
                  </a:lnTo>
                  <a:lnTo>
                    <a:pt x="4179189" y="716661"/>
                  </a:lnTo>
                  <a:lnTo>
                    <a:pt x="0" y="716661"/>
                  </a:lnTo>
                  <a:close/>
                </a:path>
              </a:pathLst>
            </a:custGeom>
            <a:solidFill>
              <a:srgbClr val="1B4A4A"/>
            </a:solidFill>
            <a:ln w="25400" cap="sq">
              <a:solidFill>
                <a:srgbClr val="1B4A4A"/>
              </a:solidFill>
              <a:prstDash val="solid"/>
              <a:miter/>
            </a:ln>
          </p:spPr>
        </p:sp>
      </p:grpSp>
      <p:grpSp>
        <p:nvGrpSpPr>
          <p:cNvPr name="Group 15" id="15"/>
          <p:cNvGrpSpPr/>
          <p:nvPr/>
        </p:nvGrpSpPr>
        <p:grpSpPr>
          <a:xfrm rot="0">
            <a:off x="731520" y="2103120"/>
            <a:ext cx="3108960" cy="512064"/>
            <a:chOff x="0" y="0"/>
            <a:chExt cx="4145280" cy="682752"/>
          </a:xfrm>
        </p:grpSpPr>
        <p:sp>
          <p:nvSpPr>
            <p:cNvPr name="Freeform 16" id="16"/>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17" id="17"/>
            <p:cNvSpPr txBox="true"/>
            <p:nvPr/>
          </p:nvSpPr>
          <p:spPr>
            <a:xfrm>
              <a:off x="0" y="-38100"/>
              <a:ext cx="414528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ROUTE</a:t>
              </a:r>
            </a:p>
          </p:txBody>
        </p:sp>
      </p:grpSp>
      <p:sp>
        <p:nvSpPr>
          <p:cNvPr name="TextBox 18" id="18"/>
          <p:cNvSpPr txBox="true"/>
          <p:nvPr/>
        </p:nvSpPr>
        <p:spPr>
          <a:xfrm rot="0">
            <a:off x="859536" y="2659761"/>
            <a:ext cx="2926080" cy="112585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route_id (PK)</a:t>
            </a:r>
          </a:p>
          <a:p>
            <a:pPr algn="l">
              <a:lnSpc>
                <a:spcPts val="1919"/>
              </a:lnSpc>
            </a:pPr>
            <a:r>
              <a:rPr lang="en-US" sz="1599">
                <a:solidFill>
                  <a:srgbClr val="1F332F"/>
                </a:solidFill>
                <a:latin typeface="Calibri (MS)"/>
                <a:ea typeface="Calibri (MS)"/>
                <a:cs typeface="Calibri (MS)"/>
                <a:sym typeface="Calibri (MS)"/>
              </a:rPr>
              <a:t>source_city, dest_city</a:t>
            </a:r>
          </a:p>
          <a:p>
            <a:pPr algn="l">
              <a:lnSpc>
                <a:spcPts val="1919"/>
              </a:lnSpc>
            </a:pPr>
            <a:r>
              <a:rPr lang="en-US" sz="1599">
                <a:solidFill>
                  <a:srgbClr val="1F332F"/>
                </a:solidFill>
                <a:latin typeface="Calibri (MS)"/>
                <a:ea typeface="Calibri (MS)"/>
                <a:cs typeface="Calibri (MS)"/>
                <a:sym typeface="Calibri (MS)"/>
              </a:rPr>
              <a:t>distance_km</a:t>
            </a:r>
          </a:p>
        </p:txBody>
      </p:sp>
      <p:grpSp>
        <p:nvGrpSpPr>
          <p:cNvPr name="Group 19" id="19"/>
          <p:cNvGrpSpPr/>
          <p:nvPr/>
        </p:nvGrpSpPr>
        <p:grpSpPr>
          <a:xfrm rot="0">
            <a:off x="5290823" y="2090423"/>
            <a:ext cx="3500123" cy="2146811"/>
            <a:chOff x="0" y="0"/>
            <a:chExt cx="4666831" cy="2862415"/>
          </a:xfrm>
        </p:grpSpPr>
        <p:sp>
          <p:nvSpPr>
            <p:cNvPr name="Freeform 20" id="20"/>
            <p:cNvSpPr/>
            <p:nvPr/>
          </p:nvSpPr>
          <p:spPr>
            <a:xfrm flipH="false" flipV="false" rot="0">
              <a:off x="0" y="0"/>
              <a:ext cx="4666869" cy="2862453"/>
            </a:xfrm>
            <a:custGeom>
              <a:avLst/>
              <a:gdLst/>
              <a:ahLst/>
              <a:cxnLst/>
              <a:rect r="r" b="b" t="t" l="l"/>
              <a:pathLst>
                <a:path h="2862453" w="4666869">
                  <a:moveTo>
                    <a:pt x="0" y="0"/>
                  </a:moveTo>
                  <a:lnTo>
                    <a:pt x="4666869" y="0"/>
                  </a:lnTo>
                  <a:lnTo>
                    <a:pt x="4666869" y="2862453"/>
                  </a:lnTo>
                  <a:lnTo>
                    <a:pt x="0" y="2862453"/>
                  </a:lnTo>
                  <a:close/>
                </a:path>
              </a:pathLst>
            </a:custGeom>
            <a:solidFill>
              <a:srgbClr val="FFFFFF"/>
            </a:solidFill>
            <a:ln w="25400" cap="sq">
              <a:solidFill>
                <a:srgbClr val="2C3A85"/>
              </a:solidFill>
              <a:prstDash val="solid"/>
              <a:miter/>
            </a:ln>
          </p:spPr>
        </p:sp>
      </p:grpSp>
      <p:grpSp>
        <p:nvGrpSpPr>
          <p:cNvPr name="Group 21" id="21"/>
          <p:cNvGrpSpPr/>
          <p:nvPr/>
        </p:nvGrpSpPr>
        <p:grpSpPr>
          <a:xfrm rot="0">
            <a:off x="5290823" y="2090423"/>
            <a:ext cx="3500123" cy="537467"/>
            <a:chOff x="0" y="0"/>
            <a:chExt cx="4666831" cy="716623"/>
          </a:xfrm>
        </p:grpSpPr>
        <p:sp>
          <p:nvSpPr>
            <p:cNvPr name="Freeform 22" id="22"/>
            <p:cNvSpPr/>
            <p:nvPr/>
          </p:nvSpPr>
          <p:spPr>
            <a:xfrm flipH="false" flipV="false" rot="0">
              <a:off x="0" y="0"/>
              <a:ext cx="4666869" cy="716661"/>
            </a:xfrm>
            <a:custGeom>
              <a:avLst/>
              <a:gdLst/>
              <a:ahLst/>
              <a:cxnLst/>
              <a:rect r="r" b="b" t="t" l="l"/>
              <a:pathLst>
                <a:path h="716661" w="4666869">
                  <a:moveTo>
                    <a:pt x="0" y="0"/>
                  </a:moveTo>
                  <a:lnTo>
                    <a:pt x="4666869" y="0"/>
                  </a:lnTo>
                  <a:lnTo>
                    <a:pt x="4666869" y="716661"/>
                  </a:lnTo>
                  <a:lnTo>
                    <a:pt x="0" y="716661"/>
                  </a:lnTo>
                  <a:close/>
                </a:path>
              </a:pathLst>
            </a:custGeom>
            <a:solidFill>
              <a:srgbClr val="2C3A85"/>
            </a:solidFill>
            <a:ln w="25400" cap="sq">
              <a:solidFill>
                <a:srgbClr val="2C3A85"/>
              </a:solidFill>
              <a:prstDash val="solid"/>
              <a:miter/>
            </a:ln>
          </p:spPr>
        </p:sp>
      </p:grpSp>
      <p:grpSp>
        <p:nvGrpSpPr>
          <p:cNvPr name="Group 23" id="23"/>
          <p:cNvGrpSpPr/>
          <p:nvPr/>
        </p:nvGrpSpPr>
        <p:grpSpPr>
          <a:xfrm rot="0">
            <a:off x="5303520" y="2103120"/>
            <a:ext cx="3474720" cy="512064"/>
            <a:chOff x="0" y="0"/>
            <a:chExt cx="4632960" cy="682752"/>
          </a:xfrm>
        </p:grpSpPr>
        <p:sp>
          <p:nvSpPr>
            <p:cNvPr name="Freeform 24" id="24"/>
            <p:cNvSpPr/>
            <p:nvPr/>
          </p:nvSpPr>
          <p:spPr>
            <a:xfrm flipH="false" flipV="false" rot="0">
              <a:off x="0" y="0"/>
              <a:ext cx="4632960" cy="682752"/>
            </a:xfrm>
            <a:custGeom>
              <a:avLst/>
              <a:gdLst/>
              <a:ahLst/>
              <a:cxnLst/>
              <a:rect r="r" b="b" t="t" l="l"/>
              <a:pathLst>
                <a:path h="682752" w="4632960">
                  <a:moveTo>
                    <a:pt x="0" y="0"/>
                  </a:moveTo>
                  <a:lnTo>
                    <a:pt x="4632960" y="0"/>
                  </a:lnTo>
                  <a:lnTo>
                    <a:pt x="4632960" y="682752"/>
                  </a:lnTo>
                  <a:lnTo>
                    <a:pt x="0" y="682752"/>
                  </a:lnTo>
                  <a:close/>
                </a:path>
              </a:pathLst>
            </a:custGeom>
            <a:blipFill>
              <a:blip r:embed="rId3">
                <a:alphaModFix amt="0"/>
              </a:blip>
              <a:stretch>
                <a:fillRect l="0" t="-82219" r="0" b="-82219"/>
              </a:stretch>
            </a:blipFill>
          </p:spPr>
        </p:sp>
        <p:sp>
          <p:nvSpPr>
            <p:cNvPr name="TextBox 25" id="25"/>
            <p:cNvSpPr txBox="true"/>
            <p:nvPr/>
          </p:nvSpPr>
          <p:spPr>
            <a:xfrm>
              <a:off x="0" y="-38100"/>
              <a:ext cx="463296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TRIP</a:t>
              </a:r>
            </a:p>
          </p:txBody>
        </p:sp>
      </p:grpSp>
      <p:sp>
        <p:nvSpPr>
          <p:cNvPr name="TextBox 26" id="26"/>
          <p:cNvSpPr txBox="true"/>
          <p:nvPr/>
        </p:nvSpPr>
        <p:spPr>
          <a:xfrm rot="0">
            <a:off x="5431536" y="2659761"/>
            <a:ext cx="3291840" cy="149161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trip_id (PK)</a:t>
            </a:r>
          </a:p>
          <a:p>
            <a:pPr algn="l">
              <a:lnSpc>
                <a:spcPts val="1919"/>
              </a:lnSpc>
            </a:pPr>
            <a:r>
              <a:rPr lang="en-US" sz="1599">
                <a:solidFill>
                  <a:srgbClr val="1F332F"/>
                </a:solidFill>
                <a:latin typeface="Calibri (MS)"/>
                <a:ea typeface="Calibri (MS)"/>
                <a:cs typeface="Calibri (MS)"/>
                <a:sym typeface="Calibri (MS)"/>
              </a:rPr>
              <a:t>route_id, bus_id (FK)</a:t>
            </a:r>
          </a:p>
          <a:p>
            <a:pPr algn="l">
              <a:lnSpc>
                <a:spcPts val="1919"/>
              </a:lnSpc>
            </a:pPr>
            <a:r>
              <a:rPr lang="en-US" sz="1599">
                <a:solidFill>
                  <a:srgbClr val="1F332F"/>
                </a:solidFill>
                <a:latin typeface="Calibri (MS)"/>
                <a:ea typeface="Calibri (MS)"/>
                <a:cs typeface="Calibri (MS)"/>
                <a:sym typeface="Calibri (MS)"/>
              </a:rPr>
              <a:t>driver_id, conductor_id (FK)</a:t>
            </a:r>
          </a:p>
          <a:p>
            <a:pPr algn="l">
              <a:lnSpc>
                <a:spcPts val="1919"/>
              </a:lnSpc>
            </a:pPr>
            <a:r>
              <a:rPr lang="en-US" sz="1599">
                <a:solidFill>
                  <a:srgbClr val="1F332F"/>
                </a:solidFill>
                <a:latin typeface="Calibri (MS)"/>
                <a:ea typeface="Calibri (MS)"/>
                <a:cs typeface="Calibri (MS)"/>
                <a:sym typeface="Calibri (MS)"/>
              </a:rPr>
              <a:t>departure, arrival, status</a:t>
            </a:r>
          </a:p>
        </p:txBody>
      </p:sp>
      <p:grpSp>
        <p:nvGrpSpPr>
          <p:cNvPr name="Group 27" id="27"/>
          <p:cNvGrpSpPr/>
          <p:nvPr/>
        </p:nvGrpSpPr>
        <p:grpSpPr>
          <a:xfrm rot="0">
            <a:off x="10228583" y="2090423"/>
            <a:ext cx="3134363" cy="1781051"/>
            <a:chOff x="0" y="0"/>
            <a:chExt cx="4179151" cy="2374735"/>
          </a:xfrm>
        </p:grpSpPr>
        <p:sp>
          <p:nvSpPr>
            <p:cNvPr name="Freeform 28" id="28"/>
            <p:cNvSpPr/>
            <p:nvPr/>
          </p:nvSpPr>
          <p:spPr>
            <a:xfrm flipH="false" flipV="false" rot="0">
              <a:off x="0" y="0"/>
              <a:ext cx="4179189" cy="2374773"/>
            </a:xfrm>
            <a:custGeom>
              <a:avLst/>
              <a:gdLst/>
              <a:ahLst/>
              <a:cxnLst/>
              <a:rect r="r" b="b" t="t" l="l"/>
              <a:pathLst>
                <a:path h="2374773" w="4179189">
                  <a:moveTo>
                    <a:pt x="0" y="0"/>
                  </a:moveTo>
                  <a:lnTo>
                    <a:pt x="4179189" y="0"/>
                  </a:lnTo>
                  <a:lnTo>
                    <a:pt x="4179189" y="2374773"/>
                  </a:lnTo>
                  <a:lnTo>
                    <a:pt x="0" y="2374773"/>
                  </a:lnTo>
                  <a:close/>
                </a:path>
              </a:pathLst>
            </a:custGeom>
            <a:solidFill>
              <a:srgbClr val="FFFFFF"/>
            </a:solidFill>
            <a:ln w="25400" cap="sq">
              <a:solidFill>
                <a:srgbClr val="1B4A4A"/>
              </a:solidFill>
              <a:prstDash val="solid"/>
              <a:miter/>
            </a:ln>
          </p:spPr>
        </p:sp>
      </p:grpSp>
      <p:grpSp>
        <p:nvGrpSpPr>
          <p:cNvPr name="Group 29" id="29"/>
          <p:cNvGrpSpPr/>
          <p:nvPr/>
        </p:nvGrpSpPr>
        <p:grpSpPr>
          <a:xfrm rot="0">
            <a:off x="10228583" y="2090423"/>
            <a:ext cx="3134363" cy="537467"/>
            <a:chOff x="0" y="0"/>
            <a:chExt cx="4179151" cy="716623"/>
          </a:xfrm>
        </p:grpSpPr>
        <p:sp>
          <p:nvSpPr>
            <p:cNvPr name="Freeform 30" id="30"/>
            <p:cNvSpPr/>
            <p:nvPr/>
          </p:nvSpPr>
          <p:spPr>
            <a:xfrm flipH="false" flipV="false" rot="0">
              <a:off x="0" y="0"/>
              <a:ext cx="4179189" cy="716661"/>
            </a:xfrm>
            <a:custGeom>
              <a:avLst/>
              <a:gdLst/>
              <a:ahLst/>
              <a:cxnLst/>
              <a:rect r="r" b="b" t="t" l="l"/>
              <a:pathLst>
                <a:path h="716661" w="4179189">
                  <a:moveTo>
                    <a:pt x="0" y="0"/>
                  </a:moveTo>
                  <a:lnTo>
                    <a:pt x="4179189" y="0"/>
                  </a:lnTo>
                  <a:lnTo>
                    <a:pt x="4179189" y="716661"/>
                  </a:lnTo>
                  <a:lnTo>
                    <a:pt x="0" y="716661"/>
                  </a:lnTo>
                  <a:close/>
                </a:path>
              </a:pathLst>
            </a:custGeom>
            <a:solidFill>
              <a:srgbClr val="1B4A4A"/>
            </a:solidFill>
            <a:ln w="25400" cap="sq">
              <a:solidFill>
                <a:srgbClr val="1B4A4A"/>
              </a:solidFill>
              <a:prstDash val="solid"/>
              <a:miter/>
            </a:ln>
          </p:spPr>
        </p:sp>
      </p:grpSp>
      <p:grpSp>
        <p:nvGrpSpPr>
          <p:cNvPr name="Group 31" id="31"/>
          <p:cNvGrpSpPr/>
          <p:nvPr/>
        </p:nvGrpSpPr>
        <p:grpSpPr>
          <a:xfrm rot="0">
            <a:off x="10241280" y="2103120"/>
            <a:ext cx="3108960" cy="512064"/>
            <a:chOff x="0" y="0"/>
            <a:chExt cx="4145280" cy="682752"/>
          </a:xfrm>
        </p:grpSpPr>
        <p:sp>
          <p:nvSpPr>
            <p:cNvPr name="Freeform 32" id="32"/>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33" id="33"/>
            <p:cNvSpPr txBox="true"/>
            <p:nvPr/>
          </p:nvSpPr>
          <p:spPr>
            <a:xfrm>
              <a:off x="0" y="-38100"/>
              <a:ext cx="414528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BUS</a:t>
              </a:r>
            </a:p>
          </p:txBody>
        </p:sp>
      </p:grpSp>
      <p:sp>
        <p:nvSpPr>
          <p:cNvPr name="TextBox 34" id="34"/>
          <p:cNvSpPr txBox="true"/>
          <p:nvPr/>
        </p:nvSpPr>
        <p:spPr>
          <a:xfrm rot="0">
            <a:off x="10369296" y="2659761"/>
            <a:ext cx="2926080" cy="112585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bus_id (PK)</a:t>
            </a:r>
          </a:p>
          <a:p>
            <a:pPr algn="l">
              <a:lnSpc>
                <a:spcPts val="1919"/>
              </a:lnSpc>
            </a:pPr>
            <a:r>
              <a:rPr lang="en-US" sz="1599">
                <a:solidFill>
                  <a:srgbClr val="1F332F"/>
                </a:solidFill>
                <a:latin typeface="Calibri (MS)"/>
                <a:ea typeface="Calibri (MS)"/>
                <a:cs typeface="Calibri (MS)"/>
                <a:sym typeface="Calibri (MS)"/>
              </a:rPr>
              <a:t>reg_no, bus_type</a:t>
            </a:r>
          </a:p>
          <a:p>
            <a:pPr algn="l">
              <a:lnSpc>
                <a:spcPts val="1919"/>
              </a:lnSpc>
            </a:pPr>
            <a:r>
              <a:rPr lang="en-US" sz="1599">
                <a:solidFill>
                  <a:srgbClr val="1F332F"/>
                </a:solidFill>
                <a:latin typeface="Calibri (MS)"/>
                <a:ea typeface="Calibri (MS)"/>
                <a:cs typeface="Calibri (MS)"/>
                <a:sym typeface="Calibri (MS)"/>
              </a:rPr>
              <a:t>total_seats, status</a:t>
            </a:r>
          </a:p>
        </p:txBody>
      </p:sp>
      <p:grpSp>
        <p:nvGrpSpPr>
          <p:cNvPr name="Group 35" id="35"/>
          <p:cNvGrpSpPr/>
          <p:nvPr/>
        </p:nvGrpSpPr>
        <p:grpSpPr>
          <a:xfrm rot="0">
            <a:off x="14434823" y="2090423"/>
            <a:ext cx="3134363" cy="1781051"/>
            <a:chOff x="0" y="0"/>
            <a:chExt cx="4179151" cy="2374735"/>
          </a:xfrm>
        </p:grpSpPr>
        <p:sp>
          <p:nvSpPr>
            <p:cNvPr name="Freeform 36" id="36"/>
            <p:cNvSpPr/>
            <p:nvPr/>
          </p:nvSpPr>
          <p:spPr>
            <a:xfrm flipH="false" flipV="false" rot="0">
              <a:off x="0" y="0"/>
              <a:ext cx="4179189" cy="2374773"/>
            </a:xfrm>
            <a:custGeom>
              <a:avLst/>
              <a:gdLst/>
              <a:ahLst/>
              <a:cxnLst/>
              <a:rect r="r" b="b" t="t" l="l"/>
              <a:pathLst>
                <a:path h="2374773" w="4179189">
                  <a:moveTo>
                    <a:pt x="0" y="0"/>
                  </a:moveTo>
                  <a:lnTo>
                    <a:pt x="4179189" y="0"/>
                  </a:lnTo>
                  <a:lnTo>
                    <a:pt x="4179189" y="2374773"/>
                  </a:lnTo>
                  <a:lnTo>
                    <a:pt x="0" y="2374773"/>
                  </a:lnTo>
                  <a:close/>
                </a:path>
              </a:pathLst>
            </a:custGeom>
            <a:solidFill>
              <a:srgbClr val="FFFFFF"/>
            </a:solidFill>
            <a:ln w="25400" cap="sq">
              <a:solidFill>
                <a:srgbClr val="1B4A4A"/>
              </a:solidFill>
              <a:prstDash val="solid"/>
              <a:miter/>
            </a:ln>
          </p:spPr>
        </p:sp>
      </p:grpSp>
      <p:grpSp>
        <p:nvGrpSpPr>
          <p:cNvPr name="Group 37" id="37"/>
          <p:cNvGrpSpPr/>
          <p:nvPr/>
        </p:nvGrpSpPr>
        <p:grpSpPr>
          <a:xfrm rot="0">
            <a:off x="14434823" y="2090423"/>
            <a:ext cx="3134363" cy="537467"/>
            <a:chOff x="0" y="0"/>
            <a:chExt cx="4179151" cy="716623"/>
          </a:xfrm>
        </p:grpSpPr>
        <p:sp>
          <p:nvSpPr>
            <p:cNvPr name="Freeform 38" id="38"/>
            <p:cNvSpPr/>
            <p:nvPr/>
          </p:nvSpPr>
          <p:spPr>
            <a:xfrm flipH="false" flipV="false" rot="0">
              <a:off x="0" y="0"/>
              <a:ext cx="4179189" cy="716661"/>
            </a:xfrm>
            <a:custGeom>
              <a:avLst/>
              <a:gdLst/>
              <a:ahLst/>
              <a:cxnLst/>
              <a:rect r="r" b="b" t="t" l="l"/>
              <a:pathLst>
                <a:path h="716661" w="4179189">
                  <a:moveTo>
                    <a:pt x="0" y="0"/>
                  </a:moveTo>
                  <a:lnTo>
                    <a:pt x="4179189" y="0"/>
                  </a:lnTo>
                  <a:lnTo>
                    <a:pt x="4179189" y="716661"/>
                  </a:lnTo>
                  <a:lnTo>
                    <a:pt x="0" y="716661"/>
                  </a:lnTo>
                  <a:close/>
                </a:path>
              </a:pathLst>
            </a:custGeom>
            <a:solidFill>
              <a:srgbClr val="1B4A4A"/>
            </a:solidFill>
            <a:ln w="25400" cap="sq">
              <a:solidFill>
                <a:srgbClr val="1B4A4A"/>
              </a:solidFill>
              <a:prstDash val="solid"/>
              <a:miter/>
            </a:ln>
          </p:spPr>
        </p:sp>
      </p:grpSp>
      <p:grpSp>
        <p:nvGrpSpPr>
          <p:cNvPr name="Group 39" id="39"/>
          <p:cNvGrpSpPr/>
          <p:nvPr/>
        </p:nvGrpSpPr>
        <p:grpSpPr>
          <a:xfrm rot="0">
            <a:off x="14447520" y="2103120"/>
            <a:ext cx="3108960" cy="512064"/>
            <a:chOff x="0" y="0"/>
            <a:chExt cx="4145280" cy="682752"/>
          </a:xfrm>
        </p:grpSpPr>
        <p:sp>
          <p:nvSpPr>
            <p:cNvPr name="Freeform 40" id="40"/>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41" id="41"/>
            <p:cNvSpPr txBox="true"/>
            <p:nvPr/>
          </p:nvSpPr>
          <p:spPr>
            <a:xfrm>
              <a:off x="0" y="-38100"/>
              <a:ext cx="414528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SEAT</a:t>
              </a:r>
            </a:p>
          </p:txBody>
        </p:sp>
      </p:grpSp>
      <p:sp>
        <p:nvSpPr>
          <p:cNvPr name="TextBox 42" id="42"/>
          <p:cNvSpPr txBox="true"/>
          <p:nvPr/>
        </p:nvSpPr>
        <p:spPr>
          <a:xfrm rot="0">
            <a:off x="14575536" y="2659761"/>
            <a:ext cx="2926080" cy="112585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seat_id (PK)</a:t>
            </a:r>
          </a:p>
          <a:p>
            <a:pPr algn="l">
              <a:lnSpc>
                <a:spcPts val="1919"/>
              </a:lnSpc>
            </a:pPr>
            <a:r>
              <a:rPr lang="en-US" sz="1599">
                <a:solidFill>
                  <a:srgbClr val="1F332F"/>
                </a:solidFill>
                <a:latin typeface="Calibri (MS)"/>
                <a:ea typeface="Calibri (MS)"/>
                <a:cs typeface="Calibri (MS)"/>
                <a:sym typeface="Calibri (MS)"/>
              </a:rPr>
              <a:t>bus_id (FK)</a:t>
            </a:r>
          </a:p>
          <a:p>
            <a:pPr algn="l">
              <a:lnSpc>
                <a:spcPts val="1919"/>
              </a:lnSpc>
            </a:pPr>
            <a:r>
              <a:rPr lang="en-US" sz="1599">
                <a:solidFill>
                  <a:srgbClr val="1F332F"/>
                </a:solidFill>
                <a:latin typeface="Calibri (MS)"/>
                <a:ea typeface="Calibri (MS)"/>
                <a:cs typeface="Calibri (MS)"/>
                <a:sym typeface="Calibri (MS)"/>
              </a:rPr>
              <a:t>seat_no</a:t>
            </a:r>
          </a:p>
        </p:txBody>
      </p:sp>
      <p:sp>
        <p:nvSpPr>
          <p:cNvPr name="AutoShape 43" id="43"/>
          <p:cNvSpPr/>
          <p:nvPr/>
        </p:nvSpPr>
        <p:spPr>
          <a:xfrm rot="58680">
            <a:off x="3827669" y="3287078"/>
            <a:ext cx="1488653" cy="0"/>
          </a:xfrm>
          <a:prstGeom prst="line">
            <a:avLst/>
          </a:prstGeom>
          <a:ln cap="rnd" w="9525">
            <a:solidFill>
              <a:srgbClr val="5C7A70"/>
            </a:solidFill>
            <a:prstDash val="solid"/>
            <a:headEnd type="none" len="sm" w="sm"/>
            <a:tailEnd type="none" len="sm" w="sm"/>
          </a:ln>
        </p:spPr>
      </p:sp>
      <p:grpSp>
        <p:nvGrpSpPr>
          <p:cNvPr name="Group 44" id="44"/>
          <p:cNvGrpSpPr/>
          <p:nvPr/>
        </p:nvGrpSpPr>
        <p:grpSpPr>
          <a:xfrm rot="0">
            <a:off x="3840480" y="2834640"/>
            <a:ext cx="1463040" cy="365760"/>
            <a:chOff x="0" y="0"/>
            <a:chExt cx="1950720" cy="487680"/>
          </a:xfrm>
        </p:grpSpPr>
        <p:sp>
          <p:nvSpPr>
            <p:cNvPr name="Freeform 45" id="45"/>
            <p:cNvSpPr/>
            <p:nvPr/>
          </p:nvSpPr>
          <p:spPr>
            <a:xfrm flipH="false" flipV="false" rot="0">
              <a:off x="0" y="0"/>
              <a:ext cx="1950720" cy="487680"/>
            </a:xfrm>
            <a:custGeom>
              <a:avLst/>
              <a:gdLst/>
              <a:ahLst/>
              <a:cxnLst/>
              <a:rect r="r" b="b" t="t" l="l"/>
              <a:pathLst>
                <a:path h="487680" w="1950720">
                  <a:moveTo>
                    <a:pt x="0" y="0"/>
                  </a:moveTo>
                  <a:lnTo>
                    <a:pt x="1950720" y="0"/>
                  </a:lnTo>
                  <a:lnTo>
                    <a:pt x="1950720" y="487680"/>
                  </a:lnTo>
                  <a:lnTo>
                    <a:pt x="0" y="487680"/>
                  </a:lnTo>
                  <a:close/>
                </a:path>
              </a:pathLst>
            </a:custGeom>
            <a:blipFill>
              <a:blip r:embed="rId3">
                <a:alphaModFix amt="0"/>
              </a:blip>
              <a:stretch>
                <a:fillRect l="0" t="-27940" r="0" b="-27940"/>
              </a:stretch>
            </a:blipFill>
          </p:spPr>
        </p:sp>
        <p:sp>
          <p:nvSpPr>
            <p:cNvPr name="TextBox 46" id="46"/>
            <p:cNvSpPr txBox="true"/>
            <p:nvPr/>
          </p:nvSpPr>
          <p:spPr>
            <a:xfrm>
              <a:off x="0" y="-28575"/>
              <a:ext cx="195072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N</a:t>
              </a:r>
            </a:p>
          </p:txBody>
        </p:sp>
      </p:grpSp>
      <p:grpSp>
        <p:nvGrpSpPr>
          <p:cNvPr name="Group 47" id="47"/>
          <p:cNvGrpSpPr/>
          <p:nvPr/>
        </p:nvGrpSpPr>
        <p:grpSpPr>
          <a:xfrm rot="0">
            <a:off x="8778240" y="2834640"/>
            <a:ext cx="1463040" cy="365760"/>
            <a:chOff x="0" y="0"/>
            <a:chExt cx="1950720" cy="487680"/>
          </a:xfrm>
        </p:grpSpPr>
        <p:sp>
          <p:nvSpPr>
            <p:cNvPr name="Freeform 48" id="48"/>
            <p:cNvSpPr/>
            <p:nvPr/>
          </p:nvSpPr>
          <p:spPr>
            <a:xfrm flipH="false" flipV="false" rot="0">
              <a:off x="0" y="0"/>
              <a:ext cx="1950720" cy="487680"/>
            </a:xfrm>
            <a:custGeom>
              <a:avLst/>
              <a:gdLst/>
              <a:ahLst/>
              <a:cxnLst/>
              <a:rect r="r" b="b" t="t" l="l"/>
              <a:pathLst>
                <a:path h="487680" w="1950720">
                  <a:moveTo>
                    <a:pt x="0" y="0"/>
                  </a:moveTo>
                  <a:lnTo>
                    <a:pt x="1950720" y="0"/>
                  </a:lnTo>
                  <a:lnTo>
                    <a:pt x="1950720" y="487680"/>
                  </a:lnTo>
                  <a:lnTo>
                    <a:pt x="0" y="487680"/>
                  </a:lnTo>
                  <a:close/>
                </a:path>
              </a:pathLst>
            </a:custGeom>
            <a:blipFill>
              <a:blip r:embed="rId3">
                <a:alphaModFix amt="0"/>
              </a:blip>
              <a:stretch>
                <a:fillRect l="0" t="-27940" r="0" b="-27940"/>
              </a:stretch>
            </a:blipFill>
          </p:spPr>
        </p:sp>
        <p:sp>
          <p:nvSpPr>
            <p:cNvPr name="TextBox 49" id="49"/>
            <p:cNvSpPr txBox="true"/>
            <p:nvPr/>
          </p:nvSpPr>
          <p:spPr>
            <a:xfrm>
              <a:off x="0" y="-28575"/>
              <a:ext cx="195072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N</a:t>
              </a:r>
            </a:p>
          </p:txBody>
        </p:sp>
      </p:grpSp>
      <p:sp>
        <p:nvSpPr>
          <p:cNvPr name="AutoShape 50" id="50"/>
          <p:cNvSpPr/>
          <p:nvPr/>
        </p:nvSpPr>
        <p:spPr>
          <a:xfrm rot="77760">
            <a:off x="13337400" y="3287078"/>
            <a:ext cx="1122969" cy="0"/>
          </a:xfrm>
          <a:prstGeom prst="line">
            <a:avLst/>
          </a:prstGeom>
          <a:ln cap="rnd" w="9525">
            <a:solidFill>
              <a:srgbClr val="5C7A70"/>
            </a:solidFill>
            <a:prstDash val="solid"/>
            <a:headEnd type="none" len="sm" w="sm"/>
            <a:tailEnd type="none" len="sm" w="sm"/>
          </a:ln>
        </p:spPr>
      </p:sp>
      <p:grpSp>
        <p:nvGrpSpPr>
          <p:cNvPr name="Group 51" id="51"/>
          <p:cNvGrpSpPr/>
          <p:nvPr/>
        </p:nvGrpSpPr>
        <p:grpSpPr>
          <a:xfrm rot="0">
            <a:off x="13350240" y="2834640"/>
            <a:ext cx="1097280" cy="365760"/>
            <a:chOff x="0" y="0"/>
            <a:chExt cx="1463040" cy="487680"/>
          </a:xfrm>
        </p:grpSpPr>
        <p:sp>
          <p:nvSpPr>
            <p:cNvPr name="Freeform 52" id="52"/>
            <p:cNvSpPr/>
            <p:nvPr/>
          </p:nvSpPr>
          <p:spPr>
            <a:xfrm flipH="false" flipV="false" rot="0">
              <a:off x="0" y="0"/>
              <a:ext cx="1463040" cy="487680"/>
            </a:xfrm>
            <a:custGeom>
              <a:avLst/>
              <a:gdLst/>
              <a:ahLst/>
              <a:cxnLst/>
              <a:rect r="r" b="b" t="t" l="l"/>
              <a:pathLst>
                <a:path h="487680" w="1463040">
                  <a:moveTo>
                    <a:pt x="0" y="0"/>
                  </a:moveTo>
                  <a:lnTo>
                    <a:pt x="1463040" y="0"/>
                  </a:lnTo>
                  <a:lnTo>
                    <a:pt x="1463040" y="487680"/>
                  </a:lnTo>
                  <a:lnTo>
                    <a:pt x="0" y="487680"/>
                  </a:lnTo>
                  <a:close/>
                </a:path>
              </a:pathLst>
            </a:custGeom>
            <a:blipFill>
              <a:blip r:embed="rId3">
                <a:alphaModFix amt="0"/>
              </a:blip>
              <a:stretch>
                <a:fillRect l="0" t="-8455" r="0" b="-8455"/>
              </a:stretch>
            </a:blipFill>
          </p:spPr>
        </p:sp>
        <p:sp>
          <p:nvSpPr>
            <p:cNvPr name="TextBox 53" id="53"/>
            <p:cNvSpPr txBox="true"/>
            <p:nvPr/>
          </p:nvSpPr>
          <p:spPr>
            <a:xfrm>
              <a:off x="0" y="-28575"/>
              <a:ext cx="146304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N</a:t>
              </a:r>
            </a:p>
          </p:txBody>
        </p:sp>
      </p:grpSp>
      <p:grpSp>
        <p:nvGrpSpPr>
          <p:cNvPr name="Group 54" id="54"/>
          <p:cNvGrpSpPr/>
          <p:nvPr/>
        </p:nvGrpSpPr>
        <p:grpSpPr>
          <a:xfrm rot="0">
            <a:off x="718823" y="4925063"/>
            <a:ext cx="3134363" cy="1781051"/>
            <a:chOff x="0" y="0"/>
            <a:chExt cx="4179151" cy="2374735"/>
          </a:xfrm>
        </p:grpSpPr>
        <p:sp>
          <p:nvSpPr>
            <p:cNvPr name="Freeform 55" id="55"/>
            <p:cNvSpPr/>
            <p:nvPr/>
          </p:nvSpPr>
          <p:spPr>
            <a:xfrm flipH="false" flipV="false" rot="0">
              <a:off x="0" y="0"/>
              <a:ext cx="4179189" cy="2374773"/>
            </a:xfrm>
            <a:custGeom>
              <a:avLst/>
              <a:gdLst/>
              <a:ahLst/>
              <a:cxnLst/>
              <a:rect r="r" b="b" t="t" l="l"/>
              <a:pathLst>
                <a:path h="2374773" w="4179189">
                  <a:moveTo>
                    <a:pt x="0" y="0"/>
                  </a:moveTo>
                  <a:lnTo>
                    <a:pt x="4179189" y="0"/>
                  </a:lnTo>
                  <a:lnTo>
                    <a:pt x="4179189" y="2374773"/>
                  </a:lnTo>
                  <a:lnTo>
                    <a:pt x="0" y="2374773"/>
                  </a:lnTo>
                  <a:close/>
                </a:path>
              </a:pathLst>
            </a:custGeom>
            <a:solidFill>
              <a:srgbClr val="FFFFFF"/>
            </a:solidFill>
            <a:ln w="25400" cap="sq">
              <a:solidFill>
                <a:srgbClr val="2C3A85"/>
              </a:solidFill>
              <a:prstDash val="solid"/>
              <a:miter/>
            </a:ln>
          </p:spPr>
        </p:sp>
      </p:grpSp>
      <p:grpSp>
        <p:nvGrpSpPr>
          <p:cNvPr name="Group 56" id="56"/>
          <p:cNvGrpSpPr/>
          <p:nvPr/>
        </p:nvGrpSpPr>
        <p:grpSpPr>
          <a:xfrm rot="0">
            <a:off x="718823" y="4925063"/>
            <a:ext cx="3134363" cy="537467"/>
            <a:chOff x="0" y="0"/>
            <a:chExt cx="4179151" cy="716623"/>
          </a:xfrm>
        </p:grpSpPr>
        <p:sp>
          <p:nvSpPr>
            <p:cNvPr name="Freeform 57" id="57"/>
            <p:cNvSpPr/>
            <p:nvPr/>
          </p:nvSpPr>
          <p:spPr>
            <a:xfrm flipH="false" flipV="false" rot="0">
              <a:off x="0" y="0"/>
              <a:ext cx="4179189" cy="716661"/>
            </a:xfrm>
            <a:custGeom>
              <a:avLst/>
              <a:gdLst/>
              <a:ahLst/>
              <a:cxnLst/>
              <a:rect r="r" b="b" t="t" l="l"/>
              <a:pathLst>
                <a:path h="716661" w="4179189">
                  <a:moveTo>
                    <a:pt x="0" y="0"/>
                  </a:moveTo>
                  <a:lnTo>
                    <a:pt x="4179189" y="0"/>
                  </a:lnTo>
                  <a:lnTo>
                    <a:pt x="4179189" y="716661"/>
                  </a:lnTo>
                  <a:lnTo>
                    <a:pt x="0" y="716661"/>
                  </a:lnTo>
                  <a:close/>
                </a:path>
              </a:pathLst>
            </a:custGeom>
            <a:solidFill>
              <a:srgbClr val="2C3A85"/>
            </a:solidFill>
            <a:ln w="25400" cap="sq">
              <a:solidFill>
                <a:srgbClr val="2C3A85"/>
              </a:solidFill>
              <a:prstDash val="solid"/>
              <a:miter/>
            </a:ln>
          </p:spPr>
        </p:sp>
      </p:grpSp>
      <p:grpSp>
        <p:nvGrpSpPr>
          <p:cNvPr name="Group 58" id="58"/>
          <p:cNvGrpSpPr/>
          <p:nvPr/>
        </p:nvGrpSpPr>
        <p:grpSpPr>
          <a:xfrm rot="0">
            <a:off x="731520" y="4937760"/>
            <a:ext cx="3108960" cy="512064"/>
            <a:chOff x="0" y="0"/>
            <a:chExt cx="4145280" cy="682752"/>
          </a:xfrm>
        </p:grpSpPr>
        <p:sp>
          <p:nvSpPr>
            <p:cNvPr name="Freeform 59" id="59"/>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60" id="60"/>
            <p:cNvSpPr txBox="true"/>
            <p:nvPr/>
          </p:nvSpPr>
          <p:spPr>
            <a:xfrm>
              <a:off x="0" y="-38100"/>
              <a:ext cx="414528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FARE</a:t>
              </a:r>
            </a:p>
          </p:txBody>
        </p:sp>
      </p:grpSp>
      <p:sp>
        <p:nvSpPr>
          <p:cNvPr name="TextBox 61" id="61"/>
          <p:cNvSpPr txBox="true"/>
          <p:nvPr/>
        </p:nvSpPr>
        <p:spPr>
          <a:xfrm rot="0">
            <a:off x="859536" y="5494401"/>
            <a:ext cx="2926080" cy="112585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fare_id (PK)</a:t>
            </a:r>
          </a:p>
          <a:p>
            <a:pPr algn="l">
              <a:lnSpc>
                <a:spcPts val="1919"/>
              </a:lnSpc>
            </a:pPr>
            <a:r>
              <a:rPr lang="en-US" sz="1599">
                <a:solidFill>
                  <a:srgbClr val="1F332F"/>
                </a:solidFill>
                <a:latin typeface="Calibri (MS)"/>
                <a:ea typeface="Calibri (MS)"/>
                <a:cs typeface="Calibri (MS)"/>
                <a:sym typeface="Calibri (MS)"/>
              </a:rPr>
              <a:t>route_id (FK)</a:t>
            </a:r>
          </a:p>
          <a:p>
            <a:pPr algn="l">
              <a:lnSpc>
                <a:spcPts val="1919"/>
              </a:lnSpc>
            </a:pPr>
            <a:r>
              <a:rPr lang="en-US" sz="1599">
                <a:solidFill>
                  <a:srgbClr val="1F332F"/>
                </a:solidFill>
                <a:latin typeface="Calibri (MS)"/>
                <a:ea typeface="Calibri (MS)"/>
                <a:cs typeface="Calibri (MS)"/>
                <a:sym typeface="Calibri (MS)"/>
              </a:rPr>
              <a:t>bus_type, base_fare</a:t>
            </a:r>
          </a:p>
        </p:txBody>
      </p:sp>
      <p:grpSp>
        <p:nvGrpSpPr>
          <p:cNvPr name="Group 62" id="62"/>
          <p:cNvGrpSpPr/>
          <p:nvPr/>
        </p:nvGrpSpPr>
        <p:grpSpPr>
          <a:xfrm rot="0">
            <a:off x="5290823" y="5382263"/>
            <a:ext cx="3500123" cy="2146811"/>
            <a:chOff x="0" y="0"/>
            <a:chExt cx="4666831" cy="2862415"/>
          </a:xfrm>
        </p:grpSpPr>
        <p:sp>
          <p:nvSpPr>
            <p:cNvPr name="Freeform 63" id="63"/>
            <p:cNvSpPr/>
            <p:nvPr/>
          </p:nvSpPr>
          <p:spPr>
            <a:xfrm flipH="false" flipV="false" rot="0">
              <a:off x="0" y="0"/>
              <a:ext cx="4666869" cy="2862453"/>
            </a:xfrm>
            <a:custGeom>
              <a:avLst/>
              <a:gdLst/>
              <a:ahLst/>
              <a:cxnLst/>
              <a:rect r="r" b="b" t="t" l="l"/>
              <a:pathLst>
                <a:path h="2862453" w="4666869">
                  <a:moveTo>
                    <a:pt x="0" y="0"/>
                  </a:moveTo>
                  <a:lnTo>
                    <a:pt x="4666869" y="0"/>
                  </a:lnTo>
                  <a:lnTo>
                    <a:pt x="4666869" y="2862453"/>
                  </a:lnTo>
                  <a:lnTo>
                    <a:pt x="0" y="2862453"/>
                  </a:lnTo>
                  <a:close/>
                </a:path>
              </a:pathLst>
            </a:custGeom>
            <a:solidFill>
              <a:srgbClr val="FFFFFF"/>
            </a:solidFill>
            <a:ln w="25400" cap="sq">
              <a:solidFill>
                <a:srgbClr val="2C3A85"/>
              </a:solidFill>
              <a:prstDash val="solid"/>
              <a:miter/>
            </a:ln>
          </p:spPr>
        </p:sp>
      </p:grpSp>
      <p:grpSp>
        <p:nvGrpSpPr>
          <p:cNvPr name="Group 64" id="64"/>
          <p:cNvGrpSpPr/>
          <p:nvPr/>
        </p:nvGrpSpPr>
        <p:grpSpPr>
          <a:xfrm rot="0">
            <a:off x="5290823" y="5382263"/>
            <a:ext cx="3500123" cy="537467"/>
            <a:chOff x="0" y="0"/>
            <a:chExt cx="4666831" cy="716623"/>
          </a:xfrm>
        </p:grpSpPr>
        <p:sp>
          <p:nvSpPr>
            <p:cNvPr name="Freeform 65" id="65"/>
            <p:cNvSpPr/>
            <p:nvPr/>
          </p:nvSpPr>
          <p:spPr>
            <a:xfrm flipH="false" flipV="false" rot="0">
              <a:off x="0" y="0"/>
              <a:ext cx="4666869" cy="716661"/>
            </a:xfrm>
            <a:custGeom>
              <a:avLst/>
              <a:gdLst/>
              <a:ahLst/>
              <a:cxnLst/>
              <a:rect r="r" b="b" t="t" l="l"/>
              <a:pathLst>
                <a:path h="716661" w="4666869">
                  <a:moveTo>
                    <a:pt x="0" y="0"/>
                  </a:moveTo>
                  <a:lnTo>
                    <a:pt x="4666869" y="0"/>
                  </a:lnTo>
                  <a:lnTo>
                    <a:pt x="4666869" y="716661"/>
                  </a:lnTo>
                  <a:lnTo>
                    <a:pt x="0" y="716661"/>
                  </a:lnTo>
                  <a:close/>
                </a:path>
              </a:pathLst>
            </a:custGeom>
            <a:solidFill>
              <a:srgbClr val="2C3A85"/>
            </a:solidFill>
            <a:ln w="25400" cap="sq">
              <a:solidFill>
                <a:srgbClr val="2C3A85"/>
              </a:solidFill>
              <a:prstDash val="solid"/>
              <a:miter/>
            </a:ln>
          </p:spPr>
        </p:sp>
      </p:grpSp>
      <p:grpSp>
        <p:nvGrpSpPr>
          <p:cNvPr name="Group 66" id="66"/>
          <p:cNvGrpSpPr/>
          <p:nvPr/>
        </p:nvGrpSpPr>
        <p:grpSpPr>
          <a:xfrm rot="0">
            <a:off x="5303520" y="5394960"/>
            <a:ext cx="3474720" cy="512064"/>
            <a:chOff x="0" y="0"/>
            <a:chExt cx="4632960" cy="682752"/>
          </a:xfrm>
        </p:grpSpPr>
        <p:sp>
          <p:nvSpPr>
            <p:cNvPr name="Freeform 67" id="67"/>
            <p:cNvSpPr/>
            <p:nvPr/>
          </p:nvSpPr>
          <p:spPr>
            <a:xfrm flipH="false" flipV="false" rot="0">
              <a:off x="0" y="0"/>
              <a:ext cx="4632960" cy="682752"/>
            </a:xfrm>
            <a:custGeom>
              <a:avLst/>
              <a:gdLst/>
              <a:ahLst/>
              <a:cxnLst/>
              <a:rect r="r" b="b" t="t" l="l"/>
              <a:pathLst>
                <a:path h="682752" w="4632960">
                  <a:moveTo>
                    <a:pt x="0" y="0"/>
                  </a:moveTo>
                  <a:lnTo>
                    <a:pt x="4632960" y="0"/>
                  </a:lnTo>
                  <a:lnTo>
                    <a:pt x="4632960" y="682752"/>
                  </a:lnTo>
                  <a:lnTo>
                    <a:pt x="0" y="682752"/>
                  </a:lnTo>
                  <a:close/>
                </a:path>
              </a:pathLst>
            </a:custGeom>
            <a:blipFill>
              <a:blip r:embed="rId3">
                <a:alphaModFix amt="0"/>
              </a:blip>
              <a:stretch>
                <a:fillRect l="0" t="-82219" r="0" b="-82219"/>
              </a:stretch>
            </a:blipFill>
          </p:spPr>
        </p:sp>
        <p:sp>
          <p:nvSpPr>
            <p:cNvPr name="TextBox 68" id="68"/>
            <p:cNvSpPr txBox="true"/>
            <p:nvPr/>
          </p:nvSpPr>
          <p:spPr>
            <a:xfrm>
              <a:off x="0" y="-38100"/>
              <a:ext cx="463296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BOOKING</a:t>
              </a:r>
            </a:p>
          </p:txBody>
        </p:sp>
      </p:grpSp>
      <p:sp>
        <p:nvSpPr>
          <p:cNvPr name="TextBox 69" id="69"/>
          <p:cNvSpPr txBox="true"/>
          <p:nvPr/>
        </p:nvSpPr>
        <p:spPr>
          <a:xfrm rot="0">
            <a:off x="5431536" y="5951601"/>
            <a:ext cx="3291840" cy="149161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booking_id (PK)</a:t>
            </a:r>
          </a:p>
          <a:p>
            <a:pPr algn="l">
              <a:lnSpc>
                <a:spcPts val="1919"/>
              </a:lnSpc>
            </a:pPr>
            <a:r>
              <a:rPr lang="en-US" sz="1599">
                <a:solidFill>
                  <a:srgbClr val="1F332F"/>
                </a:solidFill>
                <a:latin typeface="Calibri (MS)"/>
                <a:ea typeface="Calibri (MS)"/>
                <a:cs typeface="Calibri (MS)"/>
                <a:sym typeface="Calibri (MS)"/>
              </a:rPr>
              <a:t>trip_id, seat_id (FK)</a:t>
            </a:r>
          </a:p>
          <a:p>
            <a:pPr algn="l">
              <a:lnSpc>
                <a:spcPts val="1919"/>
              </a:lnSpc>
            </a:pPr>
            <a:r>
              <a:rPr lang="en-US" sz="1599">
                <a:solidFill>
                  <a:srgbClr val="1F332F"/>
                </a:solidFill>
                <a:latin typeface="Calibri (MS)"/>
                <a:ea typeface="Calibri (MS)"/>
                <a:cs typeface="Calibri (MS)"/>
                <a:sym typeface="Calibri (MS)"/>
              </a:rPr>
              <a:t>passenger_id (FK)</a:t>
            </a:r>
          </a:p>
          <a:p>
            <a:pPr algn="l">
              <a:lnSpc>
                <a:spcPts val="1919"/>
              </a:lnSpc>
            </a:pPr>
            <a:r>
              <a:rPr lang="en-US" sz="1599">
                <a:solidFill>
                  <a:srgbClr val="1F332F"/>
                </a:solidFill>
                <a:latin typeface="Calibri (MS)"/>
                <a:ea typeface="Calibri (MS)"/>
                <a:cs typeface="Calibri (MS)"/>
                <a:sym typeface="Calibri (MS)"/>
              </a:rPr>
              <a:t>status, active_seat</a:t>
            </a:r>
          </a:p>
        </p:txBody>
      </p:sp>
      <p:grpSp>
        <p:nvGrpSpPr>
          <p:cNvPr name="Group 70" id="70"/>
          <p:cNvGrpSpPr/>
          <p:nvPr/>
        </p:nvGrpSpPr>
        <p:grpSpPr>
          <a:xfrm rot="0">
            <a:off x="10228583" y="5382263"/>
            <a:ext cx="3134363" cy="1415291"/>
            <a:chOff x="0" y="0"/>
            <a:chExt cx="4179151" cy="1887055"/>
          </a:xfrm>
        </p:grpSpPr>
        <p:sp>
          <p:nvSpPr>
            <p:cNvPr name="Freeform 71" id="71"/>
            <p:cNvSpPr/>
            <p:nvPr/>
          </p:nvSpPr>
          <p:spPr>
            <a:xfrm flipH="false" flipV="false" rot="0">
              <a:off x="0" y="0"/>
              <a:ext cx="4179189" cy="1887093"/>
            </a:xfrm>
            <a:custGeom>
              <a:avLst/>
              <a:gdLst/>
              <a:ahLst/>
              <a:cxnLst/>
              <a:rect r="r" b="b" t="t" l="l"/>
              <a:pathLst>
                <a:path h="1887093" w="4179189">
                  <a:moveTo>
                    <a:pt x="0" y="0"/>
                  </a:moveTo>
                  <a:lnTo>
                    <a:pt x="4179189" y="0"/>
                  </a:lnTo>
                  <a:lnTo>
                    <a:pt x="4179189" y="1887093"/>
                  </a:lnTo>
                  <a:lnTo>
                    <a:pt x="0" y="1887093"/>
                  </a:lnTo>
                  <a:close/>
                </a:path>
              </a:pathLst>
            </a:custGeom>
            <a:solidFill>
              <a:srgbClr val="FFFFFF"/>
            </a:solidFill>
            <a:ln w="25400" cap="sq">
              <a:solidFill>
                <a:srgbClr val="1B4A4A"/>
              </a:solidFill>
              <a:prstDash val="solid"/>
              <a:miter/>
            </a:ln>
          </p:spPr>
        </p:sp>
      </p:grpSp>
      <p:grpSp>
        <p:nvGrpSpPr>
          <p:cNvPr name="Group 72" id="72"/>
          <p:cNvGrpSpPr/>
          <p:nvPr/>
        </p:nvGrpSpPr>
        <p:grpSpPr>
          <a:xfrm rot="0">
            <a:off x="10228583" y="5382263"/>
            <a:ext cx="3134363" cy="537467"/>
            <a:chOff x="0" y="0"/>
            <a:chExt cx="4179151" cy="716623"/>
          </a:xfrm>
        </p:grpSpPr>
        <p:sp>
          <p:nvSpPr>
            <p:cNvPr name="Freeform 73" id="73"/>
            <p:cNvSpPr/>
            <p:nvPr/>
          </p:nvSpPr>
          <p:spPr>
            <a:xfrm flipH="false" flipV="false" rot="0">
              <a:off x="0" y="0"/>
              <a:ext cx="4179189" cy="716661"/>
            </a:xfrm>
            <a:custGeom>
              <a:avLst/>
              <a:gdLst/>
              <a:ahLst/>
              <a:cxnLst/>
              <a:rect r="r" b="b" t="t" l="l"/>
              <a:pathLst>
                <a:path h="716661" w="4179189">
                  <a:moveTo>
                    <a:pt x="0" y="0"/>
                  </a:moveTo>
                  <a:lnTo>
                    <a:pt x="4179189" y="0"/>
                  </a:lnTo>
                  <a:lnTo>
                    <a:pt x="4179189" y="716661"/>
                  </a:lnTo>
                  <a:lnTo>
                    <a:pt x="0" y="716661"/>
                  </a:lnTo>
                  <a:close/>
                </a:path>
              </a:pathLst>
            </a:custGeom>
            <a:solidFill>
              <a:srgbClr val="1B4A4A"/>
            </a:solidFill>
            <a:ln w="25400" cap="sq">
              <a:solidFill>
                <a:srgbClr val="1B4A4A"/>
              </a:solidFill>
              <a:prstDash val="solid"/>
              <a:miter/>
            </a:ln>
          </p:spPr>
        </p:sp>
      </p:grpSp>
      <p:grpSp>
        <p:nvGrpSpPr>
          <p:cNvPr name="Group 74" id="74"/>
          <p:cNvGrpSpPr/>
          <p:nvPr/>
        </p:nvGrpSpPr>
        <p:grpSpPr>
          <a:xfrm rot="0">
            <a:off x="10241280" y="5394960"/>
            <a:ext cx="3108960" cy="512064"/>
            <a:chOff x="0" y="0"/>
            <a:chExt cx="4145280" cy="682752"/>
          </a:xfrm>
        </p:grpSpPr>
        <p:sp>
          <p:nvSpPr>
            <p:cNvPr name="Freeform 75" id="75"/>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76" id="76"/>
            <p:cNvSpPr txBox="true"/>
            <p:nvPr/>
          </p:nvSpPr>
          <p:spPr>
            <a:xfrm>
              <a:off x="0" y="-38100"/>
              <a:ext cx="414528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PASSENGER</a:t>
              </a:r>
            </a:p>
          </p:txBody>
        </p:sp>
      </p:grpSp>
      <p:sp>
        <p:nvSpPr>
          <p:cNvPr name="TextBox 77" id="77"/>
          <p:cNvSpPr txBox="true"/>
          <p:nvPr/>
        </p:nvSpPr>
        <p:spPr>
          <a:xfrm rot="0">
            <a:off x="10369296" y="5951601"/>
            <a:ext cx="2926080" cy="76009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passenger_id (PK)</a:t>
            </a:r>
          </a:p>
          <a:p>
            <a:pPr algn="l">
              <a:lnSpc>
                <a:spcPts val="1919"/>
              </a:lnSpc>
            </a:pPr>
            <a:r>
              <a:rPr lang="en-US" sz="1599">
                <a:solidFill>
                  <a:srgbClr val="1F332F"/>
                </a:solidFill>
                <a:latin typeface="Calibri (MS)"/>
                <a:ea typeface="Calibri (MS)"/>
                <a:cs typeface="Calibri (MS)"/>
                <a:sym typeface="Calibri (MS)"/>
              </a:rPr>
              <a:t>name, phone, email</a:t>
            </a:r>
          </a:p>
        </p:txBody>
      </p:sp>
      <p:sp>
        <p:nvSpPr>
          <p:cNvPr name="AutoShape 78" id="78"/>
          <p:cNvSpPr/>
          <p:nvPr/>
        </p:nvSpPr>
        <p:spPr>
          <a:xfrm rot="5322240">
            <a:off x="6479400" y="4841558"/>
            <a:ext cx="1122969" cy="0"/>
          </a:xfrm>
          <a:prstGeom prst="line">
            <a:avLst/>
          </a:prstGeom>
          <a:ln cap="rnd" w="9525">
            <a:solidFill>
              <a:srgbClr val="5C7A70"/>
            </a:solidFill>
            <a:prstDash val="solid"/>
            <a:headEnd type="none" len="sm" w="sm"/>
            <a:tailEnd type="none" len="sm" w="sm"/>
          </a:ln>
        </p:spPr>
      </p:sp>
      <p:grpSp>
        <p:nvGrpSpPr>
          <p:cNvPr name="Group 79" id="79"/>
          <p:cNvGrpSpPr/>
          <p:nvPr/>
        </p:nvGrpSpPr>
        <p:grpSpPr>
          <a:xfrm rot="0">
            <a:off x="7132320" y="4663440"/>
            <a:ext cx="1097280" cy="365760"/>
            <a:chOff x="0" y="0"/>
            <a:chExt cx="1463040" cy="487680"/>
          </a:xfrm>
        </p:grpSpPr>
        <p:sp>
          <p:nvSpPr>
            <p:cNvPr name="Freeform 80" id="80"/>
            <p:cNvSpPr/>
            <p:nvPr/>
          </p:nvSpPr>
          <p:spPr>
            <a:xfrm flipH="false" flipV="false" rot="0">
              <a:off x="0" y="0"/>
              <a:ext cx="1463040" cy="487680"/>
            </a:xfrm>
            <a:custGeom>
              <a:avLst/>
              <a:gdLst/>
              <a:ahLst/>
              <a:cxnLst/>
              <a:rect r="r" b="b" t="t" l="l"/>
              <a:pathLst>
                <a:path h="487680" w="1463040">
                  <a:moveTo>
                    <a:pt x="0" y="0"/>
                  </a:moveTo>
                  <a:lnTo>
                    <a:pt x="1463040" y="0"/>
                  </a:lnTo>
                  <a:lnTo>
                    <a:pt x="1463040" y="487680"/>
                  </a:lnTo>
                  <a:lnTo>
                    <a:pt x="0" y="487680"/>
                  </a:lnTo>
                  <a:close/>
                </a:path>
              </a:pathLst>
            </a:custGeom>
            <a:blipFill>
              <a:blip r:embed="rId3">
                <a:alphaModFix amt="0"/>
              </a:blip>
              <a:stretch>
                <a:fillRect l="0" t="-8455" r="0" b="-8455"/>
              </a:stretch>
            </a:blipFill>
          </p:spPr>
        </p:sp>
        <p:sp>
          <p:nvSpPr>
            <p:cNvPr name="TextBox 81" id="81"/>
            <p:cNvSpPr txBox="true"/>
            <p:nvPr/>
          </p:nvSpPr>
          <p:spPr>
            <a:xfrm>
              <a:off x="0" y="-28575"/>
              <a:ext cx="146304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N</a:t>
              </a:r>
            </a:p>
          </p:txBody>
        </p:sp>
      </p:grpSp>
      <p:grpSp>
        <p:nvGrpSpPr>
          <p:cNvPr name="Group 82" id="82"/>
          <p:cNvGrpSpPr/>
          <p:nvPr/>
        </p:nvGrpSpPr>
        <p:grpSpPr>
          <a:xfrm rot="0">
            <a:off x="8778240" y="5943600"/>
            <a:ext cx="1463040" cy="365760"/>
            <a:chOff x="0" y="0"/>
            <a:chExt cx="1950720" cy="487680"/>
          </a:xfrm>
        </p:grpSpPr>
        <p:sp>
          <p:nvSpPr>
            <p:cNvPr name="Freeform 83" id="83"/>
            <p:cNvSpPr/>
            <p:nvPr/>
          </p:nvSpPr>
          <p:spPr>
            <a:xfrm flipH="false" flipV="false" rot="0">
              <a:off x="0" y="0"/>
              <a:ext cx="1950720" cy="487680"/>
            </a:xfrm>
            <a:custGeom>
              <a:avLst/>
              <a:gdLst/>
              <a:ahLst/>
              <a:cxnLst/>
              <a:rect r="r" b="b" t="t" l="l"/>
              <a:pathLst>
                <a:path h="487680" w="1950720">
                  <a:moveTo>
                    <a:pt x="0" y="0"/>
                  </a:moveTo>
                  <a:lnTo>
                    <a:pt x="1950720" y="0"/>
                  </a:lnTo>
                  <a:lnTo>
                    <a:pt x="1950720" y="487680"/>
                  </a:lnTo>
                  <a:lnTo>
                    <a:pt x="0" y="487680"/>
                  </a:lnTo>
                  <a:close/>
                </a:path>
              </a:pathLst>
            </a:custGeom>
            <a:blipFill>
              <a:blip r:embed="rId3">
                <a:alphaModFix amt="0"/>
              </a:blip>
              <a:stretch>
                <a:fillRect l="0" t="-27940" r="0" b="-27940"/>
              </a:stretch>
            </a:blipFill>
          </p:spPr>
        </p:sp>
        <p:sp>
          <p:nvSpPr>
            <p:cNvPr name="TextBox 84" id="84"/>
            <p:cNvSpPr txBox="true"/>
            <p:nvPr/>
          </p:nvSpPr>
          <p:spPr>
            <a:xfrm>
              <a:off x="0" y="-28575"/>
              <a:ext cx="195072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N</a:t>
              </a:r>
            </a:p>
          </p:txBody>
        </p:sp>
      </p:grpSp>
      <p:sp>
        <p:nvSpPr>
          <p:cNvPr name="AutoShape 85" id="85"/>
          <p:cNvSpPr/>
          <p:nvPr/>
        </p:nvSpPr>
        <p:spPr>
          <a:xfrm rot="5320920">
            <a:off x="1733655" y="4393502"/>
            <a:ext cx="1104681" cy="0"/>
          </a:xfrm>
          <a:prstGeom prst="line">
            <a:avLst/>
          </a:prstGeom>
          <a:ln cap="rnd" w="9525">
            <a:solidFill>
              <a:srgbClr val="5C7A70"/>
            </a:solidFill>
            <a:prstDash val="solid"/>
            <a:headEnd type="none" len="sm" w="sm"/>
            <a:tailEnd type="none" len="sm" w="sm"/>
          </a:ln>
        </p:spPr>
      </p:sp>
      <p:grpSp>
        <p:nvGrpSpPr>
          <p:cNvPr name="Group 86" id="86"/>
          <p:cNvGrpSpPr/>
          <p:nvPr/>
        </p:nvGrpSpPr>
        <p:grpSpPr>
          <a:xfrm rot="0">
            <a:off x="2377440" y="4206240"/>
            <a:ext cx="1097280" cy="365760"/>
            <a:chOff x="0" y="0"/>
            <a:chExt cx="1463040" cy="487680"/>
          </a:xfrm>
        </p:grpSpPr>
        <p:sp>
          <p:nvSpPr>
            <p:cNvPr name="Freeform 87" id="87"/>
            <p:cNvSpPr/>
            <p:nvPr/>
          </p:nvSpPr>
          <p:spPr>
            <a:xfrm flipH="false" flipV="false" rot="0">
              <a:off x="0" y="0"/>
              <a:ext cx="1463040" cy="487680"/>
            </a:xfrm>
            <a:custGeom>
              <a:avLst/>
              <a:gdLst/>
              <a:ahLst/>
              <a:cxnLst/>
              <a:rect r="r" b="b" t="t" l="l"/>
              <a:pathLst>
                <a:path h="487680" w="1463040">
                  <a:moveTo>
                    <a:pt x="0" y="0"/>
                  </a:moveTo>
                  <a:lnTo>
                    <a:pt x="1463040" y="0"/>
                  </a:lnTo>
                  <a:lnTo>
                    <a:pt x="1463040" y="487680"/>
                  </a:lnTo>
                  <a:lnTo>
                    <a:pt x="0" y="487680"/>
                  </a:lnTo>
                  <a:close/>
                </a:path>
              </a:pathLst>
            </a:custGeom>
            <a:blipFill>
              <a:blip r:embed="rId3">
                <a:alphaModFix amt="0"/>
              </a:blip>
              <a:stretch>
                <a:fillRect l="0" t="-8455" r="0" b="-8455"/>
              </a:stretch>
            </a:blipFill>
          </p:spPr>
        </p:sp>
        <p:sp>
          <p:nvSpPr>
            <p:cNvPr name="TextBox 88" id="88"/>
            <p:cNvSpPr txBox="true"/>
            <p:nvPr/>
          </p:nvSpPr>
          <p:spPr>
            <a:xfrm>
              <a:off x="0" y="-28575"/>
              <a:ext cx="146304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N</a:t>
              </a:r>
            </a:p>
          </p:txBody>
        </p:sp>
      </p:grpSp>
      <p:grpSp>
        <p:nvGrpSpPr>
          <p:cNvPr name="Group 89" id="89"/>
          <p:cNvGrpSpPr/>
          <p:nvPr/>
        </p:nvGrpSpPr>
        <p:grpSpPr>
          <a:xfrm rot="0">
            <a:off x="13716000" y="5577840"/>
            <a:ext cx="3657600" cy="365760"/>
            <a:chOff x="0" y="0"/>
            <a:chExt cx="4876800" cy="487680"/>
          </a:xfrm>
        </p:grpSpPr>
        <p:sp>
          <p:nvSpPr>
            <p:cNvPr name="Freeform 90" id="90"/>
            <p:cNvSpPr/>
            <p:nvPr/>
          </p:nvSpPr>
          <p:spPr>
            <a:xfrm flipH="false" flipV="false" rot="0">
              <a:off x="0" y="0"/>
              <a:ext cx="4876800" cy="487680"/>
            </a:xfrm>
            <a:custGeom>
              <a:avLst/>
              <a:gdLst/>
              <a:ahLst/>
              <a:cxnLst/>
              <a:rect r="r" b="b" t="t" l="l"/>
              <a:pathLst>
                <a:path h="487680" w="4876800">
                  <a:moveTo>
                    <a:pt x="0" y="0"/>
                  </a:moveTo>
                  <a:lnTo>
                    <a:pt x="4876800" y="0"/>
                  </a:lnTo>
                  <a:lnTo>
                    <a:pt x="4876800" y="487680"/>
                  </a:lnTo>
                  <a:lnTo>
                    <a:pt x="0" y="487680"/>
                  </a:lnTo>
                  <a:close/>
                </a:path>
              </a:pathLst>
            </a:custGeom>
            <a:blipFill>
              <a:blip r:embed="rId3">
                <a:alphaModFix amt="0"/>
              </a:blip>
              <a:stretch>
                <a:fillRect l="0" t="-144850" r="0" b="-144850"/>
              </a:stretch>
            </a:blipFill>
          </p:spPr>
        </p:sp>
        <p:sp>
          <p:nvSpPr>
            <p:cNvPr name="TextBox 91" id="91"/>
            <p:cNvSpPr txBox="true"/>
            <p:nvPr/>
          </p:nvSpPr>
          <p:spPr>
            <a:xfrm>
              <a:off x="0" y="-28575"/>
              <a:ext cx="487680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SEAT 1 : N BOOKING (via seat_id)</a:t>
              </a:r>
            </a:p>
          </p:txBody>
        </p:sp>
      </p:grpSp>
      <p:grpSp>
        <p:nvGrpSpPr>
          <p:cNvPr name="Group 92" id="92"/>
          <p:cNvGrpSpPr/>
          <p:nvPr/>
        </p:nvGrpSpPr>
        <p:grpSpPr>
          <a:xfrm rot="0">
            <a:off x="3644903" y="7851143"/>
            <a:ext cx="3317243" cy="1415291"/>
            <a:chOff x="0" y="0"/>
            <a:chExt cx="4422991" cy="1887055"/>
          </a:xfrm>
        </p:grpSpPr>
        <p:sp>
          <p:nvSpPr>
            <p:cNvPr name="Freeform 93" id="93"/>
            <p:cNvSpPr/>
            <p:nvPr/>
          </p:nvSpPr>
          <p:spPr>
            <a:xfrm flipH="false" flipV="false" rot="0">
              <a:off x="0" y="0"/>
              <a:ext cx="4423029" cy="1887093"/>
            </a:xfrm>
            <a:custGeom>
              <a:avLst/>
              <a:gdLst/>
              <a:ahLst/>
              <a:cxnLst/>
              <a:rect r="r" b="b" t="t" l="l"/>
              <a:pathLst>
                <a:path h="1887093" w="4423029">
                  <a:moveTo>
                    <a:pt x="0" y="0"/>
                  </a:moveTo>
                  <a:lnTo>
                    <a:pt x="4423029" y="0"/>
                  </a:lnTo>
                  <a:lnTo>
                    <a:pt x="4423029" y="1887093"/>
                  </a:lnTo>
                  <a:lnTo>
                    <a:pt x="0" y="1887093"/>
                  </a:lnTo>
                  <a:close/>
                </a:path>
              </a:pathLst>
            </a:custGeom>
            <a:solidFill>
              <a:srgbClr val="FFFFFF"/>
            </a:solidFill>
            <a:ln w="25400" cap="sq">
              <a:solidFill>
                <a:srgbClr val="1B4A4A"/>
              </a:solidFill>
              <a:prstDash val="solid"/>
              <a:miter/>
            </a:ln>
          </p:spPr>
        </p:sp>
      </p:grpSp>
      <p:grpSp>
        <p:nvGrpSpPr>
          <p:cNvPr name="Group 94" id="94"/>
          <p:cNvGrpSpPr/>
          <p:nvPr/>
        </p:nvGrpSpPr>
        <p:grpSpPr>
          <a:xfrm rot="0">
            <a:off x="3644903" y="7851143"/>
            <a:ext cx="3317243" cy="537467"/>
            <a:chOff x="0" y="0"/>
            <a:chExt cx="4422991" cy="716623"/>
          </a:xfrm>
        </p:grpSpPr>
        <p:sp>
          <p:nvSpPr>
            <p:cNvPr name="Freeform 95" id="95"/>
            <p:cNvSpPr/>
            <p:nvPr/>
          </p:nvSpPr>
          <p:spPr>
            <a:xfrm flipH="false" flipV="false" rot="0">
              <a:off x="0" y="0"/>
              <a:ext cx="4423029" cy="716661"/>
            </a:xfrm>
            <a:custGeom>
              <a:avLst/>
              <a:gdLst/>
              <a:ahLst/>
              <a:cxnLst/>
              <a:rect r="r" b="b" t="t" l="l"/>
              <a:pathLst>
                <a:path h="716661" w="4423029">
                  <a:moveTo>
                    <a:pt x="0" y="0"/>
                  </a:moveTo>
                  <a:lnTo>
                    <a:pt x="4423029" y="0"/>
                  </a:lnTo>
                  <a:lnTo>
                    <a:pt x="4423029" y="716661"/>
                  </a:lnTo>
                  <a:lnTo>
                    <a:pt x="0" y="716661"/>
                  </a:lnTo>
                  <a:close/>
                </a:path>
              </a:pathLst>
            </a:custGeom>
            <a:solidFill>
              <a:srgbClr val="1B4A4A"/>
            </a:solidFill>
            <a:ln w="25400" cap="sq">
              <a:solidFill>
                <a:srgbClr val="1B4A4A"/>
              </a:solidFill>
              <a:prstDash val="solid"/>
              <a:miter/>
            </a:ln>
          </p:spPr>
        </p:sp>
      </p:grpSp>
      <p:grpSp>
        <p:nvGrpSpPr>
          <p:cNvPr name="Group 96" id="96"/>
          <p:cNvGrpSpPr/>
          <p:nvPr/>
        </p:nvGrpSpPr>
        <p:grpSpPr>
          <a:xfrm rot="0">
            <a:off x="3657600" y="7863840"/>
            <a:ext cx="3291840" cy="512064"/>
            <a:chOff x="0" y="0"/>
            <a:chExt cx="4389120" cy="682752"/>
          </a:xfrm>
        </p:grpSpPr>
        <p:sp>
          <p:nvSpPr>
            <p:cNvPr name="Freeform 97" id="97"/>
            <p:cNvSpPr/>
            <p:nvPr/>
          </p:nvSpPr>
          <p:spPr>
            <a:xfrm flipH="false" flipV="false" rot="0">
              <a:off x="0" y="0"/>
              <a:ext cx="4389120" cy="682752"/>
            </a:xfrm>
            <a:custGeom>
              <a:avLst/>
              <a:gdLst/>
              <a:ahLst/>
              <a:cxnLst/>
              <a:rect r="r" b="b" t="t" l="l"/>
              <a:pathLst>
                <a:path h="682752" w="4389120">
                  <a:moveTo>
                    <a:pt x="0" y="0"/>
                  </a:moveTo>
                  <a:lnTo>
                    <a:pt x="4389120" y="0"/>
                  </a:lnTo>
                  <a:lnTo>
                    <a:pt x="4389120" y="682752"/>
                  </a:lnTo>
                  <a:lnTo>
                    <a:pt x="0" y="682752"/>
                  </a:lnTo>
                  <a:close/>
                </a:path>
              </a:pathLst>
            </a:custGeom>
            <a:blipFill>
              <a:blip r:embed="rId3">
                <a:alphaModFix amt="0"/>
              </a:blip>
              <a:stretch>
                <a:fillRect l="0" t="-75260" r="0" b="-75260"/>
              </a:stretch>
            </a:blipFill>
          </p:spPr>
        </p:sp>
        <p:sp>
          <p:nvSpPr>
            <p:cNvPr name="TextBox 98" id="98"/>
            <p:cNvSpPr txBox="true"/>
            <p:nvPr/>
          </p:nvSpPr>
          <p:spPr>
            <a:xfrm>
              <a:off x="0" y="-38100"/>
              <a:ext cx="438912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PAYMENT</a:t>
              </a:r>
            </a:p>
          </p:txBody>
        </p:sp>
      </p:grpSp>
      <p:sp>
        <p:nvSpPr>
          <p:cNvPr name="TextBox 99" id="99"/>
          <p:cNvSpPr txBox="true"/>
          <p:nvPr/>
        </p:nvSpPr>
        <p:spPr>
          <a:xfrm rot="0">
            <a:off x="3785616" y="8420481"/>
            <a:ext cx="3108960" cy="76009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payment_id (PK)</a:t>
            </a:r>
          </a:p>
          <a:p>
            <a:pPr algn="l">
              <a:lnSpc>
                <a:spcPts val="1919"/>
              </a:lnSpc>
            </a:pPr>
            <a:r>
              <a:rPr lang="en-US" sz="1599">
                <a:solidFill>
                  <a:srgbClr val="1F332F"/>
                </a:solidFill>
                <a:latin typeface="Calibri (MS)"/>
                <a:ea typeface="Calibri (MS)"/>
                <a:cs typeface="Calibri (MS)"/>
                <a:sym typeface="Calibri (MS)"/>
              </a:rPr>
              <a:t>booking_id (FK, UNIQUE)</a:t>
            </a:r>
          </a:p>
        </p:txBody>
      </p:sp>
      <p:grpSp>
        <p:nvGrpSpPr>
          <p:cNvPr name="Group 100" id="100"/>
          <p:cNvGrpSpPr/>
          <p:nvPr/>
        </p:nvGrpSpPr>
        <p:grpSpPr>
          <a:xfrm rot="0">
            <a:off x="7485383" y="7851143"/>
            <a:ext cx="3865883" cy="1415291"/>
            <a:chOff x="0" y="0"/>
            <a:chExt cx="5154511" cy="1887055"/>
          </a:xfrm>
        </p:grpSpPr>
        <p:sp>
          <p:nvSpPr>
            <p:cNvPr name="Freeform 101" id="101"/>
            <p:cNvSpPr/>
            <p:nvPr/>
          </p:nvSpPr>
          <p:spPr>
            <a:xfrm flipH="false" flipV="false" rot="0">
              <a:off x="0" y="0"/>
              <a:ext cx="5154549" cy="1887093"/>
            </a:xfrm>
            <a:custGeom>
              <a:avLst/>
              <a:gdLst/>
              <a:ahLst/>
              <a:cxnLst/>
              <a:rect r="r" b="b" t="t" l="l"/>
              <a:pathLst>
                <a:path h="1887093" w="5154549">
                  <a:moveTo>
                    <a:pt x="0" y="0"/>
                  </a:moveTo>
                  <a:lnTo>
                    <a:pt x="5154549" y="0"/>
                  </a:lnTo>
                  <a:lnTo>
                    <a:pt x="5154549" y="1887093"/>
                  </a:lnTo>
                  <a:lnTo>
                    <a:pt x="0" y="1887093"/>
                  </a:lnTo>
                  <a:close/>
                </a:path>
              </a:pathLst>
            </a:custGeom>
            <a:solidFill>
              <a:srgbClr val="FFFFFF"/>
            </a:solidFill>
            <a:ln w="25400" cap="sq">
              <a:solidFill>
                <a:srgbClr val="1B4A4A"/>
              </a:solidFill>
              <a:prstDash val="solid"/>
              <a:miter/>
            </a:ln>
          </p:spPr>
        </p:sp>
      </p:grpSp>
      <p:grpSp>
        <p:nvGrpSpPr>
          <p:cNvPr name="Group 102" id="102"/>
          <p:cNvGrpSpPr/>
          <p:nvPr/>
        </p:nvGrpSpPr>
        <p:grpSpPr>
          <a:xfrm rot="0">
            <a:off x="7485383" y="7851143"/>
            <a:ext cx="3865883" cy="537467"/>
            <a:chOff x="0" y="0"/>
            <a:chExt cx="5154511" cy="716623"/>
          </a:xfrm>
        </p:grpSpPr>
        <p:sp>
          <p:nvSpPr>
            <p:cNvPr name="Freeform 103" id="103"/>
            <p:cNvSpPr/>
            <p:nvPr/>
          </p:nvSpPr>
          <p:spPr>
            <a:xfrm flipH="false" flipV="false" rot="0">
              <a:off x="0" y="0"/>
              <a:ext cx="5154549" cy="716661"/>
            </a:xfrm>
            <a:custGeom>
              <a:avLst/>
              <a:gdLst/>
              <a:ahLst/>
              <a:cxnLst/>
              <a:rect r="r" b="b" t="t" l="l"/>
              <a:pathLst>
                <a:path h="716661" w="5154549">
                  <a:moveTo>
                    <a:pt x="0" y="0"/>
                  </a:moveTo>
                  <a:lnTo>
                    <a:pt x="5154549" y="0"/>
                  </a:lnTo>
                  <a:lnTo>
                    <a:pt x="5154549" y="716661"/>
                  </a:lnTo>
                  <a:lnTo>
                    <a:pt x="0" y="716661"/>
                  </a:lnTo>
                  <a:close/>
                </a:path>
              </a:pathLst>
            </a:custGeom>
            <a:solidFill>
              <a:srgbClr val="1B4A4A"/>
            </a:solidFill>
            <a:ln w="25400" cap="sq">
              <a:solidFill>
                <a:srgbClr val="1B4A4A"/>
              </a:solidFill>
              <a:prstDash val="solid"/>
              <a:miter/>
            </a:ln>
          </p:spPr>
        </p:sp>
      </p:grpSp>
      <p:grpSp>
        <p:nvGrpSpPr>
          <p:cNvPr name="Group 104" id="104"/>
          <p:cNvGrpSpPr/>
          <p:nvPr/>
        </p:nvGrpSpPr>
        <p:grpSpPr>
          <a:xfrm rot="0">
            <a:off x="7498080" y="7863840"/>
            <a:ext cx="3840480" cy="512064"/>
            <a:chOff x="0" y="0"/>
            <a:chExt cx="5120640" cy="682752"/>
          </a:xfrm>
        </p:grpSpPr>
        <p:sp>
          <p:nvSpPr>
            <p:cNvPr name="Freeform 105" id="105"/>
            <p:cNvSpPr/>
            <p:nvPr/>
          </p:nvSpPr>
          <p:spPr>
            <a:xfrm flipH="false" flipV="false" rot="0">
              <a:off x="0" y="0"/>
              <a:ext cx="5120640" cy="682752"/>
            </a:xfrm>
            <a:custGeom>
              <a:avLst/>
              <a:gdLst/>
              <a:ahLst/>
              <a:cxnLst/>
              <a:rect r="r" b="b" t="t" l="l"/>
              <a:pathLst>
                <a:path h="682752" w="5120640">
                  <a:moveTo>
                    <a:pt x="0" y="0"/>
                  </a:moveTo>
                  <a:lnTo>
                    <a:pt x="5120640" y="0"/>
                  </a:lnTo>
                  <a:lnTo>
                    <a:pt x="5120640" y="682752"/>
                  </a:lnTo>
                  <a:lnTo>
                    <a:pt x="0" y="682752"/>
                  </a:lnTo>
                  <a:close/>
                </a:path>
              </a:pathLst>
            </a:custGeom>
            <a:blipFill>
              <a:blip r:embed="rId3">
                <a:alphaModFix amt="0"/>
              </a:blip>
              <a:stretch>
                <a:fillRect l="0" t="-96137" r="0" b="-96137"/>
              </a:stretch>
            </a:blipFill>
          </p:spPr>
        </p:sp>
        <p:sp>
          <p:nvSpPr>
            <p:cNvPr name="TextBox 106" id="106"/>
            <p:cNvSpPr txBox="true"/>
            <p:nvPr/>
          </p:nvSpPr>
          <p:spPr>
            <a:xfrm>
              <a:off x="0" y="-38100"/>
              <a:ext cx="5120640" cy="72085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CANCELLATION</a:t>
              </a:r>
            </a:p>
          </p:txBody>
        </p:sp>
      </p:grpSp>
      <p:sp>
        <p:nvSpPr>
          <p:cNvPr name="TextBox 107" id="107"/>
          <p:cNvSpPr txBox="true"/>
          <p:nvPr/>
        </p:nvSpPr>
        <p:spPr>
          <a:xfrm rot="0">
            <a:off x="7626096" y="8420481"/>
            <a:ext cx="3657600" cy="760095"/>
          </a:xfrm>
          <a:prstGeom prst="rect">
            <a:avLst/>
          </a:prstGeom>
        </p:spPr>
        <p:txBody>
          <a:bodyPr anchor="t" rtlCol="false" tIns="0" lIns="0" bIns="0" rIns="0">
            <a:spAutoFit/>
          </a:bodyPr>
          <a:lstStyle/>
          <a:p>
            <a:pPr algn="l">
              <a:lnSpc>
                <a:spcPts val="1919"/>
              </a:lnSpc>
            </a:pPr>
            <a:r>
              <a:rPr lang="en-US" sz="1599">
                <a:solidFill>
                  <a:srgbClr val="1F332F"/>
                </a:solidFill>
                <a:latin typeface="Calibri (MS)"/>
                <a:ea typeface="Calibri (MS)"/>
                <a:cs typeface="Calibri (MS)"/>
                <a:sym typeface="Calibri (MS)"/>
              </a:rPr>
              <a:t>cancel_id (PK)</a:t>
            </a:r>
          </a:p>
          <a:p>
            <a:pPr algn="l">
              <a:lnSpc>
                <a:spcPts val="1919"/>
              </a:lnSpc>
            </a:pPr>
            <a:r>
              <a:rPr lang="en-US" sz="1599">
                <a:solidFill>
                  <a:srgbClr val="1F332F"/>
                </a:solidFill>
                <a:latin typeface="Calibri (MS)"/>
                <a:ea typeface="Calibri (MS)"/>
                <a:cs typeface="Calibri (MS)"/>
                <a:sym typeface="Calibri (MS)"/>
              </a:rPr>
              <a:t>booking_id (FK, UNIQUE)</a:t>
            </a:r>
          </a:p>
        </p:txBody>
      </p:sp>
      <p:sp>
        <p:nvSpPr>
          <p:cNvPr name="AutoShape 108" id="108"/>
          <p:cNvSpPr/>
          <p:nvPr/>
        </p:nvSpPr>
        <p:spPr>
          <a:xfrm rot="5247960">
            <a:off x="5747737" y="7584757"/>
            <a:ext cx="574605" cy="0"/>
          </a:xfrm>
          <a:prstGeom prst="line">
            <a:avLst/>
          </a:prstGeom>
          <a:ln cap="rnd" w="9525">
            <a:solidFill>
              <a:srgbClr val="5C7A70"/>
            </a:solidFill>
            <a:prstDash val="solid"/>
            <a:headEnd type="none" len="sm" w="sm"/>
            <a:tailEnd type="none" len="sm" w="sm"/>
          </a:ln>
        </p:spPr>
      </p:sp>
      <p:sp>
        <p:nvSpPr>
          <p:cNvPr name="AutoShape 109" id="109"/>
          <p:cNvSpPr/>
          <p:nvPr/>
        </p:nvSpPr>
        <p:spPr>
          <a:xfrm rot="5109360">
            <a:off x="6890480" y="7447597"/>
            <a:ext cx="300790" cy="0"/>
          </a:xfrm>
          <a:prstGeom prst="line">
            <a:avLst/>
          </a:prstGeom>
          <a:ln cap="rnd" w="9525">
            <a:solidFill>
              <a:srgbClr val="5C7A70"/>
            </a:solidFill>
            <a:prstDash val="solid"/>
            <a:headEnd type="none" len="sm" w="sm"/>
            <a:tailEnd type="none" len="sm" w="sm"/>
          </a:ln>
        </p:spPr>
      </p:sp>
      <p:sp>
        <p:nvSpPr>
          <p:cNvPr name="AutoShape 110" id="110"/>
          <p:cNvSpPr/>
          <p:nvPr/>
        </p:nvSpPr>
        <p:spPr>
          <a:xfrm rot="37800">
            <a:off x="7028107" y="7584757"/>
            <a:ext cx="2311537" cy="0"/>
          </a:xfrm>
          <a:prstGeom prst="line">
            <a:avLst/>
          </a:prstGeom>
          <a:ln cap="rnd" w="9525">
            <a:solidFill>
              <a:srgbClr val="5C7A70"/>
            </a:solidFill>
            <a:prstDash val="solid"/>
            <a:headEnd type="none" len="sm" w="sm"/>
            <a:tailEnd type="none" len="sm" w="sm"/>
          </a:ln>
        </p:spPr>
      </p:sp>
      <p:sp>
        <p:nvSpPr>
          <p:cNvPr name="AutoShape 111" id="111"/>
          <p:cNvSpPr/>
          <p:nvPr/>
        </p:nvSpPr>
        <p:spPr>
          <a:xfrm rot="5109360">
            <a:off x="9176480" y="7721918"/>
            <a:ext cx="300790" cy="0"/>
          </a:xfrm>
          <a:prstGeom prst="line">
            <a:avLst/>
          </a:prstGeom>
          <a:ln cap="rnd" w="9525">
            <a:solidFill>
              <a:srgbClr val="5C7A70"/>
            </a:solidFill>
            <a:prstDash val="solid"/>
            <a:headEnd type="none" len="sm" w="sm"/>
            <a:tailEnd type="none" len="sm" w="sm"/>
          </a:ln>
        </p:spPr>
      </p:sp>
      <p:grpSp>
        <p:nvGrpSpPr>
          <p:cNvPr name="Group 112" id="112"/>
          <p:cNvGrpSpPr/>
          <p:nvPr/>
        </p:nvGrpSpPr>
        <p:grpSpPr>
          <a:xfrm rot="0">
            <a:off x="5029200" y="7406640"/>
            <a:ext cx="1097280" cy="365760"/>
            <a:chOff x="0" y="0"/>
            <a:chExt cx="1463040" cy="487680"/>
          </a:xfrm>
        </p:grpSpPr>
        <p:sp>
          <p:nvSpPr>
            <p:cNvPr name="Freeform 113" id="113"/>
            <p:cNvSpPr/>
            <p:nvPr/>
          </p:nvSpPr>
          <p:spPr>
            <a:xfrm flipH="false" flipV="false" rot="0">
              <a:off x="0" y="0"/>
              <a:ext cx="1463040" cy="487680"/>
            </a:xfrm>
            <a:custGeom>
              <a:avLst/>
              <a:gdLst/>
              <a:ahLst/>
              <a:cxnLst/>
              <a:rect r="r" b="b" t="t" l="l"/>
              <a:pathLst>
                <a:path h="487680" w="1463040">
                  <a:moveTo>
                    <a:pt x="0" y="0"/>
                  </a:moveTo>
                  <a:lnTo>
                    <a:pt x="1463040" y="0"/>
                  </a:lnTo>
                  <a:lnTo>
                    <a:pt x="1463040" y="487680"/>
                  </a:lnTo>
                  <a:lnTo>
                    <a:pt x="0" y="487680"/>
                  </a:lnTo>
                  <a:close/>
                </a:path>
              </a:pathLst>
            </a:custGeom>
            <a:blipFill>
              <a:blip r:embed="rId3">
                <a:alphaModFix amt="0"/>
              </a:blip>
              <a:stretch>
                <a:fillRect l="0" t="-8455" r="0" b="-8455"/>
              </a:stretch>
            </a:blipFill>
          </p:spPr>
        </p:sp>
        <p:sp>
          <p:nvSpPr>
            <p:cNvPr name="TextBox 114" id="114"/>
            <p:cNvSpPr txBox="true"/>
            <p:nvPr/>
          </p:nvSpPr>
          <p:spPr>
            <a:xfrm>
              <a:off x="0" y="-28575"/>
              <a:ext cx="1463040" cy="516255"/>
            </a:xfrm>
            <a:prstGeom prst="rect">
              <a:avLst/>
            </a:prstGeom>
          </p:spPr>
          <p:txBody>
            <a:bodyPr anchor="ctr" rtlCol="false" tIns="0" lIns="0" bIns="0" rIns="0"/>
            <a:lstStyle/>
            <a:p>
              <a:pPr algn="ctr">
                <a:lnSpc>
                  <a:spcPts val="1919"/>
                </a:lnSpc>
              </a:pPr>
              <a:r>
                <a:rPr lang="en-US" sz="1599" i="true">
                  <a:solidFill>
                    <a:srgbClr val="1B4A4A"/>
                  </a:solidFill>
                  <a:latin typeface="Calibri (MS) Italics"/>
                  <a:ea typeface="Calibri (MS) Italics"/>
                  <a:cs typeface="Calibri (MS) Italics"/>
                  <a:sym typeface="Calibri (MS) Italics"/>
                </a:rPr>
                <a:t>1 : 1</a:t>
              </a:r>
            </a:p>
          </p:txBody>
        </p:sp>
      </p:grpSp>
      <p:grpSp>
        <p:nvGrpSpPr>
          <p:cNvPr name="Group 115" id="115"/>
          <p:cNvGrpSpPr/>
          <p:nvPr/>
        </p:nvGrpSpPr>
        <p:grpSpPr>
          <a:xfrm rot="0">
            <a:off x="12057383" y="7485383"/>
            <a:ext cx="5420363" cy="1945643"/>
            <a:chOff x="0" y="0"/>
            <a:chExt cx="7227151" cy="2594191"/>
          </a:xfrm>
        </p:grpSpPr>
        <p:sp>
          <p:nvSpPr>
            <p:cNvPr name="Freeform 116" id="116"/>
            <p:cNvSpPr/>
            <p:nvPr/>
          </p:nvSpPr>
          <p:spPr>
            <a:xfrm flipH="false" flipV="false" rot="0">
              <a:off x="0" y="0"/>
              <a:ext cx="7227062" cy="2594102"/>
            </a:xfrm>
            <a:custGeom>
              <a:avLst/>
              <a:gdLst/>
              <a:ahLst/>
              <a:cxnLst/>
              <a:rect r="r" b="b" t="t" l="l"/>
              <a:pathLst>
                <a:path h="2594102" w="7227062">
                  <a:moveTo>
                    <a:pt x="0" y="197612"/>
                  </a:moveTo>
                  <a:cubicBezTo>
                    <a:pt x="0" y="88519"/>
                    <a:pt x="88519" y="0"/>
                    <a:pt x="197612" y="0"/>
                  </a:cubicBezTo>
                  <a:lnTo>
                    <a:pt x="7029450" y="0"/>
                  </a:lnTo>
                  <a:cubicBezTo>
                    <a:pt x="7138670" y="0"/>
                    <a:pt x="7227062" y="88519"/>
                    <a:pt x="7227062" y="197612"/>
                  </a:cubicBezTo>
                  <a:lnTo>
                    <a:pt x="7227062" y="2396490"/>
                  </a:lnTo>
                  <a:cubicBezTo>
                    <a:pt x="7227062" y="2505710"/>
                    <a:pt x="7138543" y="2594102"/>
                    <a:pt x="7029450" y="2594102"/>
                  </a:cubicBezTo>
                  <a:lnTo>
                    <a:pt x="197612" y="2594102"/>
                  </a:lnTo>
                  <a:cubicBezTo>
                    <a:pt x="88519" y="2594229"/>
                    <a:pt x="0" y="2505710"/>
                    <a:pt x="0" y="2396490"/>
                  </a:cubicBezTo>
                  <a:close/>
                </a:path>
              </a:pathLst>
            </a:custGeom>
            <a:solidFill>
              <a:srgbClr val="FFFFFF"/>
            </a:solidFill>
            <a:ln w="25400" cap="sq">
              <a:solidFill>
                <a:srgbClr val="FFFFFF"/>
              </a:solidFill>
              <a:prstDash val="solid"/>
              <a:miter/>
            </a:ln>
          </p:spPr>
        </p:sp>
      </p:grpSp>
      <p:grpSp>
        <p:nvGrpSpPr>
          <p:cNvPr name="Group 117" id="117"/>
          <p:cNvGrpSpPr/>
          <p:nvPr/>
        </p:nvGrpSpPr>
        <p:grpSpPr>
          <a:xfrm rot="0">
            <a:off x="12344400" y="7589520"/>
            <a:ext cx="4937760" cy="1737360"/>
            <a:chOff x="0" y="0"/>
            <a:chExt cx="6583680" cy="2316480"/>
          </a:xfrm>
        </p:grpSpPr>
        <p:sp>
          <p:nvSpPr>
            <p:cNvPr name="Freeform 118" id="118"/>
            <p:cNvSpPr/>
            <p:nvPr/>
          </p:nvSpPr>
          <p:spPr>
            <a:xfrm flipH="false" flipV="false" rot="0">
              <a:off x="0" y="0"/>
              <a:ext cx="6583680" cy="2316480"/>
            </a:xfrm>
            <a:custGeom>
              <a:avLst/>
              <a:gdLst/>
              <a:ahLst/>
              <a:cxnLst/>
              <a:rect r="r" b="b" t="t" l="l"/>
              <a:pathLst>
                <a:path h="2316480" w="6583680">
                  <a:moveTo>
                    <a:pt x="0" y="0"/>
                  </a:moveTo>
                  <a:lnTo>
                    <a:pt x="6583680" y="0"/>
                  </a:lnTo>
                  <a:lnTo>
                    <a:pt x="6583680" y="2316480"/>
                  </a:lnTo>
                  <a:lnTo>
                    <a:pt x="0" y="2316480"/>
                  </a:lnTo>
                  <a:close/>
                </a:path>
              </a:pathLst>
            </a:custGeom>
            <a:blipFill>
              <a:blip r:embed="rId3">
                <a:alphaModFix amt="0"/>
              </a:blip>
              <a:stretch>
                <a:fillRect l="0" t="-5378" r="0" b="-5378"/>
              </a:stretch>
            </a:blipFill>
          </p:spPr>
        </p:sp>
        <p:sp>
          <p:nvSpPr>
            <p:cNvPr name="TextBox 119" id="119"/>
            <p:cNvSpPr txBox="true"/>
            <p:nvPr/>
          </p:nvSpPr>
          <p:spPr>
            <a:xfrm>
              <a:off x="0" y="-38100"/>
              <a:ext cx="6583680" cy="2354580"/>
            </a:xfrm>
            <a:prstGeom prst="rect">
              <a:avLst/>
            </a:prstGeom>
          </p:spPr>
          <p:txBody>
            <a:bodyPr anchor="ctr" rtlCol="false" tIns="0" lIns="0" bIns="0" rIns="0"/>
            <a:lstStyle/>
            <a:p>
              <a:pPr algn="l">
                <a:lnSpc>
                  <a:spcPts val="2040"/>
                </a:lnSpc>
              </a:pPr>
              <a:r>
                <a:rPr lang="en-US" sz="1700" b="true">
                  <a:solidFill>
                    <a:srgbClr val="1B4A4A"/>
                  </a:solidFill>
                  <a:latin typeface="Calibri (MS) Bold"/>
                  <a:ea typeface="Calibri (MS) Bold"/>
                  <a:cs typeface="Calibri (MS) Bold"/>
                  <a:sym typeface="Calibri (MS) Bold"/>
                </a:rPr>
                <a:t>Also: </a:t>
              </a:r>
              <a:r>
                <a:rPr lang="en-US" sz="1700">
                  <a:solidFill>
                    <a:srgbClr val="1F332F"/>
                  </a:solidFill>
                  <a:latin typeface="Calibri (MS)"/>
                  <a:ea typeface="Calibri (MS)"/>
                  <a:cs typeface="Calibri (MS)"/>
                  <a:sym typeface="Calibri (MS)"/>
                </a:rPr>
                <a:t>DRIVER, CONDUCTOR (1:N to trip), STOP and ROUTE_STOP (route and stop many-to-many). 13 tables, 3NF.</a:t>
              </a:r>
            </a:p>
          </p:txBody>
        </p:sp>
      </p:grpSp>
      <p:sp>
        <p:nvSpPr>
          <p:cNvPr name="TextBox 120" id="120"/>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FIVE MODULES, ENFORCED IN THE DATABASE</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Final System Features</a:t>
              </a:r>
            </a:p>
          </p:txBody>
        </p:sp>
      </p:grpSp>
      <p:grpSp>
        <p:nvGrpSpPr>
          <p:cNvPr name="Group 11" id="11"/>
          <p:cNvGrpSpPr/>
          <p:nvPr/>
        </p:nvGrpSpPr>
        <p:grpSpPr>
          <a:xfrm rot="0">
            <a:off x="901703" y="2181863"/>
            <a:ext cx="3134363" cy="5694683"/>
            <a:chOff x="0" y="0"/>
            <a:chExt cx="4179151" cy="7592911"/>
          </a:xfrm>
        </p:grpSpPr>
        <p:sp>
          <p:nvSpPr>
            <p:cNvPr name="Freeform 12" id="12"/>
            <p:cNvSpPr/>
            <p:nvPr/>
          </p:nvSpPr>
          <p:spPr>
            <a:xfrm flipH="false" flipV="false" rot="0">
              <a:off x="0" y="0"/>
              <a:ext cx="4179189" cy="7592949"/>
            </a:xfrm>
            <a:custGeom>
              <a:avLst/>
              <a:gdLst/>
              <a:ahLst/>
              <a:cxnLst/>
              <a:rect r="r" b="b" t="t" l="l"/>
              <a:pathLst>
                <a:path h="7592949" w="4179189">
                  <a:moveTo>
                    <a:pt x="0" y="196723"/>
                  </a:moveTo>
                  <a:cubicBezTo>
                    <a:pt x="0" y="88011"/>
                    <a:pt x="88011" y="0"/>
                    <a:pt x="196723" y="0"/>
                  </a:cubicBezTo>
                  <a:lnTo>
                    <a:pt x="3982466" y="0"/>
                  </a:lnTo>
                  <a:cubicBezTo>
                    <a:pt x="4091051" y="0"/>
                    <a:pt x="4179189" y="88011"/>
                    <a:pt x="4179189" y="196723"/>
                  </a:cubicBezTo>
                  <a:lnTo>
                    <a:pt x="4179189" y="7396226"/>
                  </a:lnTo>
                  <a:cubicBezTo>
                    <a:pt x="4179189" y="7504811"/>
                    <a:pt x="4091178" y="7592949"/>
                    <a:pt x="3982466" y="7592949"/>
                  </a:cubicBezTo>
                  <a:lnTo>
                    <a:pt x="196723" y="7592949"/>
                  </a:lnTo>
                  <a:cubicBezTo>
                    <a:pt x="88011" y="7592949"/>
                    <a:pt x="0" y="7504811"/>
                    <a:pt x="0" y="7396226"/>
                  </a:cubicBezTo>
                  <a:close/>
                </a:path>
              </a:pathLst>
            </a:custGeom>
            <a:solidFill>
              <a:srgbClr val="FFFFFF"/>
            </a:solidFill>
            <a:ln w="25400" cap="sq">
              <a:solidFill>
                <a:srgbClr val="FFFFFF"/>
              </a:solidFill>
              <a:prstDash val="solid"/>
              <a:miter/>
            </a:ln>
          </p:spPr>
        </p:sp>
      </p:grpSp>
      <p:grpSp>
        <p:nvGrpSpPr>
          <p:cNvPr name="Group 13" id="13"/>
          <p:cNvGrpSpPr/>
          <p:nvPr/>
        </p:nvGrpSpPr>
        <p:grpSpPr>
          <a:xfrm rot="0">
            <a:off x="1121159" y="2364743"/>
            <a:ext cx="574043" cy="574043"/>
            <a:chOff x="0" y="0"/>
            <a:chExt cx="765391" cy="765391"/>
          </a:xfrm>
        </p:grpSpPr>
        <p:sp>
          <p:nvSpPr>
            <p:cNvPr name="Freeform 14" id="14"/>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15" id="15"/>
          <p:cNvGrpSpPr/>
          <p:nvPr/>
        </p:nvGrpSpPr>
        <p:grpSpPr>
          <a:xfrm rot="0">
            <a:off x="1133856" y="2377440"/>
            <a:ext cx="548640" cy="548640"/>
            <a:chOff x="0" y="0"/>
            <a:chExt cx="731520" cy="731520"/>
          </a:xfrm>
        </p:grpSpPr>
        <p:sp>
          <p:nvSpPr>
            <p:cNvPr name="Freeform 16" id="16"/>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17" id="17"/>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a:t>
              </a:r>
            </a:p>
          </p:txBody>
        </p:sp>
      </p:grpSp>
      <p:sp>
        <p:nvSpPr>
          <p:cNvPr name="TextBox 18" id="18"/>
          <p:cNvSpPr txBox="true"/>
          <p:nvPr/>
        </p:nvSpPr>
        <p:spPr>
          <a:xfrm rot="0">
            <a:off x="1097280" y="3089910"/>
            <a:ext cx="2743200" cy="842010"/>
          </a:xfrm>
          <a:prstGeom prst="rect">
            <a:avLst/>
          </a:prstGeom>
        </p:spPr>
        <p:txBody>
          <a:bodyPr anchor="t" rtlCol="false" tIns="0" lIns="0" bIns="0" rIns="0">
            <a:spAutoFit/>
          </a:bodyPr>
          <a:lstStyle/>
          <a:p>
            <a:pPr algn="l">
              <a:lnSpc>
                <a:spcPts val="2520"/>
              </a:lnSpc>
            </a:pPr>
            <a:r>
              <a:rPr lang="en-US" sz="2100" b="true">
                <a:solidFill>
                  <a:srgbClr val="1B4A4A"/>
                </a:solidFill>
                <a:latin typeface="Cambria Bold"/>
                <a:ea typeface="Cambria Bold"/>
                <a:cs typeface="Cambria Bold"/>
                <a:sym typeface="Cambria Bold"/>
              </a:rPr>
              <a:t>Routes &amp; Stops</a:t>
            </a:r>
          </a:p>
        </p:txBody>
      </p:sp>
      <p:sp>
        <p:nvSpPr>
          <p:cNvPr name="TextBox 19" id="19"/>
          <p:cNvSpPr txBox="true"/>
          <p:nvPr/>
        </p:nvSpPr>
        <p:spPr>
          <a:xfrm rot="0">
            <a:off x="1097280" y="3985260"/>
            <a:ext cx="2743200" cy="369570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route, stop, route_stop</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Stop order per route</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Fare per route and bus type</a:t>
            </a:r>
          </a:p>
        </p:txBody>
      </p:sp>
      <p:grpSp>
        <p:nvGrpSpPr>
          <p:cNvPr name="Group 20" id="20"/>
          <p:cNvGrpSpPr/>
          <p:nvPr/>
        </p:nvGrpSpPr>
        <p:grpSpPr>
          <a:xfrm rot="0">
            <a:off x="4193543" y="2181863"/>
            <a:ext cx="3134363" cy="5694683"/>
            <a:chOff x="0" y="0"/>
            <a:chExt cx="4179151" cy="7592911"/>
          </a:xfrm>
        </p:grpSpPr>
        <p:sp>
          <p:nvSpPr>
            <p:cNvPr name="Freeform 21" id="21"/>
            <p:cNvSpPr/>
            <p:nvPr/>
          </p:nvSpPr>
          <p:spPr>
            <a:xfrm flipH="false" flipV="false" rot="0">
              <a:off x="0" y="0"/>
              <a:ext cx="4179189" cy="7592949"/>
            </a:xfrm>
            <a:custGeom>
              <a:avLst/>
              <a:gdLst/>
              <a:ahLst/>
              <a:cxnLst/>
              <a:rect r="r" b="b" t="t" l="l"/>
              <a:pathLst>
                <a:path h="7592949" w="4179189">
                  <a:moveTo>
                    <a:pt x="0" y="196723"/>
                  </a:moveTo>
                  <a:cubicBezTo>
                    <a:pt x="0" y="88011"/>
                    <a:pt x="88011" y="0"/>
                    <a:pt x="196723" y="0"/>
                  </a:cubicBezTo>
                  <a:lnTo>
                    <a:pt x="3982466" y="0"/>
                  </a:lnTo>
                  <a:cubicBezTo>
                    <a:pt x="4091051" y="0"/>
                    <a:pt x="4179189" y="88011"/>
                    <a:pt x="4179189" y="196723"/>
                  </a:cubicBezTo>
                  <a:lnTo>
                    <a:pt x="4179189" y="7396226"/>
                  </a:lnTo>
                  <a:cubicBezTo>
                    <a:pt x="4179189" y="7504811"/>
                    <a:pt x="4091178" y="7592949"/>
                    <a:pt x="3982466" y="7592949"/>
                  </a:cubicBezTo>
                  <a:lnTo>
                    <a:pt x="196723" y="7592949"/>
                  </a:lnTo>
                  <a:cubicBezTo>
                    <a:pt x="88011" y="7592949"/>
                    <a:pt x="0" y="7504811"/>
                    <a:pt x="0" y="7396226"/>
                  </a:cubicBezTo>
                  <a:close/>
                </a:path>
              </a:pathLst>
            </a:custGeom>
            <a:solidFill>
              <a:srgbClr val="FFFFFF"/>
            </a:solidFill>
            <a:ln w="25400" cap="sq">
              <a:solidFill>
                <a:srgbClr val="FFFFFF"/>
              </a:solidFill>
              <a:prstDash val="solid"/>
              <a:miter/>
            </a:ln>
          </p:spPr>
        </p:sp>
      </p:grpSp>
      <p:grpSp>
        <p:nvGrpSpPr>
          <p:cNvPr name="Group 22" id="22"/>
          <p:cNvGrpSpPr/>
          <p:nvPr/>
        </p:nvGrpSpPr>
        <p:grpSpPr>
          <a:xfrm rot="0">
            <a:off x="4412999" y="2364743"/>
            <a:ext cx="574043" cy="574043"/>
            <a:chOff x="0" y="0"/>
            <a:chExt cx="765391" cy="765391"/>
          </a:xfrm>
        </p:grpSpPr>
        <p:sp>
          <p:nvSpPr>
            <p:cNvPr name="Freeform 23" id="23"/>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24" id="24"/>
          <p:cNvGrpSpPr/>
          <p:nvPr/>
        </p:nvGrpSpPr>
        <p:grpSpPr>
          <a:xfrm rot="0">
            <a:off x="4425696" y="2377440"/>
            <a:ext cx="548640" cy="54864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26" id="26"/>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a:t>
              </a:r>
            </a:p>
          </p:txBody>
        </p:sp>
      </p:grpSp>
      <p:sp>
        <p:nvSpPr>
          <p:cNvPr name="TextBox 27" id="27"/>
          <p:cNvSpPr txBox="true"/>
          <p:nvPr/>
        </p:nvSpPr>
        <p:spPr>
          <a:xfrm rot="0">
            <a:off x="4389120" y="3089910"/>
            <a:ext cx="2743200" cy="842010"/>
          </a:xfrm>
          <a:prstGeom prst="rect">
            <a:avLst/>
          </a:prstGeom>
        </p:spPr>
        <p:txBody>
          <a:bodyPr anchor="t" rtlCol="false" tIns="0" lIns="0" bIns="0" rIns="0">
            <a:spAutoFit/>
          </a:bodyPr>
          <a:lstStyle/>
          <a:p>
            <a:pPr algn="l">
              <a:lnSpc>
                <a:spcPts val="2520"/>
              </a:lnSpc>
            </a:pPr>
            <a:r>
              <a:rPr lang="en-US" sz="2100" b="true">
                <a:solidFill>
                  <a:srgbClr val="1B4A4A"/>
                </a:solidFill>
                <a:latin typeface="Cambria Bold"/>
                <a:ea typeface="Cambria Bold"/>
                <a:cs typeface="Cambria Bold"/>
                <a:sym typeface="Cambria Bold"/>
              </a:rPr>
              <a:t>Fleet</a:t>
            </a:r>
          </a:p>
        </p:txBody>
      </p:sp>
      <p:sp>
        <p:nvSpPr>
          <p:cNvPr name="TextBox 28" id="28"/>
          <p:cNvSpPr txBox="true"/>
          <p:nvPr/>
        </p:nvSpPr>
        <p:spPr>
          <a:xfrm rot="0">
            <a:off x="4389120" y="3985260"/>
            <a:ext cx="2743200" cy="369570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Bus with type and status</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Seat list for each bus</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Seater, Sleeper, AC variants</a:t>
            </a:r>
          </a:p>
        </p:txBody>
      </p:sp>
      <p:grpSp>
        <p:nvGrpSpPr>
          <p:cNvPr name="Group 29" id="29"/>
          <p:cNvGrpSpPr/>
          <p:nvPr/>
        </p:nvGrpSpPr>
        <p:grpSpPr>
          <a:xfrm rot="0">
            <a:off x="7485383" y="2181863"/>
            <a:ext cx="3134363" cy="5694683"/>
            <a:chOff x="0" y="0"/>
            <a:chExt cx="4179151" cy="7592911"/>
          </a:xfrm>
        </p:grpSpPr>
        <p:sp>
          <p:nvSpPr>
            <p:cNvPr name="Freeform 30" id="30"/>
            <p:cNvSpPr/>
            <p:nvPr/>
          </p:nvSpPr>
          <p:spPr>
            <a:xfrm flipH="false" flipV="false" rot="0">
              <a:off x="0" y="0"/>
              <a:ext cx="4179189" cy="7592949"/>
            </a:xfrm>
            <a:custGeom>
              <a:avLst/>
              <a:gdLst/>
              <a:ahLst/>
              <a:cxnLst/>
              <a:rect r="r" b="b" t="t" l="l"/>
              <a:pathLst>
                <a:path h="7592949" w="4179189">
                  <a:moveTo>
                    <a:pt x="0" y="196723"/>
                  </a:moveTo>
                  <a:cubicBezTo>
                    <a:pt x="0" y="88011"/>
                    <a:pt x="88011" y="0"/>
                    <a:pt x="196723" y="0"/>
                  </a:cubicBezTo>
                  <a:lnTo>
                    <a:pt x="3982466" y="0"/>
                  </a:lnTo>
                  <a:cubicBezTo>
                    <a:pt x="4091051" y="0"/>
                    <a:pt x="4179189" y="88011"/>
                    <a:pt x="4179189" y="196723"/>
                  </a:cubicBezTo>
                  <a:lnTo>
                    <a:pt x="4179189" y="7396226"/>
                  </a:lnTo>
                  <a:cubicBezTo>
                    <a:pt x="4179189" y="7504811"/>
                    <a:pt x="4091178" y="7592949"/>
                    <a:pt x="3982466" y="7592949"/>
                  </a:cubicBezTo>
                  <a:lnTo>
                    <a:pt x="196723" y="7592949"/>
                  </a:lnTo>
                  <a:cubicBezTo>
                    <a:pt x="88011" y="7592949"/>
                    <a:pt x="0" y="7504811"/>
                    <a:pt x="0" y="7396226"/>
                  </a:cubicBezTo>
                  <a:close/>
                </a:path>
              </a:pathLst>
            </a:custGeom>
            <a:solidFill>
              <a:srgbClr val="FFFFFF"/>
            </a:solidFill>
            <a:ln w="25400" cap="sq">
              <a:solidFill>
                <a:srgbClr val="FFFFFF"/>
              </a:solidFill>
              <a:prstDash val="solid"/>
              <a:miter/>
            </a:ln>
          </p:spPr>
        </p:sp>
      </p:grpSp>
      <p:grpSp>
        <p:nvGrpSpPr>
          <p:cNvPr name="Group 31" id="31"/>
          <p:cNvGrpSpPr/>
          <p:nvPr/>
        </p:nvGrpSpPr>
        <p:grpSpPr>
          <a:xfrm rot="0">
            <a:off x="7704839" y="2364743"/>
            <a:ext cx="574043" cy="574043"/>
            <a:chOff x="0" y="0"/>
            <a:chExt cx="765391" cy="765391"/>
          </a:xfrm>
        </p:grpSpPr>
        <p:sp>
          <p:nvSpPr>
            <p:cNvPr name="Freeform 32" id="32"/>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33" id="33"/>
          <p:cNvGrpSpPr/>
          <p:nvPr/>
        </p:nvGrpSpPr>
        <p:grpSpPr>
          <a:xfrm rot="0">
            <a:off x="7717536" y="2377440"/>
            <a:ext cx="548640" cy="548640"/>
            <a:chOff x="0" y="0"/>
            <a:chExt cx="731520" cy="731520"/>
          </a:xfrm>
        </p:grpSpPr>
        <p:sp>
          <p:nvSpPr>
            <p:cNvPr name="Freeform 34" id="34"/>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35" id="35"/>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3</a:t>
              </a:r>
            </a:p>
          </p:txBody>
        </p:sp>
      </p:grpSp>
      <p:sp>
        <p:nvSpPr>
          <p:cNvPr name="TextBox 36" id="36"/>
          <p:cNvSpPr txBox="true"/>
          <p:nvPr/>
        </p:nvSpPr>
        <p:spPr>
          <a:xfrm rot="0">
            <a:off x="7680960" y="3089910"/>
            <a:ext cx="2743200" cy="842010"/>
          </a:xfrm>
          <a:prstGeom prst="rect">
            <a:avLst/>
          </a:prstGeom>
        </p:spPr>
        <p:txBody>
          <a:bodyPr anchor="t" rtlCol="false" tIns="0" lIns="0" bIns="0" rIns="0">
            <a:spAutoFit/>
          </a:bodyPr>
          <a:lstStyle/>
          <a:p>
            <a:pPr algn="l">
              <a:lnSpc>
                <a:spcPts val="2520"/>
              </a:lnSpc>
            </a:pPr>
            <a:r>
              <a:rPr lang="en-US" sz="2100" b="true">
                <a:solidFill>
                  <a:srgbClr val="1B4A4A"/>
                </a:solidFill>
                <a:latin typeface="Cambria Bold"/>
                <a:ea typeface="Cambria Bold"/>
                <a:cs typeface="Cambria Bold"/>
                <a:sym typeface="Cambria Bold"/>
              </a:rPr>
              <a:t>Crew &amp; Trips</a:t>
            </a:r>
          </a:p>
        </p:txBody>
      </p:sp>
      <p:sp>
        <p:nvSpPr>
          <p:cNvPr name="TextBox 37" id="37"/>
          <p:cNvSpPr txBox="true"/>
          <p:nvPr/>
        </p:nvSpPr>
        <p:spPr>
          <a:xfrm rot="0">
            <a:off x="7680960" y="3985260"/>
            <a:ext cx="2743200" cy="369570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Driver and conductor</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Trip with one bus and crew</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Overlap rejected</a:t>
            </a:r>
          </a:p>
        </p:txBody>
      </p:sp>
      <p:grpSp>
        <p:nvGrpSpPr>
          <p:cNvPr name="Group 38" id="38"/>
          <p:cNvGrpSpPr/>
          <p:nvPr/>
        </p:nvGrpSpPr>
        <p:grpSpPr>
          <a:xfrm rot="0">
            <a:off x="10777223" y="2181863"/>
            <a:ext cx="3134363" cy="5694683"/>
            <a:chOff x="0" y="0"/>
            <a:chExt cx="4179151" cy="7592911"/>
          </a:xfrm>
        </p:grpSpPr>
        <p:sp>
          <p:nvSpPr>
            <p:cNvPr name="Freeform 39" id="39"/>
            <p:cNvSpPr/>
            <p:nvPr/>
          </p:nvSpPr>
          <p:spPr>
            <a:xfrm flipH="false" flipV="false" rot="0">
              <a:off x="0" y="0"/>
              <a:ext cx="4179189" cy="7592949"/>
            </a:xfrm>
            <a:custGeom>
              <a:avLst/>
              <a:gdLst/>
              <a:ahLst/>
              <a:cxnLst/>
              <a:rect r="r" b="b" t="t" l="l"/>
              <a:pathLst>
                <a:path h="7592949" w="4179189">
                  <a:moveTo>
                    <a:pt x="0" y="196723"/>
                  </a:moveTo>
                  <a:cubicBezTo>
                    <a:pt x="0" y="88011"/>
                    <a:pt x="88011" y="0"/>
                    <a:pt x="196723" y="0"/>
                  </a:cubicBezTo>
                  <a:lnTo>
                    <a:pt x="3982466" y="0"/>
                  </a:lnTo>
                  <a:cubicBezTo>
                    <a:pt x="4091051" y="0"/>
                    <a:pt x="4179189" y="88011"/>
                    <a:pt x="4179189" y="196723"/>
                  </a:cubicBezTo>
                  <a:lnTo>
                    <a:pt x="4179189" y="7396226"/>
                  </a:lnTo>
                  <a:cubicBezTo>
                    <a:pt x="4179189" y="7504811"/>
                    <a:pt x="4091178" y="7592949"/>
                    <a:pt x="3982466" y="7592949"/>
                  </a:cubicBezTo>
                  <a:lnTo>
                    <a:pt x="196723" y="7592949"/>
                  </a:lnTo>
                  <a:cubicBezTo>
                    <a:pt x="88011" y="7592949"/>
                    <a:pt x="0" y="7504811"/>
                    <a:pt x="0" y="7396226"/>
                  </a:cubicBezTo>
                  <a:close/>
                </a:path>
              </a:pathLst>
            </a:custGeom>
            <a:solidFill>
              <a:srgbClr val="FFFFFF"/>
            </a:solidFill>
            <a:ln w="25400" cap="sq">
              <a:solidFill>
                <a:srgbClr val="FFFFFF"/>
              </a:solidFill>
              <a:prstDash val="solid"/>
              <a:miter/>
            </a:ln>
          </p:spPr>
        </p:sp>
      </p:grpSp>
      <p:grpSp>
        <p:nvGrpSpPr>
          <p:cNvPr name="Group 40" id="40"/>
          <p:cNvGrpSpPr/>
          <p:nvPr/>
        </p:nvGrpSpPr>
        <p:grpSpPr>
          <a:xfrm rot="0">
            <a:off x="10996679" y="2364743"/>
            <a:ext cx="574043" cy="574043"/>
            <a:chOff x="0" y="0"/>
            <a:chExt cx="765391" cy="765391"/>
          </a:xfrm>
        </p:grpSpPr>
        <p:sp>
          <p:nvSpPr>
            <p:cNvPr name="Freeform 41" id="4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42" id="42"/>
          <p:cNvGrpSpPr/>
          <p:nvPr/>
        </p:nvGrpSpPr>
        <p:grpSpPr>
          <a:xfrm rot="0">
            <a:off x="11009376" y="2377440"/>
            <a:ext cx="548640" cy="548640"/>
            <a:chOff x="0" y="0"/>
            <a:chExt cx="731520" cy="731520"/>
          </a:xfrm>
        </p:grpSpPr>
        <p:sp>
          <p:nvSpPr>
            <p:cNvPr name="Freeform 43" id="4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44" id="44"/>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4</a:t>
              </a:r>
            </a:p>
          </p:txBody>
        </p:sp>
      </p:grpSp>
      <p:sp>
        <p:nvSpPr>
          <p:cNvPr name="TextBox 45" id="45"/>
          <p:cNvSpPr txBox="true"/>
          <p:nvPr/>
        </p:nvSpPr>
        <p:spPr>
          <a:xfrm rot="0">
            <a:off x="10972800" y="3089910"/>
            <a:ext cx="2743200" cy="842010"/>
          </a:xfrm>
          <a:prstGeom prst="rect">
            <a:avLst/>
          </a:prstGeom>
        </p:spPr>
        <p:txBody>
          <a:bodyPr anchor="t" rtlCol="false" tIns="0" lIns="0" bIns="0" rIns="0">
            <a:spAutoFit/>
          </a:bodyPr>
          <a:lstStyle/>
          <a:p>
            <a:pPr algn="l">
              <a:lnSpc>
                <a:spcPts val="2520"/>
              </a:lnSpc>
            </a:pPr>
            <a:r>
              <a:rPr lang="en-US" sz="2100" b="true">
                <a:solidFill>
                  <a:srgbClr val="1B4A4A"/>
                </a:solidFill>
                <a:latin typeface="Cambria Bold"/>
                <a:ea typeface="Cambria Bold"/>
                <a:cs typeface="Cambria Bold"/>
                <a:sym typeface="Cambria Bold"/>
              </a:rPr>
              <a:t>Booking &amp; Payment</a:t>
            </a:r>
          </a:p>
        </p:txBody>
      </p:sp>
      <p:sp>
        <p:nvSpPr>
          <p:cNvPr name="TextBox 46" id="46"/>
          <p:cNvSpPr txBox="true"/>
          <p:nvPr/>
        </p:nvSpPr>
        <p:spPr>
          <a:xfrm rot="0">
            <a:off x="10972800" y="3985260"/>
            <a:ext cx="2743200" cy="369570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One seat, one passenger, one trip</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Double booking blocked</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Payment must equal fare</a:t>
            </a:r>
          </a:p>
        </p:txBody>
      </p:sp>
      <p:grpSp>
        <p:nvGrpSpPr>
          <p:cNvPr name="Group 47" id="47"/>
          <p:cNvGrpSpPr/>
          <p:nvPr/>
        </p:nvGrpSpPr>
        <p:grpSpPr>
          <a:xfrm rot="0">
            <a:off x="14069063" y="2181863"/>
            <a:ext cx="3134363" cy="5694683"/>
            <a:chOff x="0" y="0"/>
            <a:chExt cx="4179151" cy="7592911"/>
          </a:xfrm>
        </p:grpSpPr>
        <p:sp>
          <p:nvSpPr>
            <p:cNvPr name="Freeform 48" id="48"/>
            <p:cNvSpPr/>
            <p:nvPr/>
          </p:nvSpPr>
          <p:spPr>
            <a:xfrm flipH="false" flipV="false" rot="0">
              <a:off x="0" y="0"/>
              <a:ext cx="4179189" cy="7592949"/>
            </a:xfrm>
            <a:custGeom>
              <a:avLst/>
              <a:gdLst/>
              <a:ahLst/>
              <a:cxnLst/>
              <a:rect r="r" b="b" t="t" l="l"/>
              <a:pathLst>
                <a:path h="7592949" w="4179189">
                  <a:moveTo>
                    <a:pt x="0" y="196723"/>
                  </a:moveTo>
                  <a:cubicBezTo>
                    <a:pt x="0" y="88011"/>
                    <a:pt x="88011" y="0"/>
                    <a:pt x="196723" y="0"/>
                  </a:cubicBezTo>
                  <a:lnTo>
                    <a:pt x="3982466" y="0"/>
                  </a:lnTo>
                  <a:cubicBezTo>
                    <a:pt x="4091051" y="0"/>
                    <a:pt x="4179189" y="88011"/>
                    <a:pt x="4179189" y="196723"/>
                  </a:cubicBezTo>
                  <a:lnTo>
                    <a:pt x="4179189" y="7396226"/>
                  </a:lnTo>
                  <a:cubicBezTo>
                    <a:pt x="4179189" y="7504811"/>
                    <a:pt x="4091178" y="7592949"/>
                    <a:pt x="3982466" y="7592949"/>
                  </a:cubicBezTo>
                  <a:lnTo>
                    <a:pt x="196723" y="7592949"/>
                  </a:lnTo>
                  <a:cubicBezTo>
                    <a:pt x="88011" y="7592949"/>
                    <a:pt x="0" y="7504811"/>
                    <a:pt x="0" y="7396226"/>
                  </a:cubicBezTo>
                  <a:close/>
                </a:path>
              </a:pathLst>
            </a:custGeom>
            <a:solidFill>
              <a:srgbClr val="FFFFFF"/>
            </a:solidFill>
            <a:ln w="25400" cap="sq">
              <a:solidFill>
                <a:srgbClr val="FFFFFF"/>
              </a:solidFill>
              <a:prstDash val="solid"/>
              <a:miter/>
            </a:ln>
          </p:spPr>
        </p:sp>
      </p:grpSp>
      <p:grpSp>
        <p:nvGrpSpPr>
          <p:cNvPr name="Group 49" id="49"/>
          <p:cNvGrpSpPr/>
          <p:nvPr/>
        </p:nvGrpSpPr>
        <p:grpSpPr>
          <a:xfrm rot="0">
            <a:off x="14288519" y="2364743"/>
            <a:ext cx="574043" cy="574043"/>
            <a:chOff x="0" y="0"/>
            <a:chExt cx="765391" cy="765391"/>
          </a:xfrm>
        </p:grpSpPr>
        <p:sp>
          <p:nvSpPr>
            <p:cNvPr name="Freeform 50" id="50"/>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51" id="51"/>
          <p:cNvGrpSpPr/>
          <p:nvPr/>
        </p:nvGrpSpPr>
        <p:grpSpPr>
          <a:xfrm rot="0">
            <a:off x="14301216" y="2377440"/>
            <a:ext cx="548640" cy="548640"/>
            <a:chOff x="0" y="0"/>
            <a:chExt cx="731520" cy="731520"/>
          </a:xfrm>
        </p:grpSpPr>
        <p:sp>
          <p:nvSpPr>
            <p:cNvPr name="Freeform 52" id="52"/>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53" id="53"/>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5</a:t>
              </a:r>
            </a:p>
          </p:txBody>
        </p:sp>
      </p:grpSp>
      <p:sp>
        <p:nvSpPr>
          <p:cNvPr name="TextBox 54" id="54"/>
          <p:cNvSpPr txBox="true"/>
          <p:nvPr/>
        </p:nvSpPr>
        <p:spPr>
          <a:xfrm rot="0">
            <a:off x="14264640" y="3089910"/>
            <a:ext cx="2743200" cy="842010"/>
          </a:xfrm>
          <a:prstGeom prst="rect">
            <a:avLst/>
          </a:prstGeom>
        </p:spPr>
        <p:txBody>
          <a:bodyPr anchor="t" rtlCol="false" tIns="0" lIns="0" bIns="0" rIns="0">
            <a:spAutoFit/>
          </a:bodyPr>
          <a:lstStyle/>
          <a:p>
            <a:pPr algn="l">
              <a:lnSpc>
                <a:spcPts val="2520"/>
              </a:lnSpc>
            </a:pPr>
            <a:r>
              <a:rPr lang="en-US" sz="2100" b="true">
                <a:solidFill>
                  <a:srgbClr val="1B4A4A"/>
                </a:solidFill>
                <a:latin typeface="Cambria Bold"/>
                <a:ea typeface="Cambria Bold"/>
                <a:cs typeface="Cambria Bold"/>
                <a:sym typeface="Cambria Bold"/>
              </a:rPr>
              <a:t>Cancellation</a:t>
            </a:r>
          </a:p>
        </p:txBody>
      </p:sp>
      <p:sp>
        <p:nvSpPr>
          <p:cNvPr name="TextBox 55" id="55"/>
          <p:cNvSpPr txBox="true"/>
          <p:nvPr/>
        </p:nvSpPr>
        <p:spPr>
          <a:xfrm rot="0">
            <a:off x="14264640" y="3985260"/>
            <a:ext cx="2743200" cy="3695700"/>
          </a:xfrm>
          <a:prstGeom prst="rect">
            <a:avLst/>
          </a:prstGeom>
        </p:spPr>
        <p:txBody>
          <a:bodyPr anchor="t" rtlCol="false" tIns="0" lIns="0" bIns="0" rIns="0">
            <a:spAutoFit/>
          </a:bodyPr>
          <a:lstStyle/>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90% / 50% / 0% refund</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Blocked after departure</a:t>
            </a:r>
          </a:p>
          <a:p>
            <a:pPr algn="l" marL="410211" indent="-205105" lvl="1">
              <a:lnSpc>
                <a:spcPts val="2040"/>
              </a:lnSpc>
              <a:buFont typeface="Arial"/>
              <a:buChar char="•"/>
            </a:pPr>
            <a:r>
              <a:rPr lang="en-US" sz="1700">
                <a:solidFill>
                  <a:srgbClr val="1F332F"/>
                </a:solidFill>
                <a:latin typeface="Calibri (MS)"/>
                <a:ea typeface="Calibri (MS)"/>
                <a:cs typeface="Calibri (MS)"/>
                <a:sym typeface="Calibri (MS)"/>
              </a:rPr>
              <a:t>Seat freed automatically</a:t>
            </a:r>
          </a:p>
        </p:txBody>
      </p:sp>
      <p:grpSp>
        <p:nvGrpSpPr>
          <p:cNvPr name="Group 56" id="56"/>
          <p:cNvGrpSpPr/>
          <p:nvPr/>
        </p:nvGrpSpPr>
        <p:grpSpPr>
          <a:xfrm rot="0">
            <a:off x="901703" y="8125463"/>
            <a:ext cx="16484603" cy="1122683"/>
            <a:chOff x="0" y="0"/>
            <a:chExt cx="21979471" cy="1496911"/>
          </a:xfrm>
        </p:grpSpPr>
        <p:sp>
          <p:nvSpPr>
            <p:cNvPr name="Freeform 57" id="57"/>
            <p:cNvSpPr/>
            <p:nvPr/>
          </p:nvSpPr>
          <p:spPr>
            <a:xfrm flipH="false" flipV="false" rot="0">
              <a:off x="0" y="0"/>
              <a:ext cx="21979510" cy="1496949"/>
            </a:xfrm>
            <a:custGeom>
              <a:avLst/>
              <a:gdLst/>
              <a:ahLst/>
              <a:cxnLst/>
              <a:rect r="r" b="b" t="t" l="l"/>
              <a:pathLst>
                <a:path h="1496949" w="21979510">
                  <a:moveTo>
                    <a:pt x="0" y="149733"/>
                  </a:moveTo>
                  <a:cubicBezTo>
                    <a:pt x="0" y="67056"/>
                    <a:pt x="67056" y="0"/>
                    <a:pt x="149733" y="0"/>
                  </a:cubicBezTo>
                  <a:lnTo>
                    <a:pt x="21829776" y="0"/>
                  </a:lnTo>
                  <a:cubicBezTo>
                    <a:pt x="21912453" y="0"/>
                    <a:pt x="21979510" y="67056"/>
                    <a:pt x="21979510" y="149733"/>
                  </a:cubicBezTo>
                  <a:lnTo>
                    <a:pt x="21979510" y="1347216"/>
                  </a:lnTo>
                  <a:cubicBezTo>
                    <a:pt x="21979510" y="1429893"/>
                    <a:pt x="21912453" y="1496949"/>
                    <a:pt x="21829776" y="1496949"/>
                  </a:cubicBezTo>
                  <a:lnTo>
                    <a:pt x="149733" y="1496949"/>
                  </a:lnTo>
                  <a:cubicBezTo>
                    <a:pt x="67056" y="1496949"/>
                    <a:pt x="0" y="1429893"/>
                    <a:pt x="0" y="1347216"/>
                  </a:cubicBezTo>
                  <a:close/>
                </a:path>
              </a:pathLst>
            </a:custGeom>
            <a:solidFill>
              <a:srgbClr val="1B4A4A"/>
            </a:solidFill>
            <a:ln w="25400" cap="sq">
              <a:solidFill>
                <a:srgbClr val="1B4A4A"/>
              </a:solidFill>
              <a:prstDash val="solid"/>
              <a:miter/>
            </a:ln>
          </p:spPr>
        </p:sp>
      </p:grpSp>
      <p:grpSp>
        <p:nvGrpSpPr>
          <p:cNvPr name="Group 58" id="58"/>
          <p:cNvGrpSpPr/>
          <p:nvPr/>
        </p:nvGrpSpPr>
        <p:grpSpPr>
          <a:xfrm rot="0">
            <a:off x="1280160" y="8138160"/>
            <a:ext cx="15727680" cy="1097280"/>
            <a:chOff x="0" y="0"/>
            <a:chExt cx="20970240" cy="1463040"/>
          </a:xfrm>
        </p:grpSpPr>
        <p:sp>
          <p:nvSpPr>
            <p:cNvPr name="Freeform 59" id="59"/>
            <p:cNvSpPr/>
            <p:nvPr/>
          </p:nvSpPr>
          <p:spPr>
            <a:xfrm flipH="false" flipV="false" rot="0">
              <a:off x="0" y="0"/>
              <a:ext cx="20970239" cy="1463040"/>
            </a:xfrm>
            <a:custGeom>
              <a:avLst/>
              <a:gdLst/>
              <a:ahLst/>
              <a:cxnLst/>
              <a:rect r="r" b="b" t="t" l="l"/>
              <a:pathLst>
                <a:path h="1463040" w="20970239">
                  <a:moveTo>
                    <a:pt x="0" y="0"/>
                  </a:moveTo>
                  <a:lnTo>
                    <a:pt x="20970239" y="0"/>
                  </a:lnTo>
                  <a:lnTo>
                    <a:pt x="20970239" y="1463040"/>
                  </a:lnTo>
                  <a:lnTo>
                    <a:pt x="0" y="1463040"/>
                  </a:lnTo>
                  <a:close/>
                </a:path>
              </a:pathLst>
            </a:custGeom>
            <a:blipFill>
              <a:blip r:embed="rId3">
                <a:alphaModFix amt="0"/>
              </a:blip>
              <a:stretch>
                <a:fillRect l="0" t="-229285" r="0" b="-229285"/>
              </a:stretch>
            </a:blipFill>
          </p:spPr>
        </p:sp>
        <p:sp>
          <p:nvSpPr>
            <p:cNvPr name="TextBox 60" id="60"/>
            <p:cNvSpPr txBox="true"/>
            <p:nvPr/>
          </p:nvSpPr>
          <p:spPr>
            <a:xfrm>
              <a:off x="0" y="-38100"/>
              <a:ext cx="20970240" cy="1501140"/>
            </a:xfrm>
            <a:prstGeom prst="rect">
              <a:avLst/>
            </a:prstGeom>
          </p:spPr>
          <p:txBody>
            <a:bodyPr anchor="ctr" rtlCol="false" tIns="0" lIns="0" bIns="0" rIns="0"/>
            <a:lstStyle/>
            <a:p>
              <a:pPr algn="l">
                <a:lnSpc>
                  <a:spcPts val="2279"/>
                </a:lnSpc>
              </a:pPr>
              <a:r>
                <a:rPr lang="en-US" sz="1899" b="true">
                  <a:solidFill>
                    <a:srgbClr val="D98E3C"/>
                  </a:solidFill>
                  <a:latin typeface="Calibri (MS) Bold"/>
                  <a:ea typeface="Calibri (MS) Bold"/>
                  <a:cs typeface="Calibri (MS) Bold"/>
                  <a:sym typeface="Calibri (MS) Bold"/>
                </a:rPr>
                <a:t>Flow: </a:t>
              </a:r>
              <a:r>
                <a:rPr lang="en-US" sz="1899">
                  <a:solidFill>
                    <a:srgbClr val="FFFFFF"/>
                  </a:solidFill>
                  <a:latin typeface="Calibri (MS)"/>
                  <a:ea typeface="Calibri (MS)"/>
                  <a:cs typeface="Calibri (MS)"/>
                  <a:sym typeface="Calibri (MS)"/>
                </a:rPr>
                <a:t>route and fare, bus and seats, crew, trip, booking, payment, cancellation. These rules already hold for any front-end.</a:t>
              </a:r>
            </a:p>
          </p:txBody>
        </p:sp>
      </p:grpSp>
      <p:sp>
        <p:nvSpPr>
          <p:cNvPr name="TextBox 61" id="61"/>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HOW THE DATABASE KEEPS DATA SAFE</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Implementation Highlights</a:t>
              </a:r>
            </a:p>
          </p:txBody>
        </p:sp>
      </p:grpSp>
      <p:grpSp>
        <p:nvGrpSpPr>
          <p:cNvPr name="Group 11" id="11"/>
          <p:cNvGrpSpPr/>
          <p:nvPr/>
        </p:nvGrpSpPr>
        <p:grpSpPr>
          <a:xfrm rot="0">
            <a:off x="901703" y="2181863"/>
            <a:ext cx="5328923" cy="3317243"/>
            <a:chOff x="0" y="0"/>
            <a:chExt cx="7105231" cy="4422991"/>
          </a:xfrm>
        </p:grpSpPr>
        <p:sp>
          <p:nvSpPr>
            <p:cNvPr name="Freeform 12" id="12"/>
            <p:cNvSpPr/>
            <p:nvPr/>
          </p:nvSpPr>
          <p:spPr>
            <a:xfrm flipH="false" flipV="false" rot="0">
              <a:off x="0" y="0"/>
              <a:ext cx="7105269" cy="4423029"/>
            </a:xfrm>
            <a:custGeom>
              <a:avLst/>
              <a:gdLst/>
              <a:ahLst/>
              <a:cxnLst/>
              <a:rect r="r" b="b" t="t" l="l"/>
              <a:pathLst>
                <a:path h="4423029" w="7105269">
                  <a:moveTo>
                    <a:pt x="0" y="196596"/>
                  </a:moveTo>
                  <a:cubicBezTo>
                    <a:pt x="0" y="88011"/>
                    <a:pt x="88011" y="0"/>
                    <a:pt x="196596" y="0"/>
                  </a:cubicBezTo>
                  <a:lnTo>
                    <a:pt x="6908673" y="0"/>
                  </a:lnTo>
                  <a:cubicBezTo>
                    <a:pt x="7017258" y="0"/>
                    <a:pt x="7105269" y="88011"/>
                    <a:pt x="7105269" y="196596"/>
                  </a:cubicBezTo>
                  <a:lnTo>
                    <a:pt x="7105269" y="4226433"/>
                  </a:lnTo>
                  <a:cubicBezTo>
                    <a:pt x="7105269" y="4335018"/>
                    <a:pt x="7017258" y="4423029"/>
                    <a:pt x="6908673" y="4423029"/>
                  </a:cubicBezTo>
                  <a:lnTo>
                    <a:pt x="196596" y="4423029"/>
                  </a:lnTo>
                  <a:cubicBezTo>
                    <a:pt x="88011" y="4423029"/>
                    <a:pt x="0" y="4335018"/>
                    <a:pt x="0" y="4226433"/>
                  </a:cubicBezTo>
                  <a:close/>
                </a:path>
              </a:pathLst>
            </a:custGeom>
            <a:solidFill>
              <a:srgbClr val="FFFFFF"/>
            </a:solidFill>
            <a:ln w="25400" cap="sq">
              <a:solidFill>
                <a:srgbClr val="FFFFFF"/>
              </a:solidFill>
              <a:prstDash val="solid"/>
              <a:miter/>
            </a:ln>
          </p:spPr>
        </p:sp>
      </p:grpSp>
      <p:grpSp>
        <p:nvGrpSpPr>
          <p:cNvPr name="Group 13" id="13"/>
          <p:cNvGrpSpPr/>
          <p:nvPr/>
        </p:nvGrpSpPr>
        <p:grpSpPr>
          <a:xfrm rot="0">
            <a:off x="1176023" y="2456183"/>
            <a:ext cx="574043" cy="574043"/>
            <a:chOff x="0" y="0"/>
            <a:chExt cx="765391" cy="765391"/>
          </a:xfrm>
        </p:grpSpPr>
        <p:sp>
          <p:nvSpPr>
            <p:cNvPr name="Freeform 14" id="14"/>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15" id="15"/>
          <p:cNvGrpSpPr/>
          <p:nvPr/>
        </p:nvGrpSpPr>
        <p:grpSpPr>
          <a:xfrm rot="0">
            <a:off x="1188720" y="2468880"/>
            <a:ext cx="548640" cy="548640"/>
            <a:chOff x="0" y="0"/>
            <a:chExt cx="731520" cy="731520"/>
          </a:xfrm>
        </p:grpSpPr>
        <p:sp>
          <p:nvSpPr>
            <p:cNvPr name="Freeform 16" id="16"/>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17" id="17"/>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1920240" y="2468880"/>
            <a:ext cx="4023360" cy="548640"/>
            <a:chOff x="0" y="0"/>
            <a:chExt cx="5364480" cy="731520"/>
          </a:xfrm>
        </p:grpSpPr>
        <p:sp>
          <p:nvSpPr>
            <p:cNvPr name="Freeform 19" id="19"/>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20" id="20"/>
            <p:cNvSpPr txBox="true"/>
            <p:nvPr/>
          </p:nvSpPr>
          <p:spPr>
            <a:xfrm>
              <a:off x="0" y="-19050"/>
              <a:ext cx="5364480" cy="750570"/>
            </a:xfrm>
            <a:prstGeom prst="rect">
              <a:avLst/>
            </a:prstGeom>
          </p:spPr>
          <p:txBody>
            <a:bodyPr anchor="ctr" rtlCol="false" tIns="0" lIns="0" bIns="0" rIns="0"/>
            <a:lstStyle/>
            <a:p>
              <a:pPr algn="l">
                <a:lnSpc>
                  <a:spcPts val="2639"/>
                </a:lnSpc>
              </a:pPr>
              <a:r>
                <a:rPr lang="en-US" sz="2199" b="true">
                  <a:solidFill>
                    <a:srgbClr val="1B4A4A"/>
                  </a:solidFill>
                  <a:latin typeface="Cambria Bold"/>
                  <a:ea typeface="Cambria Bold"/>
                  <a:cs typeface="Cambria Bold"/>
                  <a:sym typeface="Cambria Bold"/>
                </a:rPr>
                <a:t>Generated Column</a:t>
              </a:r>
            </a:p>
          </p:txBody>
        </p:sp>
      </p:grpSp>
      <p:sp>
        <p:nvSpPr>
          <p:cNvPr name="TextBox 21" id="21"/>
          <p:cNvSpPr txBox="true"/>
          <p:nvPr/>
        </p:nvSpPr>
        <p:spPr>
          <a:xfrm rot="0">
            <a:off x="1188720" y="3253740"/>
            <a:ext cx="4754880" cy="2049780"/>
          </a:xfrm>
          <a:prstGeom prst="rect">
            <a:avLst/>
          </a:prstGeom>
        </p:spPr>
        <p:txBody>
          <a:bodyPr anchor="t" rtlCol="false" tIns="0" lIns="0" bIns="0" rIns="0">
            <a:spAutoFit/>
          </a:bodyPr>
          <a:lstStyle/>
          <a:p>
            <a:pPr algn="l">
              <a:lnSpc>
                <a:spcPts val="2160"/>
              </a:lnSpc>
            </a:pPr>
            <a:r>
              <a:rPr lang="en-US" sz="1800">
                <a:solidFill>
                  <a:srgbClr val="1F332F"/>
                </a:solidFill>
                <a:latin typeface="Calibri (MS)"/>
                <a:ea typeface="Calibri (MS)"/>
                <a:cs typeface="Calibri (MS)"/>
                <a:sym typeface="Calibri (MS)"/>
              </a:rPr>
              <a:t>active_seat holds seat_id only while Confirmed; UNIQUE (trip_id, active_seat) blocks double booking but lets cancelled seats be rebooked</a:t>
            </a:r>
          </a:p>
        </p:txBody>
      </p:sp>
      <p:grpSp>
        <p:nvGrpSpPr>
          <p:cNvPr name="Group 22" id="22"/>
          <p:cNvGrpSpPr/>
          <p:nvPr/>
        </p:nvGrpSpPr>
        <p:grpSpPr>
          <a:xfrm rot="0">
            <a:off x="6479543" y="2181863"/>
            <a:ext cx="5328923" cy="3317243"/>
            <a:chOff x="0" y="0"/>
            <a:chExt cx="7105231" cy="4422991"/>
          </a:xfrm>
        </p:grpSpPr>
        <p:sp>
          <p:nvSpPr>
            <p:cNvPr name="Freeform 23" id="23"/>
            <p:cNvSpPr/>
            <p:nvPr/>
          </p:nvSpPr>
          <p:spPr>
            <a:xfrm flipH="false" flipV="false" rot="0">
              <a:off x="0" y="0"/>
              <a:ext cx="7105269" cy="4423029"/>
            </a:xfrm>
            <a:custGeom>
              <a:avLst/>
              <a:gdLst/>
              <a:ahLst/>
              <a:cxnLst/>
              <a:rect r="r" b="b" t="t" l="l"/>
              <a:pathLst>
                <a:path h="4423029" w="7105269">
                  <a:moveTo>
                    <a:pt x="0" y="196596"/>
                  </a:moveTo>
                  <a:cubicBezTo>
                    <a:pt x="0" y="88011"/>
                    <a:pt x="88011" y="0"/>
                    <a:pt x="196596" y="0"/>
                  </a:cubicBezTo>
                  <a:lnTo>
                    <a:pt x="6908673" y="0"/>
                  </a:lnTo>
                  <a:cubicBezTo>
                    <a:pt x="7017258" y="0"/>
                    <a:pt x="7105269" y="88011"/>
                    <a:pt x="7105269" y="196596"/>
                  </a:cubicBezTo>
                  <a:lnTo>
                    <a:pt x="7105269" y="4226433"/>
                  </a:lnTo>
                  <a:cubicBezTo>
                    <a:pt x="7105269" y="4335018"/>
                    <a:pt x="7017258" y="4423029"/>
                    <a:pt x="6908673" y="4423029"/>
                  </a:cubicBezTo>
                  <a:lnTo>
                    <a:pt x="196596" y="4423029"/>
                  </a:lnTo>
                  <a:cubicBezTo>
                    <a:pt x="88011" y="4423029"/>
                    <a:pt x="0" y="4335018"/>
                    <a:pt x="0" y="4226433"/>
                  </a:cubicBezTo>
                  <a:close/>
                </a:path>
              </a:pathLst>
            </a:custGeom>
            <a:solidFill>
              <a:srgbClr val="FFFFFF"/>
            </a:solidFill>
            <a:ln w="25400" cap="sq">
              <a:solidFill>
                <a:srgbClr val="FFFFFF"/>
              </a:solidFill>
              <a:prstDash val="solid"/>
              <a:miter/>
            </a:ln>
          </p:spPr>
        </p:sp>
      </p:grpSp>
      <p:grpSp>
        <p:nvGrpSpPr>
          <p:cNvPr name="Group 24" id="24"/>
          <p:cNvGrpSpPr/>
          <p:nvPr/>
        </p:nvGrpSpPr>
        <p:grpSpPr>
          <a:xfrm rot="0">
            <a:off x="6753863" y="2456183"/>
            <a:ext cx="574043" cy="574043"/>
            <a:chOff x="0" y="0"/>
            <a:chExt cx="765391" cy="765391"/>
          </a:xfrm>
        </p:grpSpPr>
        <p:sp>
          <p:nvSpPr>
            <p:cNvPr name="Freeform 25" id="25"/>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26" id="26"/>
          <p:cNvGrpSpPr/>
          <p:nvPr/>
        </p:nvGrpSpPr>
        <p:grpSpPr>
          <a:xfrm rot="0">
            <a:off x="6766560" y="2468880"/>
            <a:ext cx="548640" cy="548640"/>
            <a:chOff x="0" y="0"/>
            <a:chExt cx="731520" cy="731520"/>
          </a:xfrm>
        </p:grpSpPr>
        <p:sp>
          <p:nvSpPr>
            <p:cNvPr name="Freeform 27" id="2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28" id="28"/>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a:t>
              </a:r>
            </a:p>
          </p:txBody>
        </p:sp>
      </p:grpSp>
      <p:grpSp>
        <p:nvGrpSpPr>
          <p:cNvPr name="Group 29" id="29"/>
          <p:cNvGrpSpPr/>
          <p:nvPr/>
        </p:nvGrpSpPr>
        <p:grpSpPr>
          <a:xfrm rot="0">
            <a:off x="7498080" y="2468880"/>
            <a:ext cx="4023360" cy="548640"/>
            <a:chOff x="0" y="0"/>
            <a:chExt cx="5364480" cy="731520"/>
          </a:xfrm>
        </p:grpSpPr>
        <p:sp>
          <p:nvSpPr>
            <p:cNvPr name="Freeform 30" id="30"/>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31" id="31"/>
            <p:cNvSpPr txBox="true"/>
            <p:nvPr/>
          </p:nvSpPr>
          <p:spPr>
            <a:xfrm>
              <a:off x="0" y="-19050"/>
              <a:ext cx="5364480" cy="750570"/>
            </a:xfrm>
            <a:prstGeom prst="rect">
              <a:avLst/>
            </a:prstGeom>
          </p:spPr>
          <p:txBody>
            <a:bodyPr anchor="ctr" rtlCol="false" tIns="0" lIns="0" bIns="0" rIns="0"/>
            <a:lstStyle/>
            <a:p>
              <a:pPr algn="l">
                <a:lnSpc>
                  <a:spcPts val="2639"/>
                </a:lnSpc>
              </a:pPr>
              <a:r>
                <a:rPr lang="en-US" sz="2199" b="true">
                  <a:solidFill>
                    <a:srgbClr val="1B4A4A"/>
                  </a:solidFill>
                  <a:latin typeface="Cambria Bold"/>
                  <a:ea typeface="Cambria Bold"/>
                  <a:cs typeface="Cambria Bold"/>
                  <a:sym typeface="Cambria Bold"/>
                </a:rPr>
                <a:t>6 Triggers</a:t>
              </a:r>
            </a:p>
          </p:txBody>
        </p:sp>
      </p:grpSp>
      <p:sp>
        <p:nvSpPr>
          <p:cNvPr name="TextBox 32" id="32"/>
          <p:cNvSpPr txBox="true"/>
          <p:nvPr/>
        </p:nvSpPr>
        <p:spPr>
          <a:xfrm rot="0">
            <a:off x="6766560" y="3253740"/>
            <a:ext cx="4754880" cy="2049780"/>
          </a:xfrm>
          <a:prstGeom prst="rect">
            <a:avLst/>
          </a:prstGeom>
        </p:spPr>
        <p:txBody>
          <a:bodyPr anchor="t" rtlCol="false" tIns="0" lIns="0" bIns="0" rIns="0">
            <a:spAutoFit/>
          </a:bodyPr>
          <a:lstStyle/>
          <a:p>
            <a:pPr algn="l">
              <a:lnSpc>
                <a:spcPts val="2160"/>
              </a:lnSpc>
            </a:pPr>
            <a:r>
              <a:rPr lang="en-US" sz="1800">
                <a:solidFill>
                  <a:srgbClr val="1F332F"/>
                </a:solidFill>
                <a:latin typeface="Calibri (MS)"/>
                <a:ea typeface="Calibri (MS)"/>
                <a:cs typeface="Calibri (MS)"/>
                <a:sym typeface="Calibri (MS)"/>
              </a:rPr>
              <a:t>Overlap (insert and update), booking, payment, cancellation policy and after-cancel clean-up</a:t>
            </a:r>
          </a:p>
        </p:txBody>
      </p:sp>
      <p:grpSp>
        <p:nvGrpSpPr>
          <p:cNvPr name="Group 33" id="33"/>
          <p:cNvGrpSpPr/>
          <p:nvPr/>
        </p:nvGrpSpPr>
        <p:grpSpPr>
          <a:xfrm rot="0">
            <a:off x="12057383" y="2181863"/>
            <a:ext cx="5328923" cy="3317243"/>
            <a:chOff x="0" y="0"/>
            <a:chExt cx="7105231" cy="4422991"/>
          </a:xfrm>
        </p:grpSpPr>
        <p:sp>
          <p:nvSpPr>
            <p:cNvPr name="Freeform 34" id="34"/>
            <p:cNvSpPr/>
            <p:nvPr/>
          </p:nvSpPr>
          <p:spPr>
            <a:xfrm flipH="false" flipV="false" rot="0">
              <a:off x="0" y="0"/>
              <a:ext cx="7105269" cy="4423029"/>
            </a:xfrm>
            <a:custGeom>
              <a:avLst/>
              <a:gdLst/>
              <a:ahLst/>
              <a:cxnLst/>
              <a:rect r="r" b="b" t="t" l="l"/>
              <a:pathLst>
                <a:path h="4423029" w="7105269">
                  <a:moveTo>
                    <a:pt x="0" y="196596"/>
                  </a:moveTo>
                  <a:cubicBezTo>
                    <a:pt x="0" y="88011"/>
                    <a:pt x="88011" y="0"/>
                    <a:pt x="196596" y="0"/>
                  </a:cubicBezTo>
                  <a:lnTo>
                    <a:pt x="6908673" y="0"/>
                  </a:lnTo>
                  <a:cubicBezTo>
                    <a:pt x="7017258" y="0"/>
                    <a:pt x="7105269" y="88011"/>
                    <a:pt x="7105269" y="196596"/>
                  </a:cubicBezTo>
                  <a:lnTo>
                    <a:pt x="7105269" y="4226433"/>
                  </a:lnTo>
                  <a:cubicBezTo>
                    <a:pt x="7105269" y="4335018"/>
                    <a:pt x="7017258" y="4423029"/>
                    <a:pt x="6908673" y="4423029"/>
                  </a:cubicBezTo>
                  <a:lnTo>
                    <a:pt x="196596" y="4423029"/>
                  </a:lnTo>
                  <a:cubicBezTo>
                    <a:pt x="88011" y="4423029"/>
                    <a:pt x="0" y="4335018"/>
                    <a:pt x="0" y="4226433"/>
                  </a:cubicBezTo>
                  <a:close/>
                </a:path>
              </a:pathLst>
            </a:custGeom>
            <a:solidFill>
              <a:srgbClr val="FFFFFF"/>
            </a:solidFill>
            <a:ln w="25400" cap="sq">
              <a:solidFill>
                <a:srgbClr val="FFFFFF"/>
              </a:solidFill>
              <a:prstDash val="solid"/>
              <a:miter/>
            </a:ln>
          </p:spPr>
        </p:sp>
      </p:grpSp>
      <p:grpSp>
        <p:nvGrpSpPr>
          <p:cNvPr name="Group 35" id="35"/>
          <p:cNvGrpSpPr/>
          <p:nvPr/>
        </p:nvGrpSpPr>
        <p:grpSpPr>
          <a:xfrm rot="0">
            <a:off x="12331703" y="2456183"/>
            <a:ext cx="574043" cy="574043"/>
            <a:chOff x="0" y="0"/>
            <a:chExt cx="765391" cy="765391"/>
          </a:xfrm>
        </p:grpSpPr>
        <p:sp>
          <p:nvSpPr>
            <p:cNvPr name="Freeform 36" id="36"/>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37" id="37"/>
          <p:cNvGrpSpPr/>
          <p:nvPr/>
        </p:nvGrpSpPr>
        <p:grpSpPr>
          <a:xfrm rot="0">
            <a:off x="12344400" y="2468880"/>
            <a:ext cx="548640" cy="548640"/>
            <a:chOff x="0" y="0"/>
            <a:chExt cx="731520" cy="731520"/>
          </a:xfrm>
        </p:grpSpPr>
        <p:sp>
          <p:nvSpPr>
            <p:cNvPr name="Freeform 38" id="38"/>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39" id="39"/>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3</a:t>
              </a:r>
            </a:p>
          </p:txBody>
        </p:sp>
      </p:grpSp>
      <p:grpSp>
        <p:nvGrpSpPr>
          <p:cNvPr name="Group 40" id="40"/>
          <p:cNvGrpSpPr/>
          <p:nvPr/>
        </p:nvGrpSpPr>
        <p:grpSpPr>
          <a:xfrm rot="0">
            <a:off x="13075920" y="2468880"/>
            <a:ext cx="4023360" cy="548640"/>
            <a:chOff x="0" y="0"/>
            <a:chExt cx="5364480" cy="731520"/>
          </a:xfrm>
        </p:grpSpPr>
        <p:sp>
          <p:nvSpPr>
            <p:cNvPr name="Freeform 41" id="41"/>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42" id="42"/>
            <p:cNvSpPr txBox="true"/>
            <p:nvPr/>
          </p:nvSpPr>
          <p:spPr>
            <a:xfrm>
              <a:off x="0" y="-19050"/>
              <a:ext cx="5364480" cy="750570"/>
            </a:xfrm>
            <a:prstGeom prst="rect">
              <a:avLst/>
            </a:prstGeom>
          </p:spPr>
          <p:txBody>
            <a:bodyPr anchor="ctr" rtlCol="false" tIns="0" lIns="0" bIns="0" rIns="0"/>
            <a:lstStyle/>
            <a:p>
              <a:pPr algn="l">
                <a:lnSpc>
                  <a:spcPts val="2639"/>
                </a:lnSpc>
              </a:pPr>
              <a:r>
                <a:rPr lang="en-US" sz="2199" b="true">
                  <a:solidFill>
                    <a:srgbClr val="1B4A4A"/>
                  </a:solidFill>
                  <a:latin typeface="Cambria Bold"/>
                  <a:ea typeface="Cambria Bold"/>
                  <a:cs typeface="Cambria Bold"/>
                  <a:sym typeface="Cambria Bold"/>
                </a:rPr>
                <a:t>8 CHECK Constraints</a:t>
              </a:r>
            </a:p>
          </p:txBody>
        </p:sp>
      </p:grpSp>
      <p:sp>
        <p:nvSpPr>
          <p:cNvPr name="TextBox 43" id="43"/>
          <p:cNvSpPr txBox="true"/>
          <p:nvPr/>
        </p:nvSpPr>
        <p:spPr>
          <a:xfrm rot="0">
            <a:off x="12344400" y="3253740"/>
            <a:ext cx="4754880" cy="2049780"/>
          </a:xfrm>
          <a:prstGeom prst="rect">
            <a:avLst/>
          </a:prstGeom>
        </p:spPr>
        <p:txBody>
          <a:bodyPr anchor="t" rtlCol="false" tIns="0" lIns="0" bIns="0" rIns="0">
            <a:spAutoFit/>
          </a:bodyPr>
          <a:lstStyle/>
          <a:p>
            <a:pPr algn="l">
              <a:lnSpc>
                <a:spcPts val="2160"/>
              </a:lnSpc>
            </a:pPr>
            <a:r>
              <a:rPr lang="en-US" sz="1800">
                <a:solidFill>
                  <a:srgbClr val="1F332F"/>
                </a:solidFill>
                <a:latin typeface="Calibri (MS)"/>
                <a:ea typeface="Calibri (MS)"/>
                <a:cs typeface="Calibri (MS)"/>
                <a:sym typeface="Calibri (MS)"/>
              </a:rPr>
              <a:t>Distance, seats, fare and amount above 0, source differs from destination, arrival after departure, refund 0 or more</a:t>
            </a:r>
          </a:p>
        </p:txBody>
      </p:sp>
      <p:grpSp>
        <p:nvGrpSpPr>
          <p:cNvPr name="Group 44" id="44"/>
          <p:cNvGrpSpPr/>
          <p:nvPr/>
        </p:nvGrpSpPr>
        <p:grpSpPr>
          <a:xfrm rot="0">
            <a:off x="901703" y="5748023"/>
            <a:ext cx="5328923" cy="3317243"/>
            <a:chOff x="0" y="0"/>
            <a:chExt cx="7105231" cy="4422991"/>
          </a:xfrm>
        </p:grpSpPr>
        <p:sp>
          <p:nvSpPr>
            <p:cNvPr name="Freeform 45" id="45"/>
            <p:cNvSpPr/>
            <p:nvPr/>
          </p:nvSpPr>
          <p:spPr>
            <a:xfrm flipH="false" flipV="false" rot="0">
              <a:off x="0" y="0"/>
              <a:ext cx="7105269" cy="4423029"/>
            </a:xfrm>
            <a:custGeom>
              <a:avLst/>
              <a:gdLst/>
              <a:ahLst/>
              <a:cxnLst/>
              <a:rect r="r" b="b" t="t" l="l"/>
              <a:pathLst>
                <a:path h="4423029" w="7105269">
                  <a:moveTo>
                    <a:pt x="0" y="196596"/>
                  </a:moveTo>
                  <a:cubicBezTo>
                    <a:pt x="0" y="88011"/>
                    <a:pt x="88011" y="0"/>
                    <a:pt x="196596" y="0"/>
                  </a:cubicBezTo>
                  <a:lnTo>
                    <a:pt x="6908673" y="0"/>
                  </a:lnTo>
                  <a:cubicBezTo>
                    <a:pt x="7017258" y="0"/>
                    <a:pt x="7105269" y="88011"/>
                    <a:pt x="7105269" y="196596"/>
                  </a:cubicBezTo>
                  <a:lnTo>
                    <a:pt x="7105269" y="4226433"/>
                  </a:lnTo>
                  <a:cubicBezTo>
                    <a:pt x="7105269" y="4335018"/>
                    <a:pt x="7017258" y="4423029"/>
                    <a:pt x="6908673" y="4423029"/>
                  </a:cubicBezTo>
                  <a:lnTo>
                    <a:pt x="196596" y="4423029"/>
                  </a:lnTo>
                  <a:cubicBezTo>
                    <a:pt x="88011" y="4423029"/>
                    <a:pt x="0" y="4335018"/>
                    <a:pt x="0" y="4226433"/>
                  </a:cubicBezTo>
                  <a:close/>
                </a:path>
              </a:pathLst>
            </a:custGeom>
            <a:solidFill>
              <a:srgbClr val="FFFFFF"/>
            </a:solidFill>
            <a:ln w="25400" cap="sq">
              <a:solidFill>
                <a:srgbClr val="FFFFFF"/>
              </a:solidFill>
              <a:prstDash val="solid"/>
              <a:miter/>
            </a:ln>
          </p:spPr>
        </p:sp>
      </p:grpSp>
      <p:grpSp>
        <p:nvGrpSpPr>
          <p:cNvPr name="Group 46" id="46"/>
          <p:cNvGrpSpPr/>
          <p:nvPr/>
        </p:nvGrpSpPr>
        <p:grpSpPr>
          <a:xfrm rot="0">
            <a:off x="1176023" y="6022343"/>
            <a:ext cx="574043" cy="574043"/>
            <a:chOff x="0" y="0"/>
            <a:chExt cx="765391" cy="765391"/>
          </a:xfrm>
        </p:grpSpPr>
        <p:sp>
          <p:nvSpPr>
            <p:cNvPr name="Freeform 47" id="47"/>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48" id="48"/>
          <p:cNvGrpSpPr/>
          <p:nvPr/>
        </p:nvGrpSpPr>
        <p:grpSpPr>
          <a:xfrm rot="0">
            <a:off x="1188720" y="6035040"/>
            <a:ext cx="548640" cy="548640"/>
            <a:chOff x="0" y="0"/>
            <a:chExt cx="731520" cy="731520"/>
          </a:xfrm>
        </p:grpSpPr>
        <p:sp>
          <p:nvSpPr>
            <p:cNvPr name="Freeform 49" id="49"/>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50" id="50"/>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4</a:t>
              </a:r>
            </a:p>
          </p:txBody>
        </p:sp>
      </p:grpSp>
      <p:grpSp>
        <p:nvGrpSpPr>
          <p:cNvPr name="Group 51" id="51"/>
          <p:cNvGrpSpPr/>
          <p:nvPr/>
        </p:nvGrpSpPr>
        <p:grpSpPr>
          <a:xfrm rot="0">
            <a:off x="1920240" y="6035040"/>
            <a:ext cx="4023360" cy="548640"/>
            <a:chOff x="0" y="0"/>
            <a:chExt cx="5364480" cy="731520"/>
          </a:xfrm>
        </p:grpSpPr>
        <p:sp>
          <p:nvSpPr>
            <p:cNvPr name="Freeform 52" id="52"/>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53" id="53"/>
            <p:cNvSpPr txBox="true"/>
            <p:nvPr/>
          </p:nvSpPr>
          <p:spPr>
            <a:xfrm>
              <a:off x="0" y="-19050"/>
              <a:ext cx="5364480" cy="750570"/>
            </a:xfrm>
            <a:prstGeom prst="rect">
              <a:avLst/>
            </a:prstGeom>
          </p:spPr>
          <p:txBody>
            <a:bodyPr anchor="ctr" rtlCol="false" tIns="0" lIns="0" bIns="0" rIns="0"/>
            <a:lstStyle/>
            <a:p>
              <a:pPr algn="l">
                <a:lnSpc>
                  <a:spcPts val="2639"/>
                </a:lnSpc>
              </a:pPr>
              <a:r>
                <a:rPr lang="en-US" sz="2199" b="true">
                  <a:solidFill>
                    <a:srgbClr val="1B4A4A"/>
                  </a:solidFill>
                  <a:latin typeface="Cambria Bold"/>
                  <a:ea typeface="Cambria Bold"/>
                  <a:cs typeface="Cambria Bold"/>
                  <a:sym typeface="Cambria Bold"/>
                </a:rPr>
                <a:t>Foreign Keys</a:t>
              </a:r>
            </a:p>
          </p:txBody>
        </p:sp>
      </p:grpSp>
      <p:sp>
        <p:nvSpPr>
          <p:cNvPr name="TextBox 54" id="54"/>
          <p:cNvSpPr txBox="true"/>
          <p:nvPr/>
        </p:nvSpPr>
        <p:spPr>
          <a:xfrm rot="0">
            <a:off x="1188720" y="6819900"/>
            <a:ext cx="4754880" cy="2049780"/>
          </a:xfrm>
          <a:prstGeom prst="rect">
            <a:avLst/>
          </a:prstGeom>
        </p:spPr>
        <p:txBody>
          <a:bodyPr anchor="t" rtlCol="false" tIns="0" lIns="0" bIns="0" rIns="0">
            <a:spAutoFit/>
          </a:bodyPr>
          <a:lstStyle/>
          <a:p>
            <a:pPr algn="l">
              <a:lnSpc>
                <a:spcPts val="2160"/>
              </a:lnSpc>
            </a:pPr>
            <a:r>
              <a:rPr lang="en-US" sz="1800">
                <a:solidFill>
                  <a:srgbClr val="1F332F"/>
                </a:solidFill>
                <a:latin typeface="Calibri (MS)"/>
                <a:ea typeface="Calibri (MS)"/>
                <a:cs typeface="Calibri (MS)"/>
                <a:sym typeface="Calibri (MS)"/>
              </a:rPr>
              <a:t>13 foreign keys keep trips, bookings, payments and cancellations consistent</a:t>
            </a:r>
          </a:p>
        </p:txBody>
      </p:sp>
      <p:grpSp>
        <p:nvGrpSpPr>
          <p:cNvPr name="Group 55" id="55"/>
          <p:cNvGrpSpPr/>
          <p:nvPr/>
        </p:nvGrpSpPr>
        <p:grpSpPr>
          <a:xfrm rot="0">
            <a:off x="6479543" y="5748023"/>
            <a:ext cx="5328923" cy="3317243"/>
            <a:chOff x="0" y="0"/>
            <a:chExt cx="7105231" cy="4422991"/>
          </a:xfrm>
        </p:grpSpPr>
        <p:sp>
          <p:nvSpPr>
            <p:cNvPr name="Freeform 56" id="56"/>
            <p:cNvSpPr/>
            <p:nvPr/>
          </p:nvSpPr>
          <p:spPr>
            <a:xfrm flipH="false" flipV="false" rot="0">
              <a:off x="0" y="0"/>
              <a:ext cx="7105269" cy="4423029"/>
            </a:xfrm>
            <a:custGeom>
              <a:avLst/>
              <a:gdLst/>
              <a:ahLst/>
              <a:cxnLst/>
              <a:rect r="r" b="b" t="t" l="l"/>
              <a:pathLst>
                <a:path h="4423029" w="7105269">
                  <a:moveTo>
                    <a:pt x="0" y="196596"/>
                  </a:moveTo>
                  <a:cubicBezTo>
                    <a:pt x="0" y="88011"/>
                    <a:pt x="88011" y="0"/>
                    <a:pt x="196596" y="0"/>
                  </a:cubicBezTo>
                  <a:lnTo>
                    <a:pt x="6908673" y="0"/>
                  </a:lnTo>
                  <a:cubicBezTo>
                    <a:pt x="7017258" y="0"/>
                    <a:pt x="7105269" y="88011"/>
                    <a:pt x="7105269" y="196596"/>
                  </a:cubicBezTo>
                  <a:lnTo>
                    <a:pt x="7105269" y="4226433"/>
                  </a:lnTo>
                  <a:cubicBezTo>
                    <a:pt x="7105269" y="4335018"/>
                    <a:pt x="7017258" y="4423029"/>
                    <a:pt x="6908673" y="4423029"/>
                  </a:cubicBezTo>
                  <a:lnTo>
                    <a:pt x="196596" y="4423029"/>
                  </a:lnTo>
                  <a:cubicBezTo>
                    <a:pt x="88011" y="4423029"/>
                    <a:pt x="0" y="4335018"/>
                    <a:pt x="0" y="4226433"/>
                  </a:cubicBezTo>
                  <a:close/>
                </a:path>
              </a:pathLst>
            </a:custGeom>
            <a:solidFill>
              <a:srgbClr val="FFFFFF"/>
            </a:solidFill>
            <a:ln w="25400" cap="sq">
              <a:solidFill>
                <a:srgbClr val="FFFFFF"/>
              </a:solidFill>
              <a:prstDash val="solid"/>
              <a:miter/>
            </a:ln>
          </p:spPr>
        </p:sp>
      </p:grpSp>
      <p:grpSp>
        <p:nvGrpSpPr>
          <p:cNvPr name="Group 57" id="57"/>
          <p:cNvGrpSpPr/>
          <p:nvPr/>
        </p:nvGrpSpPr>
        <p:grpSpPr>
          <a:xfrm rot="0">
            <a:off x="6753863" y="6022343"/>
            <a:ext cx="574043" cy="574043"/>
            <a:chOff x="0" y="0"/>
            <a:chExt cx="765391" cy="765391"/>
          </a:xfrm>
        </p:grpSpPr>
        <p:sp>
          <p:nvSpPr>
            <p:cNvPr name="Freeform 58" id="58"/>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59" id="59"/>
          <p:cNvGrpSpPr/>
          <p:nvPr/>
        </p:nvGrpSpPr>
        <p:grpSpPr>
          <a:xfrm rot="0">
            <a:off x="6766560" y="6035040"/>
            <a:ext cx="548640" cy="548640"/>
            <a:chOff x="0" y="0"/>
            <a:chExt cx="731520" cy="731520"/>
          </a:xfrm>
        </p:grpSpPr>
        <p:sp>
          <p:nvSpPr>
            <p:cNvPr name="Freeform 60" id="60"/>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61" id="61"/>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5</a:t>
              </a:r>
            </a:p>
          </p:txBody>
        </p:sp>
      </p:grpSp>
      <p:grpSp>
        <p:nvGrpSpPr>
          <p:cNvPr name="Group 62" id="62"/>
          <p:cNvGrpSpPr/>
          <p:nvPr/>
        </p:nvGrpSpPr>
        <p:grpSpPr>
          <a:xfrm rot="0">
            <a:off x="7498080" y="6035040"/>
            <a:ext cx="4023360" cy="548640"/>
            <a:chOff x="0" y="0"/>
            <a:chExt cx="5364480" cy="731520"/>
          </a:xfrm>
        </p:grpSpPr>
        <p:sp>
          <p:nvSpPr>
            <p:cNvPr name="Freeform 63" id="63"/>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64" id="64"/>
            <p:cNvSpPr txBox="true"/>
            <p:nvPr/>
          </p:nvSpPr>
          <p:spPr>
            <a:xfrm>
              <a:off x="0" y="-19050"/>
              <a:ext cx="5364480" cy="750570"/>
            </a:xfrm>
            <a:prstGeom prst="rect">
              <a:avLst/>
            </a:prstGeom>
          </p:spPr>
          <p:txBody>
            <a:bodyPr anchor="ctr" rtlCol="false" tIns="0" lIns="0" bIns="0" rIns="0"/>
            <a:lstStyle/>
            <a:p>
              <a:pPr algn="l">
                <a:lnSpc>
                  <a:spcPts val="2639"/>
                </a:lnSpc>
              </a:pPr>
              <a:r>
                <a:rPr lang="en-US" sz="2199" b="true">
                  <a:solidFill>
                    <a:srgbClr val="1B4A4A"/>
                  </a:solidFill>
                  <a:latin typeface="Cambria Bold"/>
                  <a:ea typeface="Cambria Bold"/>
                  <a:cs typeface="Cambria Bold"/>
                  <a:sym typeface="Cambria Bold"/>
                </a:rPr>
                <a:t>6 Indexes</a:t>
              </a:r>
            </a:p>
          </p:txBody>
        </p:sp>
      </p:grpSp>
      <p:sp>
        <p:nvSpPr>
          <p:cNvPr name="TextBox 65" id="65"/>
          <p:cNvSpPr txBox="true"/>
          <p:nvPr/>
        </p:nvSpPr>
        <p:spPr>
          <a:xfrm rot="0">
            <a:off x="6766560" y="6819900"/>
            <a:ext cx="4754880" cy="2049780"/>
          </a:xfrm>
          <a:prstGeom prst="rect">
            <a:avLst/>
          </a:prstGeom>
        </p:spPr>
        <p:txBody>
          <a:bodyPr anchor="t" rtlCol="false" tIns="0" lIns="0" bIns="0" rIns="0">
            <a:spAutoFit/>
          </a:bodyPr>
          <a:lstStyle/>
          <a:p>
            <a:pPr algn="l">
              <a:lnSpc>
                <a:spcPts val="2160"/>
              </a:lnSpc>
            </a:pPr>
            <a:r>
              <a:rPr lang="en-US" sz="1800">
                <a:solidFill>
                  <a:srgbClr val="1F332F"/>
                </a:solidFill>
                <a:latin typeface="Calibri (MS)"/>
                <a:ea typeface="Calibri (MS)"/>
                <a:cs typeface="Calibri (MS)"/>
                <a:sym typeface="Calibri (MS)"/>
              </a:rPr>
              <a:t>Route cities, trip by route, driver, conductor and bus with departure time, booking by passenger</a:t>
            </a:r>
          </a:p>
        </p:txBody>
      </p:sp>
      <p:grpSp>
        <p:nvGrpSpPr>
          <p:cNvPr name="Group 66" id="66"/>
          <p:cNvGrpSpPr/>
          <p:nvPr/>
        </p:nvGrpSpPr>
        <p:grpSpPr>
          <a:xfrm rot="0">
            <a:off x="12057383" y="5748023"/>
            <a:ext cx="5328923" cy="3317243"/>
            <a:chOff x="0" y="0"/>
            <a:chExt cx="7105231" cy="4422991"/>
          </a:xfrm>
        </p:grpSpPr>
        <p:sp>
          <p:nvSpPr>
            <p:cNvPr name="Freeform 67" id="67"/>
            <p:cNvSpPr/>
            <p:nvPr/>
          </p:nvSpPr>
          <p:spPr>
            <a:xfrm flipH="false" flipV="false" rot="0">
              <a:off x="0" y="0"/>
              <a:ext cx="7105269" cy="4423029"/>
            </a:xfrm>
            <a:custGeom>
              <a:avLst/>
              <a:gdLst/>
              <a:ahLst/>
              <a:cxnLst/>
              <a:rect r="r" b="b" t="t" l="l"/>
              <a:pathLst>
                <a:path h="4423029" w="7105269">
                  <a:moveTo>
                    <a:pt x="0" y="196596"/>
                  </a:moveTo>
                  <a:cubicBezTo>
                    <a:pt x="0" y="88011"/>
                    <a:pt x="88011" y="0"/>
                    <a:pt x="196596" y="0"/>
                  </a:cubicBezTo>
                  <a:lnTo>
                    <a:pt x="6908673" y="0"/>
                  </a:lnTo>
                  <a:cubicBezTo>
                    <a:pt x="7017258" y="0"/>
                    <a:pt x="7105269" y="88011"/>
                    <a:pt x="7105269" y="196596"/>
                  </a:cubicBezTo>
                  <a:lnTo>
                    <a:pt x="7105269" y="4226433"/>
                  </a:lnTo>
                  <a:cubicBezTo>
                    <a:pt x="7105269" y="4335018"/>
                    <a:pt x="7017258" y="4423029"/>
                    <a:pt x="6908673" y="4423029"/>
                  </a:cubicBezTo>
                  <a:lnTo>
                    <a:pt x="196596" y="4423029"/>
                  </a:lnTo>
                  <a:cubicBezTo>
                    <a:pt x="88011" y="4423029"/>
                    <a:pt x="0" y="4335018"/>
                    <a:pt x="0" y="4226433"/>
                  </a:cubicBezTo>
                  <a:close/>
                </a:path>
              </a:pathLst>
            </a:custGeom>
            <a:solidFill>
              <a:srgbClr val="FFFFFF"/>
            </a:solidFill>
            <a:ln w="25400" cap="sq">
              <a:solidFill>
                <a:srgbClr val="FFFFFF"/>
              </a:solidFill>
              <a:prstDash val="solid"/>
              <a:miter/>
            </a:ln>
          </p:spPr>
        </p:sp>
      </p:grpSp>
      <p:grpSp>
        <p:nvGrpSpPr>
          <p:cNvPr name="Group 68" id="68"/>
          <p:cNvGrpSpPr/>
          <p:nvPr/>
        </p:nvGrpSpPr>
        <p:grpSpPr>
          <a:xfrm rot="0">
            <a:off x="12331703" y="6022343"/>
            <a:ext cx="574043" cy="574043"/>
            <a:chOff x="0" y="0"/>
            <a:chExt cx="765391" cy="765391"/>
          </a:xfrm>
        </p:grpSpPr>
        <p:sp>
          <p:nvSpPr>
            <p:cNvPr name="Freeform 69" id="69"/>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70" id="70"/>
          <p:cNvGrpSpPr/>
          <p:nvPr/>
        </p:nvGrpSpPr>
        <p:grpSpPr>
          <a:xfrm rot="0">
            <a:off x="12344400" y="6035040"/>
            <a:ext cx="548640" cy="548640"/>
            <a:chOff x="0" y="0"/>
            <a:chExt cx="731520" cy="731520"/>
          </a:xfrm>
        </p:grpSpPr>
        <p:sp>
          <p:nvSpPr>
            <p:cNvPr name="Freeform 71" id="71"/>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72" id="72"/>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6</a:t>
              </a:r>
            </a:p>
          </p:txBody>
        </p:sp>
      </p:grpSp>
      <p:grpSp>
        <p:nvGrpSpPr>
          <p:cNvPr name="Group 73" id="73"/>
          <p:cNvGrpSpPr/>
          <p:nvPr/>
        </p:nvGrpSpPr>
        <p:grpSpPr>
          <a:xfrm rot="0">
            <a:off x="13075920" y="6035040"/>
            <a:ext cx="4023360" cy="548640"/>
            <a:chOff x="0" y="0"/>
            <a:chExt cx="5364480" cy="731520"/>
          </a:xfrm>
        </p:grpSpPr>
        <p:sp>
          <p:nvSpPr>
            <p:cNvPr name="Freeform 74" id="74"/>
            <p:cNvSpPr/>
            <p:nvPr/>
          </p:nvSpPr>
          <p:spPr>
            <a:xfrm flipH="false" flipV="false" rot="0">
              <a:off x="0" y="0"/>
              <a:ext cx="5364480" cy="731520"/>
            </a:xfrm>
            <a:custGeom>
              <a:avLst/>
              <a:gdLst/>
              <a:ahLst/>
              <a:cxnLst/>
              <a:rect r="r" b="b" t="t" l="l"/>
              <a:pathLst>
                <a:path h="731520" w="5364480">
                  <a:moveTo>
                    <a:pt x="0" y="0"/>
                  </a:moveTo>
                  <a:lnTo>
                    <a:pt x="5364480" y="0"/>
                  </a:lnTo>
                  <a:lnTo>
                    <a:pt x="5364480" y="731520"/>
                  </a:lnTo>
                  <a:lnTo>
                    <a:pt x="0" y="731520"/>
                  </a:lnTo>
                  <a:close/>
                </a:path>
              </a:pathLst>
            </a:custGeom>
            <a:blipFill>
              <a:blip r:embed="rId3">
                <a:alphaModFix amt="0"/>
              </a:blip>
              <a:stretch>
                <a:fillRect l="0" t="-92890" r="0" b="-92890"/>
              </a:stretch>
            </a:blipFill>
          </p:spPr>
        </p:sp>
        <p:sp>
          <p:nvSpPr>
            <p:cNvPr name="TextBox 75" id="75"/>
            <p:cNvSpPr txBox="true"/>
            <p:nvPr/>
          </p:nvSpPr>
          <p:spPr>
            <a:xfrm>
              <a:off x="0" y="-19050"/>
              <a:ext cx="5364480" cy="750570"/>
            </a:xfrm>
            <a:prstGeom prst="rect">
              <a:avLst/>
            </a:prstGeom>
          </p:spPr>
          <p:txBody>
            <a:bodyPr anchor="ctr" rtlCol="false" tIns="0" lIns="0" bIns="0" rIns="0"/>
            <a:lstStyle/>
            <a:p>
              <a:pPr algn="l">
                <a:lnSpc>
                  <a:spcPts val="2639"/>
                </a:lnSpc>
              </a:pPr>
              <a:r>
                <a:rPr lang="en-US" sz="2199" b="true">
                  <a:solidFill>
                    <a:srgbClr val="1B4A4A"/>
                  </a:solidFill>
                  <a:latin typeface="Cambria Bold"/>
                  <a:ea typeface="Cambria Bold"/>
                  <a:cs typeface="Cambria Bold"/>
                  <a:sym typeface="Cambria Bold"/>
                </a:rPr>
                <a:t>ENUM Domains</a:t>
              </a:r>
            </a:p>
          </p:txBody>
        </p:sp>
      </p:grpSp>
      <p:sp>
        <p:nvSpPr>
          <p:cNvPr name="TextBox 76" id="76"/>
          <p:cNvSpPr txBox="true"/>
          <p:nvPr/>
        </p:nvSpPr>
        <p:spPr>
          <a:xfrm rot="0">
            <a:off x="12344400" y="6819900"/>
            <a:ext cx="4754880" cy="2049780"/>
          </a:xfrm>
          <a:prstGeom prst="rect">
            <a:avLst/>
          </a:prstGeom>
        </p:spPr>
        <p:txBody>
          <a:bodyPr anchor="t" rtlCol="false" tIns="0" lIns="0" bIns="0" rIns="0">
            <a:spAutoFit/>
          </a:bodyPr>
          <a:lstStyle/>
          <a:p>
            <a:pPr algn="l">
              <a:lnSpc>
                <a:spcPts val="2160"/>
              </a:lnSpc>
            </a:pPr>
            <a:r>
              <a:rPr lang="en-US" sz="1800">
                <a:solidFill>
                  <a:srgbClr val="1F332F"/>
                </a:solidFill>
                <a:latin typeface="Calibri (MS)"/>
                <a:ea typeface="Calibri (MS)"/>
                <a:cs typeface="Calibri (MS)"/>
                <a:sym typeface="Calibri (MS)"/>
              </a:rPr>
              <a:t>bus type, bus, trip, booking and payment status, payment method are limited to valid values</a:t>
            </a:r>
          </a:p>
        </p:txBody>
      </p:sp>
      <p:sp>
        <p:nvSpPr>
          <p:cNvPr name="TextBox 77" id="77"/>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DATABASE BUILT, APPLICATION IN PROGRESS</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Application Layer &amp; Progress</a:t>
              </a:r>
            </a:p>
          </p:txBody>
        </p:sp>
      </p:grpSp>
      <p:grpSp>
        <p:nvGrpSpPr>
          <p:cNvPr name="Group 11" id="11"/>
          <p:cNvGrpSpPr/>
          <p:nvPr/>
        </p:nvGrpSpPr>
        <p:grpSpPr>
          <a:xfrm rot="0">
            <a:off x="901703" y="2090423"/>
            <a:ext cx="16484603" cy="647195"/>
            <a:chOff x="0" y="0"/>
            <a:chExt cx="21979471" cy="862927"/>
          </a:xfrm>
        </p:grpSpPr>
        <p:sp>
          <p:nvSpPr>
            <p:cNvPr name="Freeform 12" id="12"/>
            <p:cNvSpPr/>
            <p:nvPr/>
          </p:nvSpPr>
          <p:spPr>
            <a:xfrm flipH="false" flipV="false" rot="0">
              <a:off x="0" y="0"/>
              <a:ext cx="21979382" cy="862838"/>
            </a:xfrm>
            <a:custGeom>
              <a:avLst/>
              <a:gdLst/>
              <a:ahLst/>
              <a:cxnLst/>
              <a:rect r="r" b="b" t="t" l="l"/>
              <a:pathLst>
                <a:path h="862838" w="21979382">
                  <a:moveTo>
                    <a:pt x="0" y="126873"/>
                  </a:moveTo>
                  <a:cubicBezTo>
                    <a:pt x="0" y="56769"/>
                    <a:pt x="56769" y="0"/>
                    <a:pt x="126873" y="0"/>
                  </a:cubicBezTo>
                  <a:lnTo>
                    <a:pt x="21852510" y="0"/>
                  </a:lnTo>
                  <a:cubicBezTo>
                    <a:pt x="21922614" y="0"/>
                    <a:pt x="21979382" y="56769"/>
                    <a:pt x="21979382" y="126873"/>
                  </a:cubicBezTo>
                  <a:lnTo>
                    <a:pt x="21979382" y="735965"/>
                  </a:lnTo>
                  <a:cubicBezTo>
                    <a:pt x="21979382" y="806069"/>
                    <a:pt x="21922614" y="862838"/>
                    <a:pt x="21852510" y="862838"/>
                  </a:cubicBezTo>
                  <a:lnTo>
                    <a:pt x="126873" y="862838"/>
                  </a:lnTo>
                  <a:cubicBezTo>
                    <a:pt x="56769" y="862965"/>
                    <a:pt x="0" y="806069"/>
                    <a:pt x="0" y="735965"/>
                  </a:cubicBezTo>
                  <a:close/>
                </a:path>
              </a:pathLst>
            </a:custGeom>
            <a:solidFill>
              <a:srgbClr val="1B4A4A"/>
            </a:solidFill>
            <a:ln w="25400" cap="sq">
              <a:solidFill>
                <a:srgbClr val="1B4A4A"/>
              </a:solidFill>
              <a:prstDash val="solid"/>
              <a:miter/>
            </a:ln>
          </p:spPr>
        </p:sp>
      </p:grpSp>
      <p:grpSp>
        <p:nvGrpSpPr>
          <p:cNvPr name="Group 13" id="13"/>
          <p:cNvGrpSpPr/>
          <p:nvPr/>
        </p:nvGrpSpPr>
        <p:grpSpPr>
          <a:xfrm rot="0">
            <a:off x="1280160" y="2103120"/>
            <a:ext cx="5486400" cy="621792"/>
            <a:chOff x="0" y="0"/>
            <a:chExt cx="7315200" cy="829056"/>
          </a:xfrm>
        </p:grpSpPr>
        <p:sp>
          <p:nvSpPr>
            <p:cNvPr name="Freeform 14" id="14"/>
            <p:cNvSpPr/>
            <p:nvPr/>
          </p:nvSpPr>
          <p:spPr>
            <a:xfrm flipH="false" flipV="false" rot="0">
              <a:off x="0" y="0"/>
              <a:ext cx="7315200" cy="829056"/>
            </a:xfrm>
            <a:custGeom>
              <a:avLst/>
              <a:gdLst/>
              <a:ahLst/>
              <a:cxnLst/>
              <a:rect r="r" b="b" t="t" l="l"/>
              <a:pathLst>
                <a:path h="829056" w="7315200">
                  <a:moveTo>
                    <a:pt x="0" y="0"/>
                  </a:moveTo>
                  <a:lnTo>
                    <a:pt x="7315200" y="0"/>
                  </a:lnTo>
                  <a:lnTo>
                    <a:pt x="7315200" y="829056"/>
                  </a:lnTo>
                  <a:lnTo>
                    <a:pt x="0" y="829056"/>
                  </a:lnTo>
                  <a:close/>
                </a:path>
              </a:pathLst>
            </a:custGeom>
            <a:blipFill>
              <a:blip r:embed="rId3">
                <a:alphaModFix amt="0"/>
              </a:blip>
              <a:stretch>
                <a:fillRect l="0" t="-121926" r="0" b="-121926"/>
              </a:stretch>
            </a:blipFill>
          </p:spPr>
        </p:sp>
        <p:sp>
          <p:nvSpPr>
            <p:cNvPr name="TextBox 15" id="15"/>
            <p:cNvSpPr txBox="true"/>
            <p:nvPr/>
          </p:nvSpPr>
          <p:spPr>
            <a:xfrm>
              <a:off x="0" y="-38100"/>
              <a:ext cx="73152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Module</a:t>
              </a:r>
            </a:p>
          </p:txBody>
        </p:sp>
      </p:grpSp>
      <p:grpSp>
        <p:nvGrpSpPr>
          <p:cNvPr name="Group 16" id="16"/>
          <p:cNvGrpSpPr/>
          <p:nvPr/>
        </p:nvGrpSpPr>
        <p:grpSpPr>
          <a:xfrm rot="0">
            <a:off x="6217920" y="2103120"/>
            <a:ext cx="5486400" cy="621792"/>
            <a:chOff x="0" y="0"/>
            <a:chExt cx="7315200" cy="829056"/>
          </a:xfrm>
        </p:grpSpPr>
        <p:sp>
          <p:nvSpPr>
            <p:cNvPr name="Freeform 17" id="17"/>
            <p:cNvSpPr/>
            <p:nvPr/>
          </p:nvSpPr>
          <p:spPr>
            <a:xfrm flipH="false" flipV="false" rot="0">
              <a:off x="0" y="0"/>
              <a:ext cx="7315200" cy="829056"/>
            </a:xfrm>
            <a:custGeom>
              <a:avLst/>
              <a:gdLst/>
              <a:ahLst/>
              <a:cxnLst/>
              <a:rect r="r" b="b" t="t" l="l"/>
              <a:pathLst>
                <a:path h="829056" w="7315200">
                  <a:moveTo>
                    <a:pt x="0" y="0"/>
                  </a:moveTo>
                  <a:lnTo>
                    <a:pt x="7315200" y="0"/>
                  </a:lnTo>
                  <a:lnTo>
                    <a:pt x="7315200" y="829056"/>
                  </a:lnTo>
                  <a:lnTo>
                    <a:pt x="0" y="829056"/>
                  </a:lnTo>
                  <a:close/>
                </a:path>
              </a:pathLst>
            </a:custGeom>
            <a:blipFill>
              <a:blip r:embed="rId3">
                <a:alphaModFix amt="0"/>
              </a:blip>
              <a:stretch>
                <a:fillRect l="0" t="-121926" r="0" b="-121926"/>
              </a:stretch>
            </a:blipFill>
          </p:spPr>
        </p:sp>
        <p:sp>
          <p:nvSpPr>
            <p:cNvPr name="TextBox 18" id="18"/>
            <p:cNvSpPr txBox="true"/>
            <p:nvPr/>
          </p:nvSpPr>
          <p:spPr>
            <a:xfrm>
              <a:off x="0" y="-38100"/>
              <a:ext cx="73152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What it does</a:t>
              </a:r>
            </a:p>
          </p:txBody>
        </p:sp>
      </p:grpSp>
      <p:grpSp>
        <p:nvGrpSpPr>
          <p:cNvPr name="Group 19" id="19"/>
          <p:cNvGrpSpPr/>
          <p:nvPr/>
        </p:nvGrpSpPr>
        <p:grpSpPr>
          <a:xfrm rot="0">
            <a:off x="14630400" y="2103120"/>
            <a:ext cx="5486400" cy="621792"/>
            <a:chOff x="0" y="0"/>
            <a:chExt cx="7315200" cy="829056"/>
          </a:xfrm>
        </p:grpSpPr>
        <p:sp>
          <p:nvSpPr>
            <p:cNvPr name="Freeform 20" id="20"/>
            <p:cNvSpPr/>
            <p:nvPr/>
          </p:nvSpPr>
          <p:spPr>
            <a:xfrm flipH="false" flipV="false" rot="0">
              <a:off x="0" y="0"/>
              <a:ext cx="7315200" cy="829056"/>
            </a:xfrm>
            <a:custGeom>
              <a:avLst/>
              <a:gdLst/>
              <a:ahLst/>
              <a:cxnLst/>
              <a:rect r="r" b="b" t="t" l="l"/>
              <a:pathLst>
                <a:path h="829056" w="7315200">
                  <a:moveTo>
                    <a:pt x="0" y="0"/>
                  </a:moveTo>
                  <a:lnTo>
                    <a:pt x="7315200" y="0"/>
                  </a:lnTo>
                  <a:lnTo>
                    <a:pt x="7315200" y="829056"/>
                  </a:lnTo>
                  <a:lnTo>
                    <a:pt x="0" y="829056"/>
                  </a:lnTo>
                  <a:close/>
                </a:path>
              </a:pathLst>
            </a:custGeom>
            <a:blipFill>
              <a:blip r:embed="rId3">
                <a:alphaModFix amt="0"/>
              </a:blip>
              <a:stretch>
                <a:fillRect l="0" t="-121926" r="0" b="-121926"/>
              </a:stretch>
            </a:blipFill>
          </p:spPr>
        </p:sp>
        <p:sp>
          <p:nvSpPr>
            <p:cNvPr name="TextBox 21" id="21"/>
            <p:cNvSpPr txBox="true"/>
            <p:nvPr/>
          </p:nvSpPr>
          <p:spPr>
            <a:xfrm>
              <a:off x="0" y="-38100"/>
              <a:ext cx="73152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Status</a:t>
              </a:r>
            </a:p>
          </p:txBody>
        </p:sp>
      </p:grpSp>
      <p:grpSp>
        <p:nvGrpSpPr>
          <p:cNvPr name="Group 22" id="22"/>
          <p:cNvGrpSpPr/>
          <p:nvPr/>
        </p:nvGrpSpPr>
        <p:grpSpPr>
          <a:xfrm rot="0">
            <a:off x="901703" y="2876807"/>
            <a:ext cx="16484603" cy="702059"/>
            <a:chOff x="0" y="0"/>
            <a:chExt cx="21979471" cy="936079"/>
          </a:xfrm>
        </p:grpSpPr>
        <p:sp>
          <p:nvSpPr>
            <p:cNvPr name="Freeform 23" id="23"/>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24" id="24"/>
          <p:cNvGrpSpPr/>
          <p:nvPr/>
        </p:nvGrpSpPr>
        <p:grpSpPr>
          <a:xfrm rot="0">
            <a:off x="1280160" y="2889504"/>
            <a:ext cx="4937760" cy="676656"/>
            <a:chOff x="0" y="0"/>
            <a:chExt cx="6583680" cy="902208"/>
          </a:xfrm>
        </p:grpSpPr>
        <p:sp>
          <p:nvSpPr>
            <p:cNvPr name="Freeform 25" id="25"/>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26" id="26"/>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Schema, constraints, indexes</a:t>
              </a:r>
            </a:p>
          </p:txBody>
        </p:sp>
      </p:grpSp>
      <p:grpSp>
        <p:nvGrpSpPr>
          <p:cNvPr name="Group 27" id="27"/>
          <p:cNvGrpSpPr/>
          <p:nvPr/>
        </p:nvGrpSpPr>
        <p:grpSpPr>
          <a:xfrm rot="0">
            <a:off x="6217920" y="2889504"/>
            <a:ext cx="8229600" cy="676656"/>
            <a:chOff x="0" y="0"/>
            <a:chExt cx="10972800" cy="902208"/>
          </a:xfrm>
        </p:grpSpPr>
        <p:sp>
          <p:nvSpPr>
            <p:cNvPr name="Freeform 28" id="28"/>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29" id="29"/>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13 tables with PK, FK, UNIQUE, CHECK, ENUM</a:t>
              </a:r>
            </a:p>
          </p:txBody>
        </p:sp>
      </p:grpSp>
      <p:grpSp>
        <p:nvGrpSpPr>
          <p:cNvPr name="Group 30" id="30"/>
          <p:cNvGrpSpPr/>
          <p:nvPr/>
        </p:nvGrpSpPr>
        <p:grpSpPr>
          <a:xfrm rot="0">
            <a:off x="14617703" y="2995679"/>
            <a:ext cx="1579883" cy="464315"/>
            <a:chOff x="0" y="0"/>
            <a:chExt cx="2106511" cy="619087"/>
          </a:xfrm>
        </p:grpSpPr>
        <p:sp>
          <p:nvSpPr>
            <p:cNvPr name="Freeform 31" id="31"/>
            <p:cNvSpPr/>
            <p:nvPr/>
          </p:nvSpPr>
          <p:spPr>
            <a:xfrm flipH="false" flipV="false" rot="0">
              <a:off x="0" y="0"/>
              <a:ext cx="2106422" cy="618998"/>
            </a:xfrm>
            <a:custGeom>
              <a:avLst/>
              <a:gdLst/>
              <a:ahLst/>
              <a:cxnLst/>
              <a:rect r="r" b="b" t="t" l="l"/>
              <a:pathLst>
                <a:path h="618998" w="2106422">
                  <a:moveTo>
                    <a:pt x="0" y="309499"/>
                  </a:moveTo>
                  <a:cubicBezTo>
                    <a:pt x="0" y="138557"/>
                    <a:pt x="138557" y="0"/>
                    <a:pt x="309499" y="0"/>
                  </a:cubicBezTo>
                  <a:lnTo>
                    <a:pt x="1796923" y="0"/>
                  </a:lnTo>
                  <a:cubicBezTo>
                    <a:pt x="1967865" y="0"/>
                    <a:pt x="2106422" y="138557"/>
                    <a:pt x="2106422" y="309499"/>
                  </a:cubicBezTo>
                  <a:cubicBezTo>
                    <a:pt x="2106422" y="480441"/>
                    <a:pt x="1967865" y="618998"/>
                    <a:pt x="1796923" y="618998"/>
                  </a:cubicBezTo>
                  <a:lnTo>
                    <a:pt x="309499" y="618998"/>
                  </a:lnTo>
                  <a:cubicBezTo>
                    <a:pt x="138557" y="619125"/>
                    <a:pt x="0" y="480441"/>
                    <a:pt x="0" y="309499"/>
                  </a:cubicBezTo>
                  <a:close/>
                </a:path>
              </a:pathLst>
            </a:custGeom>
            <a:solidFill>
              <a:srgbClr val="1B4A4A"/>
            </a:solidFill>
            <a:ln w="25400" cap="sq">
              <a:solidFill>
                <a:srgbClr val="1B4A4A"/>
              </a:solidFill>
              <a:prstDash val="solid"/>
              <a:miter/>
            </a:ln>
          </p:spPr>
        </p:sp>
      </p:grpSp>
      <p:grpSp>
        <p:nvGrpSpPr>
          <p:cNvPr name="Group 32" id="32"/>
          <p:cNvGrpSpPr/>
          <p:nvPr/>
        </p:nvGrpSpPr>
        <p:grpSpPr>
          <a:xfrm rot="0">
            <a:off x="14630400" y="3008376"/>
            <a:ext cx="1554480" cy="438912"/>
            <a:chOff x="0" y="0"/>
            <a:chExt cx="2072640" cy="585216"/>
          </a:xfrm>
        </p:grpSpPr>
        <p:sp>
          <p:nvSpPr>
            <p:cNvPr name="Freeform 33" id="33"/>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34" id="34"/>
            <p:cNvSpPr txBox="true"/>
            <p:nvPr/>
          </p:nvSpPr>
          <p:spPr>
            <a:xfrm>
              <a:off x="0" y="-38100"/>
              <a:ext cx="20726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Completed</a:t>
              </a:r>
            </a:p>
          </p:txBody>
        </p:sp>
      </p:grpSp>
      <p:grpSp>
        <p:nvGrpSpPr>
          <p:cNvPr name="Group 35" id="35"/>
          <p:cNvGrpSpPr/>
          <p:nvPr/>
        </p:nvGrpSpPr>
        <p:grpSpPr>
          <a:xfrm rot="0">
            <a:off x="901703" y="3644903"/>
            <a:ext cx="16484603" cy="702059"/>
            <a:chOff x="0" y="0"/>
            <a:chExt cx="21979471" cy="936079"/>
          </a:xfrm>
        </p:grpSpPr>
        <p:sp>
          <p:nvSpPr>
            <p:cNvPr name="Freeform 36" id="36"/>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37" id="37"/>
          <p:cNvGrpSpPr/>
          <p:nvPr/>
        </p:nvGrpSpPr>
        <p:grpSpPr>
          <a:xfrm rot="0">
            <a:off x="1280160" y="3657600"/>
            <a:ext cx="4937760" cy="676656"/>
            <a:chOff x="0" y="0"/>
            <a:chExt cx="6583680" cy="902208"/>
          </a:xfrm>
        </p:grpSpPr>
        <p:sp>
          <p:nvSpPr>
            <p:cNvPr name="Freeform 38" id="38"/>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39" id="39"/>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Triggers</a:t>
              </a:r>
            </a:p>
          </p:txBody>
        </p:sp>
      </p:grpSp>
      <p:grpSp>
        <p:nvGrpSpPr>
          <p:cNvPr name="Group 40" id="40"/>
          <p:cNvGrpSpPr/>
          <p:nvPr/>
        </p:nvGrpSpPr>
        <p:grpSpPr>
          <a:xfrm rot="0">
            <a:off x="6217920" y="3657600"/>
            <a:ext cx="8229600" cy="676656"/>
            <a:chOff x="0" y="0"/>
            <a:chExt cx="10972800" cy="902208"/>
          </a:xfrm>
        </p:grpSpPr>
        <p:sp>
          <p:nvSpPr>
            <p:cNvPr name="Freeform 41" id="41"/>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42" id="42"/>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Overlap, booking, payment, cancellation rules</a:t>
              </a:r>
            </a:p>
          </p:txBody>
        </p:sp>
      </p:grpSp>
      <p:grpSp>
        <p:nvGrpSpPr>
          <p:cNvPr name="Group 43" id="43"/>
          <p:cNvGrpSpPr/>
          <p:nvPr/>
        </p:nvGrpSpPr>
        <p:grpSpPr>
          <a:xfrm rot="0">
            <a:off x="14617703" y="3763775"/>
            <a:ext cx="1579883" cy="464315"/>
            <a:chOff x="0" y="0"/>
            <a:chExt cx="2106511" cy="619087"/>
          </a:xfrm>
        </p:grpSpPr>
        <p:sp>
          <p:nvSpPr>
            <p:cNvPr name="Freeform 44" id="44"/>
            <p:cNvSpPr/>
            <p:nvPr/>
          </p:nvSpPr>
          <p:spPr>
            <a:xfrm flipH="false" flipV="false" rot="0">
              <a:off x="0" y="0"/>
              <a:ext cx="2106422" cy="618998"/>
            </a:xfrm>
            <a:custGeom>
              <a:avLst/>
              <a:gdLst/>
              <a:ahLst/>
              <a:cxnLst/>
              <a:rect r="r" b="b" t="t" l="l"/>
              <a:pathLst>
                <a:path h="618998" w="2106422">
                  <a:moveTo>
                    <a:pt x="0" y="309499"/>
                  </a:moveTo>
                  <a:cubicBezTo>
                    <a:pt x="0" y="138557"/>
                    <a:pt x="138557" y="0"/>
                    <a:pt x="309499" y="0"/>
                  </a:cubicBezTo>
                  <a:lnTo>
                    <a:pt x="1796923" y="0"/>
                  </a:lnTo>
                  <a:cubicBezTo>
                    <a:pt x="1967865" y="0"/>
                    <a:pt x="2106422" y="138557"/>
                    <a:pt x="2106422" y="309499"/>
                  </a:cubicBezTo>
                  <a:cubicBezTo>
                    <a:pt x="2106422" y="480441"/>
                    <a:pt x="1967865" y="618998"/>
                    <a:pt x="1796923" y="618998"/>
                  </a:cubicBezTo>
                  <a:lnTo>
                    <a:pt x="309499" y="618998"/>
                  </a:lnTo>
                  <a:cubicBezTo>
                    <a:pt x="138557" y="619125"/>
                    <a:pt x="0" y="480441"/>
                    <a:pt x="0" y="309499"/>
                  </a:cubicBezTo>
                  <a:close/>
                </a:path>
              </a:pathLst>
            </a:custGeom>
            <a:solidFill>
              <a:srgbClr val="1B4A4A"/>
            </a:solidFill>
            <a:ln w="25400" cap="sq">
              <a:solidFill>
                <a:srgbClr val="1B4A4A"/>
              </a:solidFill>
              <a:prstDash val="solid"/>
              <a:miter/>
            </a:ln>
          </p:spPr>
        </p:sp>
      </p:grpSp>
      <p:grpSp>
        <p:nvGrpSpPr>
          <p:cNvPr name="Group 45" id="45"/>
          <p:cNvGrpSpPr/>
          <p:nvPr/>
        </p:nvGrpSpPr>
        <p:grpSpPr>
          <a:xfrm rot="0">
            <a:off x="14630400" y="3776472"/>
            <a:ext cx="1554480" cy="438912"/>
            <a:chOff x="0" y="0"/>
            <a:chExt cx="2072640" cy="585216"/>
          </a:xfrm>
        </p:grpSpPr>
        <p:sp>
          <p:nvSpPr>
            <p:cNvPr name="Freeform 46" id="46"/>
            <p:cNvSpPr/>
            <p:nvPr/>
          </p:nvSpPr>
          <p:spPr>
            <a:xfrm flipH="false" flipV="false" rot="0">
              <a:off x="0" y="0"/>
              <a:ext cx="2072640" cy="585216"/>
            </a:xfrm>
            <a:custGeom>
              <a:avLst/>
              <a:gdLst/>
              <a:ahLst/>
              <a:cxnLst/>
              <a:rect r="r" b="b" t="t" l="l"/>
              <a:pathLst>
                <a:path h="585216" w="2072640">
                  <a:moveTo>
                    <a:pt x="0" y="0"/>
                  </a:moveTo>
                  <a:lnTo>
                    <a:pt x="2072640" y="0"/>
                  </a:lnTo>
                  <a:lnTo>
                    <a:pt x="2072640" y="585216"/>
                  </a:lnTo>
                  <a:lnTo>
                    <a:pt x="0" y="585216"/>
                  </a:lnTo>
                  <a:close/>
                </a:path>
              </a:pathLst>
            </a:custGeom>
            <a:blipFill>
              <a:blip r:embed="rId3">
                <a:alphaModFix amt="0"/>
              </a:blip>
              <a:stretch>
                <a:fillRect l="0" t="-19009" r="0" b="-19009"/>
              </a:stretch>
            </a:blipFill>
          </p:spPr>
        </p:sp>
        <p:sp>
          <p:nvSpPr>
            <p:cNvPr name="TextBox 47" id="47"/>
            <p:cNvSpPr txBox="true"/>
            <p:nvPr/>
          </p:nvSpPr>
          <p:spPr>
            <a:xfrm>
              <a:off x="0" y="-38100"/>
              <a:ext cx="20726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Completed</a:t>
              </a:r>
            </a:p>
          </p:txBody>
        </p:sp>
      </p:grpSp>
      <p:grpSp>
        <p:nvGrpSpPr>
          <p:cNvPr name="Group 48" id="48"/>
          <p:cNvGrpSpPr/>
          <p:nvPr/>
        </p:nvGrpSpPr>
        <p:grpSpPr>
          <a:xfrm rot="0">
            <a:off x="901703" y="4412999"/>
            <a:ext cx="16484603" cy="702059"/>
            <a:chOff x="0" y="0"/>
            <a:chExt cx="21979471" cy="936079"/>
          </a:xfrm>
        </p:grpSpPr>
        <p:sp>
          <p:nvSpPr>
            <p:cNvPr name="Freeform 49" id="49"/>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50" id="50"/>
          <p:cNvGrpSpPr/>
          <p:nvPr/>
        </p:nvGrpSpPr>
        <p:grpSpPr>
          <a:xfrm rot="0">
            <a:off x="1280160" y="4425696"/>
            <a:ext cx="4937760" cy="676656"/>
            <a:chOff x="0" y="0"/>
            <a:chExt cx="6583680" cy="902208"/>
          </a:xfrm>
        </p:grpSpPr>
        <p:sp>
          <p:nvSpPr>
            <p:cNvPr name="Freeform 51" id="51"/>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52" id="52"/>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Sample data</a:t>
              </a:r>
            </a:p>
          </p:txBody>
        </p:sp>
      </p:grpSp>
      <p:grpSp>
        <p:nvGrpSpPr>
          <p:cNvPr name="Group 53" id="53"/>
          <p:cNvGrpSpPr/>
          <p:nvPr/>
        </p:nvGrpSpPr>
        <p:grpSpPr>
          <a:xfrm rot="0">
            <a:off x="6217920" y="4425696"/>
            <a:ext cx="8229600" cy="676656"/>
            <a:chOff x="0" y="0"/>
            <a:chExt cx="10972800" cy="902208"/>
          </a:xfrm>
        </p:grpSpPr>
        <p:sp>
          <p:nvSpPr>
            <p:cNvPr name="Freeform 54" id="54"/>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55" id="55"/>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Routes, buses, seats, crews, trips, bookings</a:t>
              </a:r>
            </a:p>
          </p:txBody>
        </p:sp>
      </p:grpSp>
      <p:grpSp>
        <p:nvGrpSpPr>
          <p:cNvPr name="Group 56" id="56"/>
          <p:cNvGrpSpPr/>
          <p:nvPr/>
        </p:nvGrpSpPr>
        <p:grpSpPr>
          <a:xfrm rot="0">
            <a:off x="14617703" y="4531871"/>
            <a:ext cx="2037083" cy="464315"/>
            <a:chOff x="0" y="0"/>
            <a:chExt cx="2716111" cy="619087"/>
          </a:xfrm>
        </p:grpSpPr>
        <p:sp>
          <p:nvSpPr>
            <p:cNvPr name="Freeform 57" id="57"/>
            <p:cNvSpPr/>
            <p:nvPr/>
          </p:nvSpPr>
          <p:spPr>
            <a:xfrm flipH="false" flipV="false" rot="0">
              <a:off x="0" y="0"/>
              <a:ext cx="2716022" cy="618998"/>
            </a:xfrm>
            <a:custGeom>
              <a:avLst/>
              <a:gdLst/>
              <a:ahLst/>
              <a:cxnLst/>
              <a:rect r="r" b="b" t="t" l="l"/>
              <a:pathLst>
                <a:path h="618998" w="2716022">
                  <a:moveTo>
                    <a:pt x="0" y="309499"/>
                  </a:moveTo>
                  <a:cubicBezTo>
                    <a:pt x="0" y="138557"/>
                    <a:pt x="138557" y="0"/>
                    <a:pt x="309499" y="0"/>
                  </a:cubicBezTo>
                  <a:lnTo>
                    <a:pt x="2406523" y="0"/>
                  </a:lnTo>
                  <a:cubicBezTo>
                    <a:pt x="2577465" y="0"/>
                    <a:pt x="2716022" y="138557"/>
                    <a:pt x="2716022" y="309499"/>
                  </a:cubicBezTo>
                  <a:cubicBezTo>
                    <a:pt x="2716022" y="480441"/>
                    <a:pt x="2577465" y="618998"/>
                    <a:pt x="2406523" y="618998"/>
                  </a:cubicBezTo>
                  <a:lnTo>
                    <a:pt x="309499" y="618998"/>
                  </a:lnTo>
                  <a:cubicBezTo>
                    <a:pt x="138557" y="619125"/>
                    <a:pt x="0" y="480441"/>
                    <a:pt x="0" y="309499"/>
                  </a:cubicBezTo>
                  <a:close/>
                </a:path>
              </a:pathLst>
            </a:custGeom>
            <a:solidFill>
              <a:srgbClr val="D98E3C"/>
            </a:solidFill>
            <a:ln w="25400" cap="sq">
              <a:solidFill>
                <a:srgbClr val="D98E3C"/>
              </a:solidFill>
              <a:prstDash val="solid"/>
              <a:miter/>
            </a:ln>
          </p:spPr>
        </p:sp>
      </p:grpSp>
      <p:grpSp>
        <p:nvGrpSpPr>
          <p:cNvPr name="Group 58" id="58"/>
          <p:cNvGrpSpPr/>
          <p:nvPr/>
        </p:nvGrpSpPr>
        <p:grpSpPr>
          <a:xfrm rot="0">
            <a:off x="14630400" y="4544568"/>
            <a:ext cx="2011680" cy="438912"/>
            <a:chOff x="0" y="0"/>
            <a:chExt cx="2682240" cy="585216"/>
          </a:xfrm>
        </p:grpSpPr>
        <p:sp>
          <p:nvSpPr>
            <p:cNvPr name="Freeform 59" id="59"/>
            <p:cNvSpPr/>
            <p:nvPr/>
          </p:nvSpPr>
          <p:spPr>
            <a:xfrm flipH="false" flipV="false" rot="0">
              <a:off x="0" y="0"/>
              <a:ext cx="2682240" cy="585216"/>
            </a:xfrm>
            <a:custGeom>
              <a:avLst/>
              <a:gdLst/>
              <a:ahLst/>
              <a:cxnLst/>
              <a:rect r="r" b="b" t="t" l="l"/>
              <a:pathLst>
                <a:path h="585216" w="2682240">
                  <a:moveTo>
                    <a:pt x="0" y="0"/>
                  </a:moveTo>
                  <a:lnTo>
                    <a:pt x="2682240" y="0"/>
                  </a:lnTo>
                  <a:lnTo>
                    <a:pt x="2682240" y="585216"/>
                  </a:lnTo>
                  <a:lnTo>
                    <a:pt x="0" y="585216"/>
                  </a:lnTo>
                  <a:close/>
                </a:path>
              </a:pathLst>
            </a:custGeom>
            <a:blipFill>
              <a:blip r:embed="rId3">
                <a:alphaModFix amt="0"/>
              </a:blip>
              <a:stretch>
                <a:fillRect l="0" t="-39306" r="0" b="-39306"/>
              </a:stretch>
            </a:blipFill>
          </p:spPr>
        </p:sp>
        <p:sp>
          <p:nvSpPr>
            <p:cNvPr name="TextBox 60" id="60"/>
            <p:cNvSpPr txBox="true"/>
            <p:nvPr/>
          </p:nvSpPr>
          <p:spPr>
            <a:xfrm>
              <a:off x="0" y="-38100"/>
              <a:ext cx="26822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Work in Progress</a:t>
              </a:r>
            </a:p>
          </p:txBody>
        </p:sp>
      </p:grpSp>
      <p:grpSp>
        <p:nvGrpSpPr>
          <p:cNvPr name="Group 61" id="61"/>
          <p:cNvGrpSpPr/>
          <p:nvPr/>
        </p:nvGrpSpPr>
        <p:grpSpPr>
          <a:xfrm rot="0">
            <a:off x="901703" y="5181095"/>
            <a:ext cx="16484603" cy="702059"/>
            <a:chOff x="0" y="0"/>
            <a:chExt cx="21979471" cy="936079"/>
          </a:xfrm>
        </p:grpSpPr>
        <p:sp>
          <p:nvSpPr>
            <p:cNvPr name="Freeform 62" id="62"/>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63" id="63"/>
          <p:cNvGrpSpPr/>
          <p:nvPr/>
        </p:nvGrpSpPr>
        <p:grpSpPr>
          <a:xfrm rot="0">
            <a:off x="1280160" y="5193792"/>
            <a:ext cx="4937760" cy="676656"/>
            <a:chOff x="0" y="0"/>
            <a:chExt cx="6583680" cy="902208"/>
          </a:xfrm>
        </p:grpSpPr>
        <p:sp>
          <p:nvSpPr>
            <p:cNvPr name="Freeform 64" id="64"/>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65" id="65"/>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Queries, views, reports</a:t>
              </a:r>
            </a:p>
          </p:txBody>
        </p:sp>
      </p:grpSp>
      <p:grpSp>
        <p:nvGrpSpPr>
          <p:cNvPr name="Group 66" id="66"/>
          <p:cNvGrpSpPr/>
          <p:nvPr/>
        </p:nvGrpSpPr>
        <p:grpSpPr>
          <a:xfrm rot="0">
            <a:off x="6217920" y="5193792"/>
            <a:ext cx="8229600" cy="676656"/>
            <a:chOff x="0" y="0"/>
            <a:chExt cx="10972800" cy="902208"/>
          </a:xfrm>
        </p:grpSpPr>
        <p:sp>
          <p:nvSpPr>
            <p:cNvPr name="Freeform 67" id="67"/>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68" id="68"/>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Joins, aggregates, occupancy and revenue views</a:t>
              </a:r>
            </a:p>
          </p:txBody>
        </p:sp>
      </p:grpSp>
      <p:grpSp>
        <p:nvGrpSpPr>
          <p:cNvPr name="Group 69" id="69"/>
          <p:cNvGrpSpPr/>
          <p:nvPr/>
        </p:nvGrpSpPr>
        <p:grpSpPr>
          <a:xfrm rot="0">
            <a:off x="14617703" y="5299967"/>
            <a:ext cx="2037083" cy="464315"/>
            <a:chOff x="0" y="0"/>
            <a:chExt cx="2716111" cy="619087"/>
          </a:xfrm>
        </p:grpSpPr>
        <p:sp>
          <p:nvSpPr>
            <p:cNvPr name="Freeform 70" id="70"/>
            <p:cNvSpPr/>
            <p:nvPr/>
          </p:nvSpPr>
          <p:spPr>
            <a:xfrm flipH="false" flipV="false" rot="0">
              <a:off x="0" y="0"/>
              <a:ext cx="2716022" cy="618998"/>
            </a:xfrm>
            <a:custGeom>
              <a:avLst/>
              <a:gdLst/>
              <a:ahLst/>
              <a:cxnLst/>
              <a:rect r="r" b="b" t="t" l="l"/>
              <a:pathLst>
                <a:path h="618998" w="2716022">
                  <a:moveTo>
                    <a:pt x="0" y="309499"/>
                  </a:moveTo>
                  <a:cubicBezTo>
                    <a:pt x="0" y="138557"/>
                    <a:pt x="138557" y="0"/>
                    <a:pt x="309499" y="0"/>
                  </a:cubicBezTo>
                  <a:lnTo>
                    <a:pt x="2406523" y="0"/>
                  </a:lnTo>
                  <a:cubicBezTo>
                    <a:pt x="2577465" y="0"/>
                    <a:pt x="2716022" y="138557"/>
                    <a:pt x="2716022" y="309499"/>
                  </a:cubicBezTo>
                  <a:cubicBezTo>
                    <a:pt x="2716022" y="480441"/>
                    <a:pt x="2577465" y="618998"/>
                    <a:pt x="2406523" y="618998"/>
                  </a:cubicBezTo>
                  <a:lnTo>
                    <a:pt x="309499" y="618998"/>
                  </a:lnTo>
                  <a:cubicBezTo>
                    <a:pt x="138557" y="619125"/>
                    <a:pt x="0" y="480441"/>
                    <a:pt x="0" y="309499"/>
                  </a:cubicBezTo>
                  <a:close/>
                </a:path>
              </a:pathLst>
            </a:custGeom>
            <a:solidFill>
              <a:srgbClr val="D98E3C"/>
            </a:solidFill>
            <a:ln w="25400" cap="sq">
              <a:solidFill>
                <a:srgbClr val="D98E3C"/>
              </a:solidFill>
              <a:prstDash val="solid"/>
              <a:miter/>
            </a:ln>
          </p:spPr>
        </p:sp>
      </p:grpSp>
      <p:grpSp>
        <p:nvGrpSpPr>
          <p:cNvPr name="Group 71" id="71"/>
          <p:cNvGrpSpPr/>
          <p:nvPr/>
        </p:nvGrpSpPr>
        <p:grpSpPr>
          <a:xfrm rot="0">
            <a:off x="14630400" y="5312664"/>
            <a:ext cx="2011680" cy="438912"/>
            <a:chOff x="0" y="0"/>
            <a:chExt cx="2682240" cy="585216"/>
          </a:xfrm>
        </p:grpSpPr>
        <p:sp>
          <p:nvSpPr>
            <p:cNvPr name="Freeform 72" id="72"/>
            <p:cNvSpPr/>
            <p:nvPr/>
          </p:nvSpPr>
          <p:spPr>
            <a:xfrm flipH="false" flipV="false" rot="0">
              <a:off x="0" y="0"/>
              <a:ext cx="2682240" cy="585216"/>
            </a:xfrm>
            <a:custGeom>
              <a:avLst/>
              <a:gdLst/>
              <a:ahLst/>
              <a:cxnLst/>
              <a:rect r="r" b="b" t="t" l="l"/>
              <a:pathLst>
                <a:path h="585216" w="2682240">
                  <a:moveTo>
                    <a:pt x="0" y="0"/>
                  </a:moveTo>
                  <a:lnTo>
                    <a:pt x="2682240" y="0"/>
                  </a:lnTo>
                  <a:lnTo>
                    <a:pt x="2682240" y="585216"/>
                  </a:lnTo>
                  <a:lnTo>
                    <a:pt x="0" y="585216"/>
                  </a:lnTo>
                  <a:close/>
                </a:path>
              </a:pathLst>
            </a:custGeom>
            <a:blipFill>
              <a:blip r:embed="rId3">
                <a:alphaModFix amt="0"/>
              </a:blip>
              <a:stretch>
                <a:fillRect l="0" t="-39306" r="0" b="-39306"/>
              </a:stretch>
            </a:blipFill>
          </p:spPr>
        </p:sp>
        <p:sp>
          <p:nvSpPr>
            <p:cNvPr name="TextBox 73" id="73"/>
            <p:cNvSpPr txBox="true"/>
            <p:nvPr/>
          </p:nvSpPr>
          <p:spPr>
            <a:xfrm>
              <a:off x="0" y="-38100"/>
              <a:ext cx="26822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Work in Progress</a:t>
              </a:r>
            </a:p>
          </p:txBody>
        </p:sp>
      </p:grpSp>
      <p:grpSp>
        <p:nvGrpSpPr>
          <p:cNvPr name="Group 74" id="74"/>
          <p:cNvGrpSpPr/>
          <p:nvPr/>
        </p:nvGrpSpPr>
        <p:grpSpPr>
          <a:xfrm rot="0">
            <a:off x="901703" y="5949191"/>
            <a:ext cx="16484603" cy="702059"/>
            <a:chOff x="0" y="0"/>
            <a:chExt cx="21979471" cy="936079"/>
          </a:xfrm>
        </p:grpSpPr>
        <p:sp>
          <p:nvSpPr>
            <p:cNvPr name="Freeform 75" id="75"/>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76" id="76"/>
          <p:cNvGrpSpPr/>
          <p:nvPr/>
        </p:nvGrpSpPr>
        <p:grpSpPr>
          <a:xfrm rot="0">
            <a:off x="1280160" y="5961888"/>
            <a:ext cx="4937760" cy="676656"/>
            <a:chOff x="0" y="0"/>
            <a:chExt cx="6583680" cy="902208"/>
          </a:xfrm>
        </p:grpSpPr>
        <p:sp>
          <p:nvSpPr>
            <p:cNvPr name="Freeform 77" id="77"/>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78" id="78"/>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Application: search &amp; book</a:t>
              </a:r>
            </a:p>
          </p:txBody>
        </p:sp>
      </p:grpSp>
      <p:grpSp>
        <p:nvGrpSpPr>
          <p:cNvPr name="Group 79" id="79"/>
          <p:cNvGrpSpPr/>
          <p:nvPr/>
        </p:nvGrpSpPr>
        <p:grpSpPr>
          <a:xfrm rot="0">
            <a:off x="6217920" y="5961888"/>
            <a:ext cx="8229600" cy="676656"/>
            <a:chOff x="0" y="0"/>
            <a:chExt cx="10972800" cy="902208"/>
          </a:xfrm>
        </p:grpSpPr>
        <p:sp>
          <p:nvSpPr>
            <p:cNvPr name="Freeform 80" id="80"/>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81" id="81"/>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Search trips, pick a seat, pay</a:t>
              </a:r>
            </a:p>
          </p:txBody>
        </p:sp>
      </p:grpSp>
      <p:grpSp>
        <p:nvGrpSpPr>
          <p:cNvPr name="Group 82" id="82"/>
          <p:cNvGrpSpPr/>
          <p:nvPr/>
        </p:nvGrpSpPr>
        <p:grpSpPr>
          <a:xfrm rot="0">
            <a:off x="14617703" y="6068063"/>
            <a:ext cx="2037083" cy="464315"/>
            <a:chOff x="0" y="0"/>
            <a:chExt cx="2716111" cy="619087"/>
          </a:xfrm>
        </p:grpSpPr>
        <p:sp>
          <p:nvSpPr>
            <p:cNvPr name="Freeform 83" id="83"/>
            <p:cNvSpPr/>
            <p:nvPr/>
          </p:nvSpPr>
          <p:spPr>
            <a:xfrm flipH="false" flipV="false" rot="0">
              <a:off x="0" y="0"/>
              <a:ext cx="2716022" cy="618998"/>
            </a:xfrm>
            <a:custGeom>
              <a:avLst/>
              <a:gdLst/>
              <a:ahLst/>
              <a:cxnLst/>
              <a:rect r="r" b="b" t="t" l="l"/>
              <a:pathLst>
                <a:path h="618998" w="2716022">
                  <a:moveTo>
                    <a:pt x="0" y="309499"/>
                  </a:moveTo>
                  <a:cubicBezTo>
                    <a:pt x="0" y="138557"/>
                    <a:pt x="138557" y="0"/>
                    <a:pt x="309499" y="0"/>
                  </a:cubicBezTo>
                  <a:lnTo>
                    <a:pt x="2406523" y="0"/>
                  </a:lnTo>
                  <a:cubicBezTo>
                    <a:pt x="2577465" y="0"/>
                    <a:pt x="2716022" y="138557"/>
                    <a:pt x="2716022" y="309499"/>
                  </a:cubicBezTo>
                  <a:cubicBezTo>
                    <a:pt x="2716022" y="480441"/>
                    <a:pt x="2577465" y="618998"/>
                    <a:pt x="2406523" y="618998"/>
                  </a:cubicBezTo>
                  <a:lnTo>
                    <a:pt x="309499" y="618998"/>
                  </a:lnTo>
                  <a:cubicBezTo>
                    <a:pt x="138557" y="619125"/>
                    <a:pt x="0" y="480441"/>
                    <a:pt x="0" y="309499"/>
                  </a:cubicBezTo>
                  <a:close/>
                </a:path>
              </a:pathLst>
            </a:custGeom>
            <a:solidFill>
              <a:srgbClr val="D98E3C"/>
            </a:solidFill>
            <a:ln w="25400" cap="sq">
              <a:solidFill>
                <a:srgbClr val="D98E3C"/>
              </a:solidFill>
              <a:prstDash val="solid"/>
              <a:miter/>
            </a:ln>
          </p:spPr>
        </p:sp>
      </p:grpSp>
      <p:grpSp>
        <p:nvGrpSpPr>
          <p:cNvPr name="Group 84" id="84"/>
          <p:cNvGrpSpPr/>
          <p:nvPr/>
        </p:nvGrpSpPr>
        <p:grpSpPr>
          <a:xfrm rot="0">
            <a:off x="14630400" y="6080760"/>
            <a:ext cx="2011680" cy="438912"/>
            <a:chOff x="0" y="0"/>
            <a:chExt cx="2682240" cy="585216"/>
          </a:xfrm>
        </p:grpSpPr>
        <p:sp>
          <p:nvSpPr>
            <p:cNvPr name="Freeform 85" id="85"/>
            <p:cNvSpPr/>
            <p:nvPr/>
          </p:nvSpPr>
          <p:spPr>
            <a:xfrm flipH="false" flipV="false" rot="0">
              <a:off x="0" y="0"/>
              <a:ext cx="2682240" cy="585216"/>
            </a:xfrm>
            <a:custGeom>
              <a:avLst/>
              <a:gdLst/>
              <a:ahLst/>
              <a:cxnLst/>
              <a:rect r="r" b="b" t="t" l="l"/>
              <a:pathLst>
                <a:path h="585216" w="2682240">
                  <a:moveTo>
                    <a:pt x="0" y="0"/>
                  </a:moveTo>
                  <a:lnTo>
                    <a:pt x="2682240" y="0"/>
                  </a:lnTo>
                  <a:lnTo>
                    <a:pt x="2682240" y="585216"/>
                  </a:lnTo>
                  <a:lnTo>
                    <a:pt x="0" y="585216"/>
                  </a:lnTo>
                  <a:close/>
                </a:path>
              </a:pathLst>
            </a:custGeom>
            <a:blipFill>
              <a:blip r:embed="rId3">
                <a:alphaModFix amt="0"/>
              </a:blip>
              <a:stretch>
                <a:fillRect l="0" t="-39306" r="0" b="-39306"/>
              </a:stretch>
            </a:blipFill>
          </p:spPr>
        </p:sp>
        <p:sp>
          <p:nvSpPr>
            <p:cNvPr name="TextBox 86" id="86"/>
            <p:cNvSpPr txBox="true"/>
            <p:nvPr/>
          </p:nvSpPr>
          <p:spPr>
            <a:xfrm>
              <a:off x="0" y="-38100"/>
              <a:ext cx="26822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Work in Progress</a:t>
              </a:r>
            </a:p>
          </p:txBody>
        </p:sp>
      </p:grpSp>
      <p:grpSp>
        <p:nvGrpSpPr>
          <p:cNvPr name="Group 87" id="87"/>
          <p:cNvGrpSpPr/>
          <p:nvPr/>
        </p:nvGrpSpPr>
        <p:grpSpPr>
          <a:xfrm rot="0">
            <a:off x="901703" y="6717287"/>
            <a:ext cx="16484603" cy="702059"/>
            <a:chOff x="0" y="0"/>
            <a:chExt cx="21979471" cy="936079"/>
          </a:xfrm>
        </p:grpSpPr>
        <p:sp>
          <p:nvSpPr>
            <p:cNvPr name="Freeform 88" id="88"/>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89" id="89"/>
          <p:cNvGrpSpPr/>
          <p:nvPr/>
        </p:nvGrpSpPr>
        <p:grpSpPr>
          <a:xfrm rot="0">
            <a:off x="1280160" y="6729984"/>
            <a:ext cx="4937760" cy="676656"/>
            <a:chOff x="0" y="0"/>
            <a:chExt cx="6583680" cy="902208"/>
          </a:xfrm>
        </p:grpSpPr>
        <p:sp>
          <p:nvSpPr>
            <p:cNvPr name="Freeform 90" id="90"/>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91" id="91"/>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Application: cancel &amp; refund</a:t>
              </a:r>
            </a:p>
          </p:txBody>
        </p:sp>
      </p:grpSp>
      <p:grpSp>
        <p:nvGrpSpPr>
          <p:cNvPr name="Group 92" id="92"/>
          <p:cNvGrpSpPr/>
          <p:nvPr/>
        </p:nvGrpSpPr>
        <p:grpSpPr>
          <a:xfrm rot="0">
            <a:off x="6217920" y="6729984"/>
            <a:ext cx="8229600" cy="676656"/>
            <a:chOff x="0" y="0"/>
            <a:chExt cx="10972800" cy="902208"/>
          </a:xfrm>
        </p:grpSpPr>
        <p:sp>
          <p:nvSpPr>
            <p:cNvPr name="Freeform 93" id="93"/>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94" id="94"/>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Cancel a booking, show refund tier</a:t>
              </a:r>
            </a:p>
          </p:txBody>
        </p:sp>
      </p:grpSp>
      <p:grpSp>
        <p:nvGrpSpPr>
          <p:cNvPr name="Group 95" id="95"/>
          <p:cNvGrpSpPr/>
          <p:nvPr/>
        </p:nvGrpSpPr>
        <p:grpSpPr>
          <a:xfrm rot="0">
            <a:off x="14617703" y="6836159"/>
            <a:ext cx="2037083" cy="464315"/>
            <a:chOff x="0" y="0"/>
            <a:chExt cx="2716111" cy="619087"/>
          </a:xfrm>
        </p:grpSpPr>
        <p:sp>
          <p:nvSpPr>
            <p:cNvPr name="Freeform 96" id="96"/>
            <p:cNvSpPr/>
            <p:nvPr/>
          </p:nvSpPr>
          <p:spPr>
            <a:xfrm flipH="false" flipV="false" rot="0">
              <a:off x="0" y="0"/>
              <a:ext cx="2716022" cy="618998"/>
            </a:xfrm>
            <a:custGeom>
              <a:avLst/>
              <a:gdLst/>
              <a:ahLst/>
              <a:cxnLst/>
              <a:rect r="r" b="b" t="t" l="l"/>
              <a:pathLst>
                <a:path h="618998" w="2716022">
                  <a:moveTo>
                    <a:pt x="0" y="309499"/>
                  </a:moveTo>
                  <a:cubicBezTo>
                    <a:pt x="0" y="138557"/>
                    <a:pt x="138557" y="0"/>
                    <a:pt x="309499" y="0"/>
                  </a:cubicBezTo>
                  <a:lnTo>
                    <a:pt x="2406523" y="0"/>
                  </a:lnTo>
                  <a:cubicBezTo>
                    <a:pt x="2577465" y="0"/>
                    <a:pt x="2716022" y="138557"/>
                    <a:pt x="2716022" y="309499"/>
                  </a:cubicBezTo>
                  <a:cubicBezTo>
                    <a:pt x="2716022" y="480441"/>
                    <a:pt x="2577465" y="618998"/>
                    <a:pt x="2406523" y="618998"/>
                  </a:cubicBezTo>
                  <a:lnTo>
                    <a:pt x="309499" y="618998"/>
                  </a:lnTo>
                  <a:cubicBezTo>
                    <a:pt x="138557" y="619125"/>
                    <a:pt x="0" y="480441"/>
                    <a:pt x="0" y="309499"/>
                  </a:cubicBezTo>
                  <a:close/>
                </a:path>
              </a:pathLst>
            </a:custGeom>
            <a:solidFill>
              <a:srgbClr val="D98E3C"/>
            </a:solidFill>
            <a:ln w="25400" cap="sq">
              <a:solidFill>
                <a:srgbClr val="D98E3C"/>
              </a:solidFill>
              <a:prstDash val="solid"/>
              <a:miter/>
            </a:ln>
          </p:spPr>
        </p:sp>
      </p:grpSp>
      <p:grpSp>
        <p:nvGrpSpPr>
          <p:cNvPr name="Group 97" id="97"/>
          <p:cNvGrpSpPr/>
          <p:nvPr/>
        </p:nvGrpSpPr>
        <p:grpSpPr>
          <a:xfrm rot="0">
            <a:off x="14630400" y="6848856"/>
            <a:ext cx="2011680" cy="438912"/>
            <a:chOff x="0" y="0"/>
            <a:chExt cx="2682240" cy="585216"/>
          </a:xfrm>
        </p:grpSpPr>
        <p:sp>
          <p:nvSpPr>
            <p:cNvPr name="Freeform 98" id="98"/>
            <p:cNvSpPr/>
            <p:nvPr/>
          </p:nvSpPr>
          <p:spPr>
            <a:xfrm flipH="false" flipV="false" rot="0">
              <a:off x="0" y="0"/>
              <a:ext cx="2682240" cy="585216"/>
            </a:xfrm>
            <a:custGeom>
              <a:avLst/>
              <a:gdLst/>
              <a:ahLst/>
              <a:cxnLst/>
              <a:rect r="r" b="b" t="t" l="l"/>
              <a:pathLst>
                <a:path h="585216" w="2682240">
                  <a:moveTo>
                    <a:pt x="0" y="0"/>
                  </a:moveTo>
                  <a:lnTo>
                    <a:pt x="2682240" y="0"/>
                  </a:lnTo>
                  <a:lnTo>
                    <a:pt x="2682240" y="585216"/>
                  </a:lnTo>
                  <a:lnTo>
                    <a:pt x="0" y="585216"/>
                  </a:lnTo>
                  <a:close/>
                </a:path>
              </a:pathLst>
            </a:custGeom>
            <a:blipFill>
              <a:blip r:embed="rId3">
                <a:alphaModFix amt="0"/>
              </a:blip>
              <a:stretch>
                <a:fillRect l="0" t="-39306" r="0" b="-39306"/>
              </a:stretch>
            </a:blipFill>
          </p:spPr>
        </p:sp>
        <p:sp>
          <p:nvSpPr>
            <p:cNvPr name="TextBox 99" id="99"/>
            <p:cNvSpPr txBox="true"/>
            <p:nvPr/>
          </p:nvSpPr>
          <p:spPr>
            <a:xfrm>
              <a:off x="0" y="-38100"/>
              <a:ext cx="26822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Work in Progress</a:t>
              </a:r>
            </a:p>
          </p:txBody>
        </p:sp>
      </p:grpSp>
      <p:grpSp>
        <p:nvGrpSpPr>
          <p:cNvPr name="Group 100" id="100"/>
          <p:cNvGrpSpPr/>
          <p:nvPr/>
        </p:nvGrpSpPr>
        <p:grpSpPr>
          <a:xfrm rot="0">
            <a:off x="901703" y="7485383"/>
            <a:ext cx="16484603" cy="702059"/>
            <a:chOff x="0" y="0"/>
            <a:chExt cx="21979471" cy="936079"/>
          </a:xfrm>
        </p:grpSpPr>
        <p:sp>
          <p:nvSpPr>
            <p:cNvPr name="Freeform 101" id="101"/>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102" id="102"/>
          <p:cNvGrpSpPr/>
          <p:nvPr/>
        </p:nvGrpSpPr>
        <p:grpSpPr>
          <a:xfrm rot="0">
            <a:off x="1280160" y="7498080"/>
            <a:ext cx="4937760" cy="676656"/>
            <a:chOff x="0" y="0"/>
            <a:chExt cx="6583680" cy="902208"/>
          </a:xfrm>
        </p:grpSpPr>
        <p:sp>
          <p:nvSpPr>
            <p:cNvPr name="Freeform 103" id="103"/>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104" id="104"/>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Application: admin</a:t>
              </a:r>
            </a:p>
          </p:txBody>
        </p:sp>
      </p:grpSp>
      <p:grpSp>
        <p:nvGrpSpPr>
          <p:cNvPr name="Group 105" id="105"/>
          <p:cNvGrpSpPr/>
          <p:nvPr/>
        </p:nvGrpSpPr>
        <p:grpSpPr>
          <a:xfrm rot="0">
            <a:off x="6217920" y="7498080"/>
            <a:ext cx="8229600" cy="676656"/>
            <a:chOff x="0" y="0"/>
            <a:chExt cx="10972800" cy="902208"/>
          </a:xfrm>
        </p:grpSpPr>
        <p:sp>
          <p:nvSpPr>
            <p:cNvPr name="Freeform 106" id="106"/>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107" id="107"/>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Routes, buses, crew and fares</a:t>
              </a:r>
            </a:p>
          </p:txBody>
        </p:sp>
      </p:grpSp>
      <p:grpSp>
        <p:nvGrpSpPr>
          <p:cNvPr name="Group 108" id="108"/>
          <p:cNvGrpSpPr/>
          <p:nvPr/>
        </p:nvGrpSpPr>
        <p:grpSpPr>
          <a:xfrm rot="0">
            <a:off x="14617703" y="7604255"/>
            <a:ext cx="2037083" cy="464315"/>
            <a:chOff x="0" y="0"/>
            <a:chExt cx="2716111" cy="619087"/>
          </a:xfrm>
        </p:grpSpPr>
        <p:sp>
          <p:nvSpPr>
            <p:cNvPr name="Freeform 109" id="109"/>
            <p:cNvSpPr/>
            <p:nvPr/>
          </p:nvSpPr>
          <p:spPr>
            <a:xfrm flipH="false" flipV="false" rot="0">
              <a:off x="0" y="0"/>
              <a:ext cx="2716022" cy="618998"/>
            </a:xfrm>
            <a:custGeom>
              <a:avLst/>
              <a:gdLst/>
              <a:ahLst/>
              <a:cxnLst/>
              <a:rect r="r" b="b" t="t" l="l"/>
              <a:pathLst>
                <a:path h="618998" w="2716022">
                  <a:moveTo>
                    <a:pt x="0" y="309499"/>
                  </a:moveTo>
                  <a:cubicBezTo>
                    <a:pt x="0" y="138557"/>
                    <a:pt x="138557" y="0"/>
                    <a:pt x="309499" y="0"/>
                  </a:cubicBezTo>
                  <a:lnTo>
                    <a:pt x="2406523" y="0"/>
                  </a:lnTo>
                  <a:cubicBezTo>
                    <a:pt x="2577465" y="0"/>
                    <a:pt x="2716022" y="138557"/>
                    <a:pt x="2716022" y="309499"/>
                  </a:cubicBezTo>
                  <a:cubicBezTo>
                    <a:pt x="2716022" y="480441"/>
                    <a:pt x="2577465" y="618998"/>
                    <a:pt x="2406523" y="618998"/>
                  </a:cubicBezTo>
                  <a:lnTo>
                    <a:pt x="309499" y="618998"/>
                  </a:lnTo>
                  <a:cubicBezTo>
                    <a:pt x="138557" y="619125"/>
                    <a:pt x="0" y="480441"/>
                    <a:pt x="0" y="309499"/>
                  </a:cubicBezTo>
                  <a:close/>
                </a:path>
              </a:pathLst>
            </a:custGeom>
            <a:solidFill>
              <a:srgbClr val="D98E3C"/>
            </a:solidFill>
            <a:ln w="25400" cap="sq">
              <a:solidFill>
                <a:srgbClr val="D98E3C"/>
              </a:solidFill>
              <a:prstDash val="solid"/>
              <a:miter/>
            </a:ln>
          </p:spPr>
        </p:sp>
      </p:grpSp>
      <p:grpSp>
        <p:nvGrpSpPr>
          <p:cNvPr name="Group 110" id="110"/>
          <p:cNvGrpSpPr/>
          <p:nvPr/>
        </p:nvGrpSpPr>
        <p:grpSpPr>
          <a:xfrm rot="0">
            <a:off x="14630400" y="7616952"/>
            <a:ext cx="2011680" cy="438912"/>
            <a:chOff x="0" y="0"/>
            <a:chExt cx="2682240" cy="585216"/>
          </a:xfrm>
        </p:grpSpPr>
        <p:sp>
          <p:nvSpPr>
            <p:cNvPr name="Freeform 111" id="111"/>
            <p:cNvSpPr/>
            <p:nvPr/>
          </p:nvSpPr>
          <p:spPr>
            <a:xfrm flipH="false" flipV="false" rot="0">
              <a:off x="0" y="0"/>
              <a:ext cx="2682240" cy="585216"/>
            </a:xfrm>
            <a:custGeom>
              <a:avLst/>
              <a:gdLst/>
              <a:ahLst/>
              <a:cxnLst/>
              <a:rect r="r" b="b" t="t" l="l"/>
              <a:pathLst>
                <a:path h="585216" w="2682240">
                  <a:moveTo>
                    <a:pt x="0" y="0"/>
                  </a:moveTo>
                  <a:lnTo>
                    <a:pt x="2682240" y="0"/>
                  </a:lnTo>
                  <a:lnTo>
                    <a:pt x="2682240" y="585216"/>
                  </a:lnTo>
                  <a:lnTo>
                    <a:pt x="0" y="585216"/>
                  </a:lnTo>
                  <a:close/>
                </a:path>
              </a:pathLst>
            </a:custGeom>
            <a:blipFill>
              <a:blip r:embed="rId3">
                <a:alphaModFix amt="0"/>
              </a:blip>
              <a:stretch>
                <a:fillRect l="0" t="-39306" r="0" b="-39306"/>
              </a:stretch>
            </a:blipFill>
          </p:spPr>
        </p:sp>
        <p:sp>
          <p:nvSpPr>
            <p:cNvPr name="TextBox 112" id="112"/>
            <p:cNvSpPr txBox="true"/>
            <p:nvPr/>
          </p:nvSpPr>
          <p:spPr>
            <a:xfrm>
              <a:off x="0" y="-38100"/>
              <a:ext cx="26822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Work in Progress</a:t>
              </a:r>
            </a:p>
          </p:txBody>
        </p:sp>
      </p:grpSp>
      <p:grpSp>
        <p:nvGrpSpPr>
          <p:cNvPr name="Group 113" id="113"/>
          <p:cNvGrpSpPr/>
          <p:nvPr/>
        </p:nvGrpSpPr>
        <p:grpSpPr>
          <a:xfrm rot="0">
            <a:off x="901703" y="8253479"/>
            <a:ext cx="16484603" cy="702059"/>
            <a:chOff x="0" y="0"/>
            <a:chExt cx="21979471" cy="936079"/>
          </a:xfrm>
        </p:grpSpPr>
        <p:sp>
          <p:nvSpPr>
            <p:cNvPr name="Freeform 114" id="114"/>
            <p:cNvSpPr/>
            <p:nvPr/>
          </p:nvSpPr>
          <p:spPr>
            <a:xfrm flipH="false" flipV="false" rot="0">
              <a:off x="0" y="0"/>
              <a:ext cx="21979510" cy="936117"/>
            </a:xfrm>
            <a:custGeom>
              <a:avLst/>
              <a:gdLst/>
              <a:ahLst/>
              <a:cxnLst/>
              <a:rect r="r" b="b" t="t" l="l"/>
              <a:pathLst>
                <a:path h="936117" w="21979510">
                  <a:moveTo>
                    <a:pt x="0" y="202438"/>
                  </a:moveTo>
                  <a:cubicBezTo>
                    <a:pt x="0" y="90678"/>
                    <a:pt x="90678" y="0"/>
                    <a:pt x="202438" y="0"/>
                  </a:cubicBezTo>
                  <a:lnTo>
                    <a:pt x="21777071" y="0"/>
                  </a:lnTo>
                  <a:cubicBezTo>
                    <a:pt x="21888831" y="0"/>
                    <a:pt x="21979510" y="90678"/>
                    <a:pt x="21979510" y="202438"/>
                  </a:cubicBezTo>
                  <a:lnTo>
                    <a:pt x="21979510" y="733679"/>
                  </a:lnTo>
                  <a:cubicBezTo>
                    <a:pt x="21979510" y="845439"/>
                    <a:pt x="21888831" y="936117"/>
                    <a:pt x="21777071" y="936117"/>
                  </a:cubicBezTo>
                  <a:lnTo>
                    <a:pt x="202438" y="936117"/>
                  </a:lnTo>
                  <a:cubicBezTo>
                    <a:pt x="90678" y="936117"/>
                    <a:pt x="0" y="845439"/>
                    <a:pt x="0" y="733679"/>
                  </a:cubicBezTo>
                  <a:close/>
                </a:path>
              </a:pathLst>
            </a:custGeom>
            <a:solidFill>
              <a:srgbClr val="FFFFFF"/>
            </a:solidFill>
            <a:ln w="25400" cap="sq">
              <a:solidFill>
                <a:srgbClr val="FFFFFF"/>
              </a:solidFill>
              <a:prstDash val="solid"/>
              <a:miter/>
            </a:ln>
          </p:spPr>
        </p:sp>
      </p:grpSp>
      <p:grpSp>
        <p:nvGrpSpPr>
          <p:cNvPr name="Group 115" id="115"/>
          <p:cNvGrpSpPr/>
          <p:nvPr/>
        </p:nvGrpSpPr>
        <p:grpSpPr>
          <a:xfrm rot="0">
            <a:off x="1280160" y="8266176"/>
            <a:ext cx="4937760" cy="676656"/>
            <a:chOff x="0" y="0"/>
            <a:chExt cx="6583680" cy="902208"/>
          </a:xfrm>
        </p:grpSpPr>
        <p:sp>
          <p:nvSpPr>
            <p:cNvPr name="Freeform 116" id="116"/>
            <p:cNvSpPr/>
            <p:nvPr/>
          </p:nvSpPr>
          <p:spPr>
            <a:xfrm flipH="false" flipV="false" rot="0">
              <a:off x="0" y="0"/>
              <a:ext cx="6583680" cy="902208"/>
            </a:xfrm>
            <a:custGeom>
              <a:avLst/>
              <a:gdLst/>
              <a:ahLst/>
              <a:cxnLst/>
              <a:rect r="r" b="b" t="t" l="l"/>
              <a:pathLst>
                <a:path h="902208" w="6583680">
                  <a:moveTo>
                    <a:pt x="0" y="0"/>
                  </a:moveTo>
                  <a:lnTo>
                    <a:pt x="6583680" y="0"/>
                  </a:lnTo>
                  <a:lnTo>
                    <a:pt x="6583680" y="902208"/>
                  </a:lnTo>
                  <a:lnTo>
                    <a:pt x="0" y="902208"/>
                  </a:lnTo>
                  <a:close/>
                </a:path>
              </a:pathLst>
            </a:custGeom>
            <a:blipFill>
              <a:blip r:embed="rId3">
                <a:alphaModFix amt="0"/>
              </a:blip>
              <a:stretch>
                <a:fillRect l="0" t="-92188" r="0" b="-92188"/>
              </a:stretch>
            </a:blipFill>
          </p:spPr>
        </p:sp>
        <p:sp>
          <p:nvSpPr>
            <p:cNvPr name="TextBox 117" id="117"/>
            <p:cNvSpPr txBox="true"/>
            <p:nvPr/>
          </p:nvSpPr>
          <p:spPr>
            <a:xfrm>
              <a:off x="0" y="-38100"/>
              <a:ext cx="6583680" cy="940308"/>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End-to-end testing</a:t>
              </a:r>
            </a:p>
          </p:txBody>
        </p:sp>
      </p:grpSp>
      <p:grpSp>
        <p:nvGrpSpPr>
          <p:cNvPr name="Group 118" id="118"/>
          <p:cNvGrpSpPr/>
          <p:nvPr/>
        </p:nvGrpSpPr>
        <p:grpSpPr>
          <a:xfrm rot="0">
            <a:off x="6217920" y="8266176"/>
            <a:ext cx="8229600" cy="676656"/>
            <a:chOff x="0" y="0"/>
            <a:chExt cx="10972800" cy="902208"/>
          </a:xfrm>
        </p:grpSpPr>
        <p:sp>
          <p:nvSpPr>
            <p:cNvPr name="Freeform 119" id="119"/>
            <p:cNvSpPr/>
            <p:nvPr/>
          </p:nvSpPr>
          <p:spPr>
            <a:xfrm flipH="false" flipV="false" rot="0">
              <a:off x="0" y="0"/>
              <a:ext cx="10972800" cy="902208"/>
            </a:xfrm>
            <a:custGeom>
              <a:avLst/>
              <a:gdLst/>
              <a:ahLst/>
              <a:cxnLst/>
              <a:rect r="r" b="b" t="t" l="l"/>
              <a:pathLst>
                <a:path h="902208" w="10972800">
                  <a:moveTo>
                    <a:pt x="0" y="0"/>
                  </a:moveTo>
                  <a:lnTo>
                    <a:pt x="10972800" y="0"/>
                  </a:lnTo>
                  <a:lnTo>
                    <a:pt x="10972800" y="902208"/>
                  </a:lnTo>
                  <a:lnTo>
                    <a:pt x="0" y="902208"/>
                  </a:lnTo>
                  <a:close/>
                </a:path>
              </a:pathLst>
            </a:custGeom>
            <a:blipFill>
              <a:blip r:embed="rId3">
                <a:alphaModFix amt="0"/>
              </a:blip>
              <a:stretch>
                <a:fillRect l="0" t="-186980" r="0" b="-186980"/>
              </a:stretch>
            </a:blipFill>
          </p:spPr>
        </p:sp>
        <p:sp>
          <p:nvSpPr>
            <p:cNvPr name="TextBox 120" id="120"/>
            <p:cNvSpPr txBox="true"/>
            <p:nvPr/>
          </p:nvSpPr>
          <p:spPr>
            <a:xfrm>
              <a:off x="0" y="-38100"/>
              <a:ext cx="10972800" cy="940308"/>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All business rules through the application</a:t>
              </a:r>
            </a:p>
          </p:txBody>
        </p:sp>
      </p:grpSp>
      <p:grpSp>
        <p:nvGrpSpPr>
          <p:cNvPr name="Group 121" id="121"/>
          <p:cNvGrpSpPr/>
          <p:nvPr/>
        </p:nvGrpSpPr>
        <p:grpSpPr>
          <a:xfrm rot="0">
            <a:off x="14617703" y="8372351"/>
            <a:ext cx="2037083" cy="464315"/>
            <a:chOff x="0" y="0"/>
            <a:chExt cx="2716111" cy="619087"/>
          </a:xfrm>
        </p:grpSpPr>
        <p:sp>
          <p:nvSpPr>
            <p:cNvPr name="Freeform 122" id="122"/>
            <p:cNvSpPr/>
            <p:nvPr/>
          </p:nvSpPr>
          <p:spPr>
            <a:xfrm flipH="false" flipV="false" rot="0">
              <a:off x="0" y="0"/>
              <a:ext cx="2716022" cy="618998"/>
            </a:xfrm>
            <a:custGeom>
              <a:avLst/>
              <a:gdLst/>
              <a:ahLst/>
              <a:cxnLst/>
              <a:rect r="r" b="b" t="t" l="l"/>
              <a:pathLst>
                <a:path h="618998" w="2716022">
                  <a:moveTo>
                    <a:pt x="0" y="309499"/>
                  </a:moveTo>
                  <a:cubicBezTo>
                    <a:pt x="0" y="138557"/>
                    <a:pt x="138557" y="0"/>
                    <a:pt x="309499" y="0"/>
                  </a:cubicBezTo>
                  <a:lnTo>
                    <a:pt x="2406523" y="0"/>
                  </a:lnTo>
                  <a:cubicBezTo>
                    <a:pt x="2577465" y="0"/>
                    <a:pt x="2716022" y="138557"/>
                    <a:pt x="2716022" y="309499"/>
                  </a:cubicBezTo>
                  <a:cubicBezTo>
                    <a:pt x="2716022" y="480441"/>
                    <a:pt x="2577465" y="618998"/>
                    <a:pt x="2406523" y="618998"/>
                  </a:cubicBezTo>
                  <a:lnTo>
                    <a:pt x="309499" y="618998"/>
                  </a:lnTo>
                  <a:cubicBezTo>
                    <a:pt x="138557" y="619125"/>
                    <a:pt x="0" y="480441"/>
                    <a:pt x="0" y="309499"/>
                  </a:cubicBezTo>
                  <a:close/>
                </a:path>
              </a:pathLst>
            </a:custGeom>
            <a:solidFill>
              <a:srgbClr val="D98E3C"/>
            </a:solidFill>
            <a:ln w="25400" cap="sq">
              <a:solidFill>
                <a:srgbClr val="D98E3C"/>
              </a:solidFill>
              <a:prstDash val="solid"/>
              <a:miter/>
            </a:ln>
          </p:spPr>
        </p:sp>
      </p:grpSp>
      <p:grpSp>
        <p:nvGrpSpPr>
          <p:cNvPr name="Group 123" id="123"/>
          <p:cNvGrpSpPr/>
          <p:nvPr/>
        </p:nvGrpSpPr>
        <p:grpSpPr>
          <a:xfrm rot="0">
            <a:off x="14630400" y="8385048"/>
            <a:ext cx="2011680" cy="438912"/>
            <a:chOff x="0" y="0"/>
            <a:chExt cx="2682240" cy="585216"/>
          </a:xfrm>
        </p:grpSpPr>
        <p:sp>
          <p:nvSpPr>
            <p:cNvPr name="Freeform 124" id="124"/>
            <p:cNvSpPr/>
            <p:nvPr/>
          </p:nvSpPr>
          <p:spPr>
            <a:xfrm flipH="false" flipV="false" rot="0">
              <a:off x="0" y="0"/>
              <a:ext cx="2682240" cy="585216"/>
            </a:xfrm>
            <a:custGeom>
              <a:avLst/>
              <a:gdLst/>
              <a:ahLst/>
              <a:cxnLst/>
              <a:rect r="r" b="b" t="t" l="l"/>
              <a:pathLst>
                <a:path h="585216" w="2682240">
                  <a:moveTo>
                    <a:pt x="0" y="0"/>
                  </a:moveTo>
                  <a:lnTo>
                    <a:pt x="2682240" y="0"/>
                  </a:lnTo>
                  <a:lnTo>
                    <a:pt x="2682240" y="585216"/>
                  </a:lnTo>
                  <a:lnTo>
                    <a:pt x="0" y="585216"/>
                  </a:lnTo>
                  <a:close/>
                </a:path>
              </a:pathLst>
            </a:custGeom>
            <a:blipFill>
              <a:blip r:embed="rId3">
                <a:alphaModFix amt="0"/>
              </a:blip>
              <a:stretch>
                <a:fillRect l="0" t="-39306" r="0" b="-39306"/>
              </a:stretch>
            </a:blipFill>
          </p:spPr>
        </p:sp>
        <p:sp>
          <p:nvSpPr>
            <p:cNvPr name="TextBox 125" id="125"/>
            <p:cNvSpPr txBox="true"/>
            <p:nvPr/>
          </p:nvSpPr>
          <p:spPr>
            <a:xfrm>
              <a:off x="0" y="-38100"/>
              <a:ext cx="2682240" cy="623316"/>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Work in Progress</a:t>
              </a:r>
            </a:p>
          </p:txBody>
        </p:sp>
      </p:grpSp>
      <p:sp>
        <p:nvSpPr>
          <p:cNvPr name="TextBox 126" id="126"/>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DATABASE DEMO</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Demonstration</a:t>
              </a:r>
            </a:p>
          </p:txBody>
        </p:sp>
      </p:grpSp>
      <p:grpSp>
        <p:nvGrpSpPr>
          <p:cNvPr name="Group 11" id="11"/>
          <p:cNvGrpSpPr/>
          <p:nvPr/>
        </p:nvGrpSpPr>
        <p:grpSpPr>
          <a:xfrm rot="0">
            <a:off x="901703" y="2090423"/>
            <a:ext cx="16484603" cy="647195"/>
            <a:chOff x="0" y="0"/>
            <a:chExt cx="21979471" cy="862927"/>
          </a:xfrm>
        </p:grpSpPr>
        <p:sp>
          <p:nvSpPr>
            <p:cNvPr name="Freeform 12" id="12"/>
            <p:cNvSpPr/>
            <p:nvPr/>
          </p:nvSpPr>
          <p:spPr>
            <a:xfrm flipH="false" flipV="false" rot="0">
              <a:off x="0" y="0"/>
              <a:ext cx="21979382" cy="862838"/>
            </a:xfrm>
            <a:custGeom>
              <a:avLst/>
              <a:gdLst/>
              <a:ahLst/>
              <a:cxnLst/>
              <a:rect r="r" b="b" t="t" l="l"/>
              <a:pathLst>
                <a:path h="862838" w="21979382">
                  <a:moveTo>
                    <a:pt x="0" y="126873"/>
                  </a:moveTo>
                  <a:cubicBezTo>
                    <a:pt x="0" y="56769"/>
                    <a:pt x="56769" y="0"/>
                    <a:pt x="126873" y="0"/>
                  </a:cubicBezTo>
                  <a:lnTo>
                    <a:pt x="21852510" y="0"/>
                  </a:lnTo>
                  <a:cubicBezTo>
                    <a:pt x="21922614" y="0"/>
                    <a:pt x="21979382" y="56769"/>
                    <a:pt x="21979382" y="126873"/>
                  </a:cubicBezTo>
                  <a:lnTo>
                    <a:pt x="21979382" y="735965"/>
                  </a:lnTo>
                  <a:cubicBezTo>
                    <a:pt x="21979382" y="806069"/>
                    <a:pt x="21922614" y="862838"/>
                    <a:pt x="21852510" y="862838"/>
                  </a:cubicBezTo>
                  <a:lnTo>
                    <a:pt x="126873" y="862838"/>
                  </a:lnTo>
                  <a:cubicBezTo>
                    <a:pt x="56769" y="862965"/>
                    <a:pt x="0" y="806069"/>
                    <a:pt x="0" y="735965"/>
                  </a:cubicBezTo>
                  <a:close/>
                </a:path>
              </a:pathLst>
            </a:custGeom>
            <a:solidFill>
              <a:srgbClr val="1B4A4A"/>
            </a:solidFill>
            <a:ln w="25400" cap="sq">
              <a:solidFill>
                <a:srgbClr val="1B4A4A"/>
              </a:solidFill>
              <a:prstDash val="solid"/>
              <a:miter/>
            </a:ln>
          </p:spPr>
        </p:sp>
      </p:grpSp>
      <p:grpSp>
        <p:nvGrpSpPr>
          <p:cNvPr name="Group 13" id="13"/>
          <p:cNvGrpSpPr/>
          <p:nvPr/>
        </p:nvGrpSpPr>
        <p:grpSpPr>
          <a:xfrm rot="0">
            <a:off x="1645920" y="2103120"/>
            <a:ext cx="5486400" cy="621792"/>
            <a:chOff x="0" y="0"/>
            <a:chExt cx="7315200" cy="829056"/>
          </a:xfrm>
        </p:grpSpPr>
        <p:sp>
          <p:nvSpPr>
            <p:cNvPr name="Freeform 14" id="14"/>
            <p:cNvSpPr/>
            <p:nvPr/>
          </p:nvSpPr>
          <p:spPr>
            <a:xfrm flipH="false" flipV="false" rot="0">
              <a:off x="0" y="0"/>
              <a:ext cx="7315200" cy="829056"/>
            </a:xfrm>
            <a:custGeom>
              <a:avLst/>
              <a:gdLst/>
              <a:ahLst/>
              <a:cxnLst/>
              <a:rect r="r" b="b" t="t" l="l"/>
              <a:pathLst>
                <a:path h="829056" w="7315200">
                  <a:moveTo>
                    <a:pt x="0" y="0"/>
                  </a:moveTo>
                  <a:lnTo>
                    <a:pt x="7315200" y="0"/>
                  </a:lnTo>
                  <a:lnTo>
                    <a:pt x="7315200" y="829056"/>
                  </a:lnTo>
                  <a:lnTo>
                    <a:pt x="0" y="829056"/>
                  </a:lnTo>
                  <a:close/>
                </a:path>
              </a:pathLst>
            </a:custGeom>
            <a:blipFill>
              <a:blip r:embed="rId3">
                <a:alphaModFix amt="0"/>
              </a:blip>
              <a:stretch>
                <a:fillRect l="0" t="-121926" r="0" b="-121926"/>
              </a:stretch>
            </a:blipFill>
          </p:spPr>
        </p:sp>
        <p:sp>
          <p:nvSpPr>
            <p:cNvPr name="TextBox 15" id="15"/>
            <p:cNvSpPr txBox="true"/>
            <p:nvPr/>
          </p:nvSpPr>
          <p:spPr>
            <a:xfrm>
              <a:off x="0" y="-38100"/>
              <a:ext cx="73152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Step</a:t>
              </a:r>
            </a:p>
          </p:txBody>
        </p:sp>
      </p:grpSp>
      <p:grpSp>
        <p:nvGrpSpPr>
          <p:cNvPr name="Group 16" id="16"/>
          <p:cNvGrpSpPr/>
          <p:nvPr/>
        </p:nvGrpSpPr>
        <p:grpSpPr>
          <a:xfrm rot="0">
            <a:off x="5669280" y="2103120"/>
            <a:ext cx="5486400" cy="621792"/>
            <a:chOff x="0" y="0"/>
            <a:chExt cx="7315200" cy="829056"/>
          </a:xfrm>
        </p:grpSpPr>
        <p:sp>
          <p:nvSpPr>
            <p:cNvPr name="Freeform 17" id="17"/>
            <p:cNvSpPr/>
            <p:nvPr/>
          </p:nvSpPr>
          <p:spPr>
            <a:xfrm flipH="false" flipV="false" rot="0">
              <a:off x="0" y="0"/>
              <a:ext cx="7315200" cy="829056"/>
            </a:xfrm>
            <a:custGeom>
              <a:avLst/>
              <a:gdLst/>
              <a:ahLst/>
              <a:cxnLst/>
              <a:rect r="r" b="b" t="t" l="l"/>
              <a:pathLst>
                <a:path h="829056" w="7315200">
                  <a:moveTo>
                    <a:pt x="0" y="0"/>
                  </a:moveTo>
                  <a:lnTo>
                    <a:pt x="7315200" y="0"/>
                  </a:lnTo>
                  <a:lnTo>
                    <a:pt x="7315200" y="829056"/>
                  </a:lnTo>
                  <a:lnTo>
                    <a:pt x="0" y="829056"/>
                  </a:lnTo>
                  <a:close/>
                </a:path>
              </a:pathLst>
            </a:custGeom>
            <a:blipFill>
              <a:blip r:embed="rId3">
                <a:alphaModFix amt="0"/>
              </a:blip>
              <a:stretch>
                <a:fillRect l="0" t="-121926" r="0" b="-121926"/>
              </a:stretch>
            </a:blipFill>
          </p:spPr>
        </p:sp>
        <p:sp>
          <p:nvSpPr>
            <p:cNvPr name="TextBox 18" id="18"/>
            <p:cNvSpPr txBox="true"/>
            <p:nvPr/>
          </p:nvSpPr>
          <p:spPr>
            <a:xfrm>
              <a:off x="0" y="-38100"/>
              <a:ext cx="73152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Action</a:t>
              </a:r>
            </a:p>
          </p:txBody>
        </p:sp>
      </p:grpSp>
      <p:grpSp>
        <p:nvGrpSpPr>
          <p:cNvPr name="Group 19" id="19"/>
          <p:cNvGrpSpPr/>
          <p:nvPr/>
        </p:nvGrpSpPr>
        <p:grpSpPr>
          <a:xfrm rot="0">
            <a:off x="10972800" y="2103120"/>
            <a:ext cx="5486400" cy="621792"/>
            <a:chOff x="0" y="0"/>
            <a:chExt cx="7315200" cy="829056"/>
          </a:xfrm>
        </p:grpSpPr>
        <p:sp>
          <p:nvSpPr>
            <p:cNvPr name="Freeform 20" id="20"/>
            <p:cNvSpPr/>
            <p:nvPr/>
          </p:nvSpPr>
          <p:spPr>
            <a:xfrm flipH="false" flipV="false" rot="0">
              <a:off x="0" y="0"/>
              <a:ext cx="7315200" cy="829056"/>
            </a:xfrm>
            <a:custGeom>
              <a:avLst/>
              <a:gdLst/>
              <a:ahLst/>
              <a:cxnLst/>
              <a:rect r="r" b="b" t="t" l="l"/>
              <a:pathLst>
                <a:path h="829056" w="7315200">
                  <a:moveTo>
                    <a:pt x="0" y="0"/>
                  </a:moveTo>
                  <a:lnTo>
                    <a:pt x="7315200" y="0"/>
                  </a:lnTo>
                  <a:lnTo>
                    <a:pt x="7315200" y="829056"/>
                  </a:lnTo>
                  <a:lnTo>
                    <a:pt x="0" y="829056"/>
                  </a:lnTo>
                  <a:close/>
                </a:path>
              </a:pathLst>
            </a:custGeom>
            <a:blipFill>
              <a:blip r:embed="rId3">
                <a:alphaModFix amt="0"/>
              </a:blip>
              <a:stretch>
                <a:fillRect l="0" t="-121926" r="0" b="-121926"/>
              </a:stretch>
            </a:blipFill>
          </p:spPr>
        </p:sp>
        <p:sp>
          <p:nvSpPr>
            <p:cNvPr name="TextBox 21" id="21"/>
            <p:cNvSpPr txBox="true"/>
            <p:nvPr/>
          </p:nvSpPr>
          <p:spPr>
            <a:xfrm>
              <a:off x="0" y="-38100"/>
              <a:ext cx="73152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System response</a:t>
              </a:r>
            </a:p>
          </p:txBody>
        </p:sp>
      </p:grpSp>
      <p:grpSp>
        <p:nvGrpSpPr>
          <p:cNvPr name="Group 22" id="22"/>
          <p:cNvGrpSpPr/>
          <p:nvPr/>
        </p:nvGrpSpPr>
        <p:grpSpPr>
          <a:xfrm rot="0">
            <a:off x="901703" y="2913383"/>
            <a:ext cx="16484603" cy="939803"/>
            <a:chOff x="0" y="0"/>
            <a:chExt cx="21979471" cy="1253071"/>
          </a:xfrm>
        </p:grpSpPr>
        <p:sp>
          <p:nvSpPr>
            <p:cNvPr name="Freeform 23" id="23"/>
            <p:cNvSpPr/>
            <p:nvPr/>
          </p:nvSpPr>
          <p:spPr>
            <a:xfrm flipH="false" flipV="false" rot="0">
              <a:off x="0" y="0"/>
              <a:ext cx="21979510" cy="1253109"/>
            </a:xfrm>
            <a:custGeom>
              <a:avLst/>
              <a:gdLst/>
              <a:ahLst/>
              <a:cxnLst/>
              <a:rect r="r" b="b" t="t" l="l"/>
              <a:pathLst>
                <a:path h="1253109" w="21979510">
                  <a:moveTo>
                    <a:pt x="0" y="200533"/>
                  </a:moveTo>
                  <a:cubicBezTo>
                    <a:pt x="0" y="89789"/>
                    <a:pt x="89789" y="0"/>
                    <a:pt x="200533" y="0"/>
                  </a:cubicBezTo>
                  <a:lnTo>
                    <a:pt x="21778976" y="0"/>
                  </a:lnTo>
                  <a:cubicBezTo>
                    <a:pt x="21889720" y="0"/>
                    <a:pt x="21979510" y="89789"/>
                    <a:pt x="21979510" y="200533"/>
                  </a:cubicBezTo>
                  <a:lnTo>
                    <a:pt x="21979510" y="1052576"/>
                  </a:lnTo>
                  <a:cubicBezTo>
                    <a:pt x="21979510" y="1163320"/>
                    <a:pt x="21889720" y="1253109"/>
                    <a:pt x="21778976" y="1253109"/>
                  </a:cubicBezTo>
                  <a:lnTo>
                    <a:pt x="200533" y="1253109"/>
                  </a:lnTo>
                  <a:cubicBezTo>
                    <a:pt x="89789" y="1253109"/>
                    <a:pt x="0" y="1163320"/>
                    <a:pt x="0" y="1052576"/>
                  </a:cubicBezTo>
                  <a:close/>
                </a:path>
              </a:pathLst>
            </a:custGeom>
            <a:solidFill>
              <a:srgbClr val="FFFFFF"/>
            </a:solidFill>
            <a:ln w="25400" cap="sq">
              <a:solidFill>
                <a:srgbClr val="FFFFFF"/>
              </a:solidFill>
              <a:prstDash val="solid"/>
              <a:miter/>
            </a:ln>
          </p:spPr>
        </p:sp>
      </p:grpSp>
      <p:grpSp>
        <p:nvGrpSpPr>
          <p:cNvPr name="Group 24" id="24"/>
          <p:cNvGrpSpPr/>
          <p:nvPr/>
        </p:nvGrpSpPr>
        <p:grpSpPr>
          <a:xfrm rot="0">
            <a:off x="1084583" y="3096263"/>
            <a:ext cx="574043" cy="574043"/>
            <a:chOff x="0" y="0"/>
            <a:chExt cx="765391" cy="765391"/>
          </a:xfrm>
        </p:grpSpPr>
        <p:sp>
          <p:nvSpPr>
            <p:cNvPr name="Freeform 25" id="25"/>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26" id="26"/>
          <p:cNvGrpSpPr/>
          <p:nvPr/>
        </p:nvGrpSpPr>
        <p:grpSpPr>
          <a:xfrm rot="0">
            <a:off x="1097280" y="3108960"/>
            <a:ext cx="548640" cy="548640"/>
            <a:chOff x="0" y="0"/>
            <a:chExt cx="731520" cy="731520"/>
          </a:xfrm>
        </p:grpSpPr>
        <p:sp>
          <p:nvSpPr>
            <p:cNvPr name="Freeform 27" id="2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28" id="28"/>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a:t>
              </a:r>
            </a:p>
          </p:txBody>
        </p:sp>
      </p:grpSp>
      <p:grpSp>
        <p:nvGrpSpPr>
          <p:cNvPr name="Group 29" id="29"/>
          <p:cNvGrpSpPr/>
          <p:nvPr/>
        </p:nvGrpSpPr>
        <p:grpSpPr>
          <a:xfrm rot="0">
            <a:off x="1792224" y="2926080"/>
            <a:ext cx="3840480" cy="914400"/>
            <a:chOff x="0" y="0"/>
            <a:chExt cx="5120640" cy="1219200"/>
          </a:xfrm>
        </p:grpSpPr>
        <p:sp>
          <p:nvSpPr>
            <p:cNvPr name="Freeform 30" id="30"/>
            <p:cNvSpPr/>
            <p:nvPr/>
          </p:nvSpPr>
          <p:spPr>
            <a:xfrm flipH="false" flipV="false" rot="0">
              <a:off x="0" y="0"/>
              <a:ext cx="5120640" cy="1219200"/>
            </a:xfrm>
            <a:custGeom>
              <a:avLst/>
              <a:gdLst/>
              <a:ahLst/>
              <a:cxnLst/>
              <a:rect r="r" b="b" t="t" l="l"/>
              <a:pathLst>
                <a:path h="1219200" w="5120640">
                  <a:moveTo>
                    <a:pt x="0" y="0"/>
                  </a:moveTo>
                  <a:lnTo>
                    <a:pt x="5120640" y="0"/>
                  </a:lnTo>
                  <a:lnTo>
                    <a:pt x="5120640" y="1219200"/>
                  </a:lnTo>
                  <a:lnTo>
                    <a:pt x="0" y="1219200"/>
                  </a:lnTo>
                  <a:close/>
                </a:path>
              </a:pathLst>
            </a:custGeom>
            <a:blipFill>
              <a:blip r:embed="rId3">
                <a:alphaModFix amt="0"/>
              </a:blip>
              <a:stretch>
                <a:fillRect l="0" t="-31837" r="0" b="-31837"/>
              </a:stretch>
            </a:blipFill>
          </p:spPr>
        </p:sp>
        <p:sp>
          <p:nvSpPr>
            <p:cNvPr name="TextBox 31" id="31"/>
            <p:cNvSpPr txBox="true"/>
            <p:nvPr/>
          </p:nvSpPr>
          <p:spPr>
            <a:xfrm>
              <a:off x="0" y="-38100"/>
              <a:ext cx="5120640" cy="1257300"/>
            </a:xfrm>
            <a:prstGeom prst="rect">
              <a:avLst/>
            </a:prstGeom>
          </p:spPr>
          <p:txBody>
            <a:bodyPr anchor="ctr" rtlCol="false" tIns="0" lIns="0" bIns="0" rIns="0"/>
            <a:lstStyle/>
            <a:p>
              <a:pPr algn="l">
                <a:lnSpc>
                  <a:spcPts val="2040"/>
                </a:lnSpc>
              </a:pPr>
              <a:r>
                <a:rPr lang="en-US" sz="1700" b="true">
                  <a:solidFill>
                    <a:srgbClr val="1F332F"/>
                  </a:solidFill>
                  <a:latin typeface="Calibri (MS) Bold"/>
                  <a:ea typeface="Calibri (MS) Bold"/>
                  <a:cs typeface="Calibri (MS) Bold"/>
                  <a:sym typeface="Calibri (MS) Bold"/>
                </a:rPr>
                <a:t>Insert a trip and book a seat</a:t>
              </a:r>
            </a:p>
          </p:txBody>
        </p:sp>
      </p:grpSp>
      <p:grpSp>
        <p:nvGrpSpPr>
          <p:cNvPr name="Group 32" id="32"/>
          <p:cNvGrpSpPr/>
          <p:nvPr/>
        </p:nvGrpSpPr>
        <p:grpSpPr>
          <a:xfrm rot="0">
            <a:off x="5669280" y="2926080"/>
            <a:ext cx="5120640" cy="914400"/>
            <a:chOff x="0" y="0"/>
            <a:chExt cx="6827520" cy="1219200"/>
          </a:xfrm>
        </p:grpSpPr>
        <p:sp>
          <p:nvSpPr>
            <p:cNvPr name="Freeform 33" id="33"/>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34" id="34"/>
            <p:cNvSpPr txBox="true"/>
            <p:nvPr/>
          </p:nvSpPr>
          <p:spPr>
            <a:xfrm>
              <a:off x="0" y="-38100"/>
              <a:ext cx="6827520" cy="1257300"/>
            </a:xfrm>
            <a:prstGeom prst="rect">
              <a:avLst/>
            </a:prstGeom>
          </p:spPr>
          <p:txBody>
            <a:bodyPr anchor="ctr" rtlCol="false" tIns="0" lIns="0" bIns="0" rIns="0"/>
            <a:lstStyle/>
            <a:p>
              <a:pPr algn="l">
                <a:lnSpc>
                  <a:spcPts val="1919"/>
                </a:lnSpc>
              </a:pPr>
              <a:r>
                <a:rPr lang="en-US" sz="1599">
                  <a:solidFill>
                    <a:srgbClr val="1F332F"/>
                  </a:solidFill>
                  <a:latin typeface="Consolas"/>
                  <a:ea typeface="Consolas"/>
                  <a:cs typeface="Consolas"/>
                  <a:sym typeface="Consolas"/>
                </a:rPr>
                <a:t>INSERT INTO trip / booking</a:t>
              </a:r>
            </a:p>
          </p:txBody>
        </p:sp>
      </p:grpSp>
      <p:grpSp>
        <p:nvGrpSpPr>
          <p:cNvPr name="Group 35" id="35"/>
          <p:cNvGrpSpPr/>
          <p:nvPr/>
        </p:nvGrpSpPr>
        <p:grpSpPr>
          <a:xfrm rot="0">
            <a:off x="10972800" y="2926080"/>
            <a:ext cx="6217920" cy="914400"/>
            <a:chOff x="0" y="0"/>
            <a:chExt cx="8290560" cy="1219200"/>
          </a:xfrm>
        </p:grpSpPr>
        <p:sp>
          <p:nvSpPr>
            <p:cNvPr name="Freeform 36" id="36"/>
            <p:cNvSpPr/>
            <p:nvPr/>
          </p:nvSpPr>
          <p:spPr>
            <a:xfrm flipH="false" flipV="false" rot="0">
              <a:off x="0" y="0"/>
              <a:ext cx="8290560" cy="1219200"/>
            </a:xfrm>
            <a:custGeom>
              <a:avLst/>
              <a:gdLst/>
              <a:ahLst/>
              <a:cxnLst/>
              <a:rect r="r" b="b" t="t" l="l"/>
              <a:pathLst>
                <a:path h="1219200" w="8290560">
                  <a:moveTo>
                    <a:pt x="0" y="0"/>
                  </a:moveTo>
                  <a:lnTo>
                    <a:pt x="8290560" y="0"/>
                  </a:lnTo>
                  <a:lnTo>
                    <a:pt x="8290560" y="1219200"/>
                  </a:lnTo>
                  <a:lnTo>
                    <a:pt x="0" y="1219200"/>
                  </a:lnTo>
                  <a:close/>
                </a:path>
              </a:pathLst>
            </a:custGeom>
            <a:blipFill>
              <a:blip r:embed="rId3">
                <a:alphaModFix amt="0"/>
              </a:blip>
              <a:stretch>
                <a:fillRect l="0" t="-82498" r="0" b="-82498"/>
              </a:stretch>
            </a:blipFill>
          </p:spPr>
        </p:sp>
        <p:sp>
          <p:nvSpPr>
            <p:cNvPr name="TextBox 37" id="37"/>
            <p:cNvSpPr txBox="true"/>
            <p:nvPr/>
          </p:nvSpPr>
          <p:spPr>
            <a:xfrm>
              <a:off x="0" y="-38100"/>
              <a:ext cx="8290560" cy="1257300"/>
            </a:xfrm>
            <a:prstGeom prst="rect">
              <a:avLst/>
            </a:prstGeom>
          </p:spPr>
          <p:txBody>
            <a:bodyPr anchor="ctr" rtlCol="false" tIns="0" lIns="0" bIns="0" rIns="0"/>
            <a:lstStyle/>
            <a:p>
              <a:pPr algn="l">
                <a:lnSpc>
                  <a:spcPts val="2040"/>
                </a:lnSpc>
              </a:pPr>
              <a:r>
                <a:rPr lang="en-US" sz="1700">
                  <a:solidFill>
                    <a:srgbClr val="1F332F"/>
                  </a:solidFill>
                  <a:latin typeface="Calibri (MS)"/>
                  <a:ea typeface="Calibri (MS)"/>
                  <a:cs typeface="Calibri (MS)"/>
                  <a:sym typeface="Calibri (MS)"/>
                </a:rPr>
                <a:t>Accepted</a:t>
              </a:r>
            </a:p>
          </p:txBody>
        </p:sp>
      </p:grpSp>
      <p:grpSp>
        <p:nvGrpSpPr>
          <p:cNvPr name="Group 38" id="38"/>
          <p:cNvGrpSpPr/>
          <p:nvPr/>
        </p:nvGrpSpPr>
        <p:grpSpPr>
          <a:xfrm rot="0">
            <a:off x="901703" y="3955799"/>
            <a:ext cx="16484603" cy="939803"/>
            <a:chOff x="0" y="0"/>
            <a:chExt cx="21979471" cy="1253071"/>
          </a:xfrm>
        </p:grpSpPr>
        <p:sp>
          <p:nvSpPr>
            <p:cNvPr name="Freeform 39" id="39"/>
            <p:cNvSpPr/>
            <p:nvPr/>
          </p:nvSpPr>
          <p:spPr>
            <a:xfrm flipH="false" flipV="false" rot="0">
              <a:off x="0" y="0"/>
              <a:ext cx="21979510" cy="1253109"/>
            </a:xfrm>
            <a:custGeom>
              <a:avLst/>
              <a:gdLst/>
              <a:ahLst/>
              <a:cxnLst/>
              <a:rect r="r" b="b" t="t" l="l"/>
              <a:pathLst>
                <a:path h="1253109" w="21979510">
                  <a:moveTo>
                    <a:pt x="0" y="200533"/>
                  </a:moveTo>
                  <a:cubicBezTo>
                    <a:pt x="0" y="89789"/>
                    <a:pt x="89789" y="0"/>
                    <a:pt x="200533" y="0"/>
                  </a:cubicBezTo>
                  <a:lnTo>
                    <a:pt x="21778976" y="0"/>
                  </a:lnTo>
                  <a:cubicBezTo>
                    <a:pt x="21889720" y="0"/>
                    <a:pt x="21979510" y="89789"/>
                    <a:pt x="21979510" y="200533"/>
                  </a:cubicBezTo>
                  <a:lnTo>
                    <a:pt x="21979510" y="1052576"/>
                  </a:lnTo>
                  <a:cubicBezTo>
                    <a:pt x="21979510" y="1163320"/>
                    <a:pt x="21889720" y="1253109"/>
                    <a:pt x="21778976" y="1253109"/>
                  </a:cubicBezTo>
                  <a:lnTo>
                    <a:pt x="200533" y="1253109"/>
                  </a:lnTo>
                  <a:cubicBezTo>
                    <a:pt x="89789" y="1253109"/>
                    <a:pt x="0" y="1163320"/>
                    <a:pt x="0" y="1052576"/>
                  </a:cubicBezTo>
                  <a:close/>
                </a:path>
              </a:pathLst>
            </a:custGeom>
            <a:solidFill>
              <a:srgbClr val="FFFFFF"/>
            </a:solidFill>
            <a:ln w="25400" cap="sq">
              <a:solidFill>
                <a:srgbClr val="FFFFFF"/>
              </a:solidFill>
              <a:prstDash val="solid"/>
              <a:miter/>
            </a:ln>
          </p:spPr>
        </p:sp>
      </p:grpSp>
      <p:grpSp>
        <p:nvGrpSpPr>
          <p:cNvPr name="Group 40" id="40"/>
          <p:cNvGrpSpPr/>
          <p:nvPr/>
        </p:nvGrpSpPr>
        <p:grpSpPr>
          <a:xfrm rot="0">
            <a:off x="1084583" y="4138679"/>
            <a:ext cx="574043" cy="574043"/>
            <a:chOff x="0" y="0"/>
            <a:chExt cx="765391" cy="765391"/>
          </a:xfrm>
        </p:grpSpPr>
        <p:sp>
          <p:nvSpPr>
            <p:cNvPr name="Freeform 41" id="41"/>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42" id="42"/>
          <p:cNvGrpSpPr/>
          <p:nvPr/>
        </p:nvGrpSpPr>
        <p:grpSpPr>
          <a:xfrm rot="0">
            <a:off x="1097280" y="4151376"/>
            <a:ext cx="548640" cy="548640"/>
            <a:chOff x="0" y="0"/>
            <a:chExt cx="731520" cy="731520"/>
          </a:xfrm>
        </p:grpSpPr>
        <p:sp>
          <p:nvSpPr>
            <p:cNvPr name="Freeform 43" id="4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44" id="44"/>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a:t>
              </a:r>
            </a:p>
          </p:txBody>
        </p:sp>
      </p:grpSp>
      <p:grpSp>
        <p:nvGrpSpPr>
          <p:cNvPr name="Group 45" id="45"/>
          <p:cNvGrpSpPr/>
          <p:nvPr/>
        </p:nvGrpSpPr>
        <p:grpSpPr>
          <a:xfrm rot="0">
            <a:off x="1792224" y="3968496"/>
            <a:ext cx="3840480" cy="914400"/>
            <a:chOff x="0" y="0"/>
            <a:chExt cx="5120640" cy="1219200"/>
          </a:xfrm>
        </p:grpSpPr>
        <p:sp>
          <p:nvSpPr>
            <p:cNvPr name="Freeform 46" id="46"/>
            <p:cNvSpPr/>
            <p:nvPr/>
          </p:nvSpPr>
          <p:spPr>
            <a:xfrm flipH="false" flipV="false" rot="0">
              <a:off x="0" y="0"/>
              <a:ext cx="5120640" cy="1219200"/>
            </a:xfrm>
            <a:custGeom>
              <a:avLst/>
              <a:gdLst/>
              <a:ahLst/>
              <a:cxnLst/>
              <a:rect r="r" b="b" t="t" l="l"/>
              <a:pathLst>
                <a:path h="1219200" w="5120640">
                  <a:moveTo>
                    <a:pt x="0" y="0"/>
                  </a:moveTo>
                  <a:lnTo>
                    <a:pt x="5120640" y="0"/>
                  </a:lnTo>
                  <a:lnTo>
                    <a:pt x="5120640" y="1219200"/>
                  </a:lnTo>
                  <a:lnTo>
                    <a:pt x="0" y="1219200"/>
                  </a:lnTo>
                  <a:close/>
                </a:path>
              </a:pathLst>
            </a:custGeom>
            <a:blipFill>
              <a:blip r:embed="rId3">
                <a:alphaModFix amt="0"/>
              </a:blip>
              <a:stretch>
                <a:fillRect l="0" t="-31837" r="0" b="-31837"/>
              </a:stretch>
            </a:blipFill>
          </p:spPr>
        </p:sp>
        <p:sp>
          <p:nvSpPr>
            <p:cNvPr name="TextBox 47" id="47"/>
            <p:cNvSpPr txBox="true"/>
            <p:nvPr/>
          </p:nvSpPr>
          <p:spPr>
            <a:xfrm>
              <a:off x="0" y="-38100"/>
              <a:ext cx="5120640" cy="1257300"/>
            </a:xfrm>
            <a:prstGeom prst="rect">
              <a:avLst/>
            </a:prstGeom>
          </p:spPr>
          <p:txBody>
            <a:bodyPr anchor="ctr" rtlCol="false" tIns="0" lIns="0" bIns="0" rIns="0"/>
            <a:lstStyle/>
            <a:p>
              <a:pPr algn="l">
                <a:lnSpc>
                  <a:spcPts val="2040"/>
                </a:lnSpc>
              </a:pPr>
              <a:r>
                <a:rPr lang="en-US" sz="1700" b="true">
                  <a:solidFill>
                    <a:srgbClr val="1F332F"/>
                  </a:solidFill>
                  <a:latin typeface="Calibri (MS) Bold"/>
                  <a:ea typeface="Calibri (MS) Bold"/>
                  <a:cs typeface="Calibri (MS) Bold"/>
                  <a:sym typeface="Calibri (MS) Bold"/>
                </a:rPr>
                <a:t>Book the same seat again</a:t>
              </a:r>
            </a:p>
          </p:txBody>
        </p:sp>
      </p:grpSp>
      <p:grpSp>
        <p:nvGrpSpPr>
          <p:cNvPr name="Group 48" id="48"/>
          <p:cNvGrpSpPr/>
          <p:nvPr/>
        </p:nvGrpSpPr>
        <p:grpSpPr>
          <a:xfrm rot="0">
            <a:off x="5669280" y="3968496"/>
            <a:ext cx="5120640" cy="914400"/>
            <a:chOff x="0" y="0"/>
            <a:chExt cx="6827520" cy="1219200"/>
          </a:xfrm>
        </p:grpSpPr>
        <p:sp>
          <p:nvSpPr>
            <p:cNvPr name="Freeform 49" id="49"/>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50" id="50"/>
            <p:cNvSpPr txBox="true"/>
            <p:nvPr/>
          </p:nvSpPr>
          <p:spPr>
            <a:xfrm>
              <a:off x="0" y="-38100"/>
              <a:ext cx="6827520" cy="1257300"/>
            </a:xfrm>
            <a:prstGeom prst="rect">
              <a:avLst/>
            </a:prstGeom>
          </p:spPr>
          <p:txBody>
            <a:bodyPr anchor="ctr" rtlCol="false" tIns="0" lIns="0" bIns="0" rIns="0"/>
            <a:lstStyle/>
            <a:p>
              <a:pPr algn="l">
                <a:lnSpc>
                  <a:spcPts val="1919"/>
                </a:lnSpc>
              </a:pPr>
              <a:r>
                <a:rPr lang="en-US" sz="1599">
                  <a:solidFill>
                    <a:srgbClr val="1F332F"/>
                  </a:solidFill>
                  <a:latin typeface="Consolas"/>
                  <a:ea typeface="Consolas"/>
                  <a:cs typeface="Consolas"/>
                  <a:sym typeface="Consolas"/>
                </a:rPr>
                <a:t>INSERT INTO booking (same seat)</a:t>
              </a:r>
            </a:p>
          </p:txBody>
        </p:sp>
      </p:grpSp>
      <p:grpSp>
        <p:nvGrpSpPr>
          <p:cNvPr name="Group 51" id="51"/>
          <p:cNvGrpSpPr/>
          <p:nvPr/>
        </p:nvGrpSpPr>
        <p:grpSpPr>
          <a:xfrm rot="0">
            <a:off x="10972800" y="3968496"/>
            <a:ext cx="6217920" cy="914400"/>
            <a:chOff x="0" y="0"/>
            <a:chExt cx="8290560" cy="1219200"/>
          </a:xfrm>
        </p:grpSpPr>
        <p:sp>
          <p:nvSpPr>
            <p:cNvPr name="Freeform 52" id="52"/>
            <p:cNvSpPr/>
            <p:nvPr/>
          </p:nvSpPr>
          <p:spPr>
            <a:xfrm flipH="false" flipV="false" rot="0">
              <a:off x="0" y="0"/>
              <a:ext cx="8290560" cy="1219200"/>
            </a:xfrm>
            <a:custGeom>
              <a:avLst/>
              <a:gdLst/>
              <a:ahLst/>
              <a:cxnLst/>
              <a:rect r="r" b="b" t="t" l="l"/>
              <a:pathLst>
                <a:path h="1219200" w="8290560">
                  <a:moveTo>
                    <a:pt x="0" y="0"/>
                  </a:moveTo>
                  <a:lnTo>
                    <a:pt x="8290560" y="0"/>
                  </a:lnTo>
                  <a:lnTo>
                    <a:pt x="8290560" y="1219200"/>
                  </a:lnTo>
                  <a:lnTo>
                    <a:pt x="0" y="1219200"/>
                  </a:lnTo>
                  <a:close/>
                </a:path>
              </a:pathLst>
            </a:custGeom>
            <a:blipFill>
              <a:blip r:embed="rId3">
                <a:alphaModFix amt="0"/>
              </a:blip>
              <a:stretch>
                <a:fillRect l="0" t="-82498" r="0" b="-82498"/>
              </a:stretch>
            </a:blipFill>
          </p:spPr>
        </p:sp>
        <p:sp>
          <p:nvSpPr>
            <p:cNvPr name="TextBox 53" id="53"/>
            <p:cNvSpPr txBox="true"/>
            <p:nvPr/>
          </p:nvSpPr>
          <p:spPr>
            <a:xfrm>
              <a:off x="0" y="-38100"/>
              <a:ext cx="8290560" cy="1257300"/>
            </a:xfrm>
            <a:prstGeom prst="rect">
              <a:avLst/>
            </a:prstGeom>
          </p:spPr>
          <p:txBody>
            <a:bodyPr anchor="ctr" rtlCol="false" tIns="0" lIns="0" bIns="0" rIns="0"/>
            <a:lstStyle/>
            <a:p>
              <a:pPr algn="l">
                <a:lnSpc>
                  <a:spcPts val="2040"/>
                </a:lnSpc>
              </a:pPr>
              <a:r>
                <a:rPr lang="en-US" sz="1700">
                  <a:solidFill>
                    <a:srgbClr val="1F332F"/>
                  </a:solidFill>
                  <a:latin typeface="Calibri (MS)"/>
                  <a:ea typeface="Calibri (MS)"/>
                  <a:cs typeface="Calibri (MS)"/>
                  <a:sym typeface="Calibri (MS)"/>
                </a:rPr>
                <a:t>Rejected: duplicate entry</a:t>
              </a:r>
            </a:p>
          </p:txBody>
        </p:sp>
      </p:grpSp>
      <p:grpSp>
        <p:nvGrpSpPr>
          <p:cNvPr name="Group 54" id="54"/>
          <p:cNvGrpSpPr/>
          <p:nvPr/>
        </p:nvGrpSpPr>
        <p:grpSpPr>
          <a:xfrm rot="0">
            <a:off x="901703" y="4998215"/>
            <a:ext cx="16484603" cy="939803"/>
            <a:chOff x="0" y="0"/>
            <a:chExt cx="21979471" cy="1253071"/>
          </a:xfrm>
        </p:grpSpPr>
        <p:sp>
          <p:nvSpPr>
            <p:cNvPr name="Freeform 55" id="55"/>
            <p:cNvSpPr/>
            <p:nvPr/>
          </p:nvSpPr>
          <p:spPr>
            <a:xfrm flipH="false" flipV="false" rot="0">
              <a:off x="0" y="0"/>
              <a:ext cx="21979510" cy="1253109"/>
            </a:xfrm>
            <a:custGeom>
              <a:avLst/>
              <a:gdLst/>
              <a:ahLst/>
              <a:cxnLst/>
              <a:rect r="r" b="b" t="t" l="l"/>
              <a:pathLst>
                <a:path h="1253109" w="21979510">
                  <a:moveTo>
                    <a:pt x="0" y="200533"/>
                  </a:moveTo>
                  <a:cubicBezTo>
                    <a:pt x="0" y="89789"/>
                    <a:pt x="89789" y="0"/>
                    <a:pt x="200533" y="0"/>
                  </a:cubicBezTo>
                  <a:lnTo>
                    <a:pt x="21778976" y="0"/>
                  </a:lnTo>
                  <a:cubicBezTo>
                    <a:pt x="21889720" y="0"/>
                    <a:pt x="21979510" y="89789"/>
                    <a:pt x="21979510" y="200533"/>
                  </a:cubicBezTo>
                  <a:lnTo>
                    <a:pt x="21979510" y="1052576"/>
                  </a:lnTo>
                  <a:cubicBezTo>
                    <a:pt x="21979510" y="1163320"/>
                    <a:pt x="21889720" y="1253109"/>
                    <a:pt x="21778976" y="1253109"/>
                  </a:cubicBezTo>
                  <a:lnTo>
                    <a:pt x="200533" y="1253109"/>
                  </a:lnTo>
                  <a:cubicBezTo>
                    <a:pt x="89789" y="1253109"/>
                    <a:pt x="0" y="1163320"/>
                    <a:pt x="0" y="1052576"/>
                  </a:cubicBezTo>
                  <a:close/>
                </a:path>
              </a:pathLst>
            </a:custGeom>
            <a:solidFill>
              <a:srgbClr val="FFFFFF"/>
            </a:solidFill>
            <a:ln w="25400" cap="sq">
              <a:solidFill>
                <a:srgbClr val="FFFFFF"/>
              </a:solidFill>
              <a:prstDash val="solid"/>
              <a:miter/>
            </a:ln>
          </p:spPr>
        </p:sp>
      </p:grpSp>
      <p:grpSp>
        <p:nvGrpSpPr>
          <p:cNvPr name="Group 56" id="56"/>
          <p:cNvGrpSpPr/>
          <p:nvPr/>
        </p:nvGrpSpPr>
        <p:grpSpPr>
          <a:xfrm rot="0">
            <a:off x="1084583" y="5181095"/>
            <a:ext cx="574043" cy="574043"/>
            <a:chOff x="0" y="0"/>
            <a:chExt cx="765391" cy="765391"/>
          </a:xfrm>
        </p:grpSpPr>
        <p:sp>
          <p:nvSpPr>
            <p:cNvPr name="Freeform 57" id="57"/>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58" id="58"/>
          <p:cNvGrpSpPr/>
          <p:nvPr/>
        </p:nvGrpSpPr>
        <p:grpSpPr>
          <a:xfrm rot="0">
            <a:off x="1097280" y="5193792"/>
            <a:ext cx="548640" cy="548640"/>
            <a:chOff x="0" y="0"/>
            <a:chExt cx="731520" cy="731520"/>
          </a:xfrm>
        </p:grpSpPr>
        <p:sp>
          <p:nvSpPr>
            <p:cNvPr name="Freeform 59" id="59"/>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60" id="60"/>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3</a:t>
              </a:r>
            </a:p>
          </p:txBody>
        </p:sp>
      </p:grpSp>
      <p:grpSp>
        <p:nvGrpSpPr>
          <p:cNvPr name="Group 61" id="61"/>
          <p:cNvGrpSpPr/>
          <p:nvPr/>
        </p:nvGrpSpPr>
        <p:grpSpPr>
          <a:xfrm rot="0">
            <a:off x="1792224" y="5010912"/>
            <a:ext cx="3840480" cy="914400"/>
            <a:chOff x="0" y="0"/>
            <a:chExt cx="5120640" cy="1219200"/>
          </a:xfrm>
        </p:grpSpPr>
        <p:sp>
          <p:nvSpPr>
            <p:cNvPr name="Freeform 62" id="62"/>
            <p:cNvSpPr/>
            <p:nvPr/>
          </p:nvSpPr>
          <p:spPr>
            <a:xfrm flipH="false" flipV="false" rot="0">
              <a:off x="0" y="0"/>
              <a:ext cx="5120640" cy="1219200"/>
            </a:xfrm>
            <a:custGeom>
              <a:avLst/>
              <a:gdLst/>
              <a:ahLst/>
              <a:cxnLst/>
              <a:rect r="r" b="b" t="t" l="l"/>
              <a:pathLst>
                <a:path h="1219200" w="5120640">
                  <a:moveTo>
                    <a:pt x="0" y="0"/>
                  </a:moveTo>
                  <a:lnTo>
                    <a:pt x="5120640" y="0"/>
                  </a:lnTo>
                  <a:lnTo>
                    <a:pt x="5120640" y="1219200"/>
                  </a:lnTo>
                  <a:lnTo>
                    <a:pt x="0" y="1219200"/>
                  </a:lnTo>
                  <a:close/>
                </a:path>
              </a:pathLst>
            </a:custGeom>
            <a:blipFill>
              <a:blip r:embed="rId3">
                <a:alphaModFix amt="0"/>
              </a:blip>
              <a:stretch>
                <a:fillRect l="0" t="-31837" r="0" b="-31837"/>
              </a:stretch>
            </a:blipFill>
          </p:spPr>
        </p:sp>
        <p:sp>
          <p:nvSpPr>
            <p:cNvPr name="TextBox 63" id="63"/>
            <p:cNvSpPr txBox="true"/>
            <p:nvPr/>
          </p:nvSpPr>
          <p:spPr>
            <a:xfrm>
              <a:off x="0" y="-38100"/>
              <a:ext cx="5120640" cy="1257300"/>
            </a:xfrm>
            <a:prstGeom prst="rect">
              <a:avLst/>
            </a:prstGeom>
          </p:spPr>
          <p:txBody>
            <a:bodyPr anchor="ctr" rtlCol="false" tIns="0" lIns="0" bIns="0" rIns="0"/>
            <a:lstStyle/>
            <a:p>
              <a:pPr algn="l">
                <a:lnSpc>
                  <a:spcPts val="2040"/>
                </a:lnSpc>
              </a:pPr>
              <a:r>
                <a:rPr lang="en-US" sz="1700" b="true">
                  <a:solidFill>
                    <a:srgbClr val="1F332F"/>
                  </a:solidFill>
                  <a:latin typeface="Calibri (MS) Bold"/>
                  <a:ea typeface="Calibri (MS) Bold"/>
                  <a:cs typeface="Calibri (MS) Bold"/>
                  <a:sym typeface="Calibri (MS) Bold"/>
                </a:rPr>
                <a:t>Overlapping trip for a driver</a:t>
              </a:r>
            </a:p>
          </p:txBody>
        </p:sp>
      </p:grpSp>
      <p:grpSp>
        <p:nvGrpSpPr>
          <p:cNvPr name="Group 64" id="64"/>
          <p:cNvGrpSpPr/>
          <p:nvPr/>
        </p:nvGrpSpPr>
        <p:grpSpPr>
          <a:xfrm rot="0">
            <a:off x="5669280" y="5010912"/>
            <a:ext cx="5120640" cy="914400"/>
            <a:chOff x="0" y="0"/>
            <a:chExt cx="6827520" cy="1219200"/>
          </a:xfrm>
        </p:grpSpPr>
        <p:sp>
          <p:nvSpPr>
            <p:cNvPr name="Freeform 65" id="65"/>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66" id="66"/>
            <p:cNvSpPr txBox="true"/>
            <p:nvPr/>
          </p:nvSpPr>
          <p:spPr>
            <a:xfrm>
              <a:off x="0" y="-38100"/>
              <a:ext cx="6827520" cy="1257300"/>
            </a:xfrm>
            <a:prstGeom prst="rect">
              <a:avLst/>
            </a:prstGeom>
          </p:spPr>
          <p:txBody>
            <a:bodyPr anchor="ctr" rtlCol="false" tIns="0" lIns="0" bIns="0" rIns="0"/>
            <a:lstStyle/>
            <a:p>
              <a:pPr algn="l">
                <a:lnSpc>
                  <a:spcPts val="1919"/>
                </a:lnSpc>
              </a:pPr>
              <a:r>
                <a:rPr lang="en-US" sz="1599">
                  <a:solidFill>
                    <a:srgbClr val="1F332F"/>
                  </a:solidFill>
                  <a:latin typeface="Consolas"/>
                  <a:ea typeface="Consolas"/>
                  <a:cs typeface="Consolas"/>
                  <a:sym typeface="Consolas"/>
                </a:rPr>
                <a:t>INSERT INTO trip (same driver, same time)</a:t>
              </a:r>
            </a:p>
          </p:txBody>
        </p:sp>
      </p:grpSp>
      <p:grpSp>
        <p:nvGrpSpPr>
          <p:cNvPr name="Group 67" id="67"/>
          <p:cNvGrpSpPr/>
          <p:nvPr/>
        </p:nvGrpSpPr>
        <p:grpSpPr>
          <a:xfrm rot="0">
            <a:off x="10972800" y="5010912"/>
            <a:ext cx="6217920" cy="914400"/>
            <a:chOff x="0" y="0"/>
            <a:chExt cx="8290560" cy="1219200"/>
          </a:xfrm>
        </p:grpSpPr>
        <p:sp>
          <p:nvSpPr>
            <p:cNvPr name="Freeform 68" id="68"/>
            <p:cNvSpPr/>
            <p:nvPr/>
          </p:nvSpPr>
          <p:spPr>
            <a:xfrm flipH="false" flipV="false" rot="0">
              <a:off x="0" y="0"/>
              <a:ext cx="8290560" cy="1219200"/>
            </a:xfrm>
            <a:custGeom>
              <a:avLst/>
              <a:gdLst/>
              <a:ahLst/>
              <a:cxnLst/>
              <a:rect r="r" b="b" t="t" l="l"/>
              <a:pathLst>
                <a:path h="1219200" w="8290560">
                  <a:moveTo>
                    <a:pt x="0" y="0"/>
                  </a:moveTo>
                  <a:lnTo>
                    <a:pt x="8290560" y="0"/>
                  </a:lnTo>
                  <a:lnTo>
                    <a:pt x="8290560" y="1219200"/>
                  </a:lnTo>
                  <a:lnTo>
                    <a:pt x="0" y="1219200"/>
                  </a:lnTo>
                  <a:close/>
                </a:path>
              </a:pathLst>
            </a:custGeom>
            <a:blipFill>
              <a:blip r:embed="rId3">
                <a:alphaModFix amt="0"/>
              </a:blip>
              <a:stretch>
                <a:fillRect l="0" t="-82498" r="0" b="-82498"/>
              </a:stretch>
            </a:blipFill>
          </p:spPr>
        </p:sp>
        <p:sp>
          <p:nvSpPr>
            <p:cNvPr name="TextBox 69" id="69"/>
            <p:cNvSpPr txBox="true"/>
            <p:nvPr/>
          </p:nvSpPr>
          <p:spPr>
            <a:xfrm>
              <a:off x="0" y="-38100"/>
              <a:ext cx="8290560" cy="1257300"/>
            </a:xfrm>
            <a:prstGeom prst="rect">
              <a:avLst/>
            </a:prstGeom>
          </p:spPr>
          <p:txBody>
            <a:bodyPr anchor="ctr" rtlCol="false" tIns="0" lIns="0" bIns="0" rIns="0"/>
            <a:lstStyle/>
            <a:p>
              <a:pPr algn="l">
                <a:lnSpc>
                  <a:spcPts val="2040"/>
                </a:lnSpc>
              </a:pPr>
              <a:r>
                <a:rPr lang="en-US" sz="1700">
                  <a:solidFill>
                    <a:srgbClr val="1F332F"/>
                  </a:solidFill>
                  <a:latin typeface="Calibri (MS)"/>
                  <a:ea typeface="Calibri (MS)"/>
                  <a:cs typeface="Calibri (MS)"/>
                  <a:sym typeface="Calibri (MS)"/>
                </a:rPr>
                <a:t>Rejected: Driver already has an overlapping trip</a:t>
              </a:r>
            </a:p>
          </p:txBody>
        </p:sp>
      </p:grpSp>
      <p:grpSp>
        <p:nvGrpSpPr>
          <p:cNvPr name="Group 70" id="70"/>
          <p:cNvGrpSpPr/>
          <p:nvPr/>
        </p:nvGrpSpPr>
        <p:grpSpPr>
          <a:xfrm rot="0">
            <a:off x="901703" y="6040631"/>
            <a:ext cx="16484603" cy="939803"/>
            <a:chOff x="0" y="0"/>
            <a:chExt cx="21979471" cy="1253071"/>
          </a:xfrm>
        </p:grpSpPr>
        <p:sp>
          <p:nvSpPr>
            <p:cNvPr name="Freeform 71" id="71"/>
            <p:cNvSpPr/>
            <p:nvPr/>
          </p:nvSpPr>
          <p:spPr>
            <a:xfrm flipH="false" flipV="false" rot="0">
              <a:off x="0" y="0"/>
              <a:ext cx="21979510" cy="1253109"/>
            </a:xfrm>
            <a:custGeom>
              <a:avLst/>
              <a:gdLst/>
              <a:ahLst/>
              <a:cxnLst/>
              <a:rect r="r" b="b" t="t" l="l"/>
              <a:pathLst>
                <a:path h="1253109" w="21979510">
                  <a:moveTo>
                    <a:pt x="0" y="200533"/>
                  </a:moveTo>
                  <a:cubicBezTo>
                    <a:pt x="0" y="89789"/>
                    <a:pt x="89789" y="0"/>
                    <a:pt x="200533" y="0"/>
                  </a:cubicBezTo>
                  <a:lnTo>
                    <a:pt x="21778976" y="0"/>
                  </a:lnTo>
                  <a:cubicBezTo>
                    <a:pt x="21889720" y="0"/>
                    <a:pt x="21979510" y="89789"/>
                    <a:pt x="21979510" y="200533"/>
                  </a:cubicBezTo>
                  <a:lnTo>
                    <a:pt x="21979510" y="1052576"/>
                  </a:lnTo>
                  <a:cubicBezTo>
                    <a:pt x="21979510" y="1163320"/>
                    <a:pt x="21889720" y="1253109"/>
                    <a:pt x="21778976" y="1253109"/>
                  </a:cubicBezTo>
                  <a:lnTo>
                    <a:pt x="200533" y="1253109"/>
                  </a:lnTo>
                  <a:cubicBezTo>
                    <a:pt x="89789" y="1253109"/>
                    <a:pt x="0" y="1163320"/>
                    <a:pt x="0" y="1052576"/>
                  </a:cubicBezTo>
                  <a:close/>
                </a:path>
              </a:pathLst>
            </a:custGeom>
            <a:solidFill>
              <a:srgbClr val="FFFFFF"/>
            </a:solidFill>
            <a:ln w="25400" cap="sq">
              <a:solidFill>
                <a:srgbClr val="FFFFFF"/>
              </a:solidFill>
              <a:prstDash val="solid"/>
              <a:miter/>
            </a:ln>
          </p:spPr>
        </p:sp>
      </p:grpSp>
      <p:grpSp>
        <p:nvGrpSpPr>
          <p:cNvPr name="Group 72" id="72"/>
          <p:cNvGrpSpPr/>
          <p:nvPr/>
        </p:nvGrpSpPr>
        <p:grpSpPr>
          <a:xfrm rot="0">
            <a:off x="1084583" y="6223511"/>
            <a:ext cx="574043" cy="574043"/>
            <a:chOff x="0" y="0"/>
            <a:chExt cx="765391" cy="765391"/>
          </a:xfrm>
        </p:grpSpPr>
        <p:sp>
          <p:nvSpPr>
            <p:cNvPr name="Freeform 73" id="73"/>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74" id="74"/>
          <p:cNvGrpSpPr/>
          <p:nvPr/>
        </p:nvGrpSpPr>
        <p:grpSpPr>
          <a:xfrm rot="0">
            <a:off x="1097280" y="6236208"/>
            <a:ext cx="548640" cy="548640"/>
            <a:chOff x="0" y="0"/>
            <a:chExt cx="731520" cy="731520"/>
          </a:xfrm>
        </p:grpSpPr>
        <p:sp>
          <p:nvSpPr>
            <p:cNvPr name="Freeform 75" id="7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76" id="76"/>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4</a:t>
              </a:r>
            </a:p>
          </p:txBody>
        </p:sp>
      </p:grpSp>
      <p:grpSp>
        <p:nvGrpSpPr>
          <p:cNvPr name="Group 77" id="77"/>
          <p:cNvGrpSpPr/>
          <p:nvPr/>
        </p:nvGrpSpPr>
        <p:grpSpPr>
          <a:xfrm rot="0">
            <a:off x="1792224" y="6053328"/>
            <a:ext cx="3840480" cy="914400"/>
            <a:chOff x="0" y="0"/>
            <a:chExt cx="5120640" cy="1219200"/>
          </a:xfrm>
        </p:grpSpPr>
        <p:sp>
          <p:nvSpPr>
            <p:cNvPr name="Freeform 78" id="78"/>
            <p:cNvSpPr/>
            <p:nvPr/>
          </p:nvSpPr>
          <p:spPr>
            <a:xfrm flipH="false" flipV="false" rot="0">
              <a:off x="0" y="0"/>
              <a:ext cx="5120640" cy="1219200"/>
            </a:xfrm>
            <a:custGeom>
              <a:avLst/>
              <a:gdLst/>
              <a:ahLst/>
              <a:cxnLst/>
              <a:rect r="r" b="b" t="t" l="l"/>
              <a:pathLst>
                <a:path h="1219200" w="5120640">
                  <a:moveTo>
                    <a:pt x="0" y="0"/>
                  </a:moveTo>
                  <a:lnTo>
                    <a:pt x="5120640" y="0"/>
                  </a:lnTo>
                  <a:lnTo>
                    <a:pt x="5120640" y="1219200"/>
                  </a:lnTo>
                  <a:lnTo>
                    <a:pt x="0" y="1219200"/>
                  </a:lnTo>
                  <a:close/>
                </a:path>
              </a:pathLst>
            </a:custGeom>
            <a:blipFill>
              <a:blip r:embed="rId3">
                <a:alphaModFix amt="0"/>
              </a:blip>
              <a:stretch>
                <a:fillRect l="0" t="-31837" r="0" b="-31837"/>
              </a:stretch>
            </a:blipFill>
          </p:spPr>
        </p:sp>
        <p:sp>
          <p:nvSpPr>
            <p:cNvPr name="TextBox 79" id="79"/>
            <p:cNvSpPr txBox="true"/>
            <p:nvPr/>
          </p:nvSpPr>
          <p:spPr>
            <a:xfrm>
              <a:off x="0" y="-38100"/>
              <a:ext cx="5120640" cy="1257300"/>
            </a:xfrm>
            <a:prstGeom prst="rect">
              <a:avLst/>
            </a:prstGeom>
          </p:spPr>
          <p:txBody>
            <a:bodyPr anchor="ctr" rtlCol="false" tIns="0" lIns="0" bIns="0" rIns="0"/>
            <a:lstStyle/>
            <a:p>
              <a:pPr algn="l">
                <a:lnSpc>
                  <a:spcPts val="2040"/>
                </a:lnSpc>
              </a:pPr>
              <a:r>
                <a:rPr lang="en-US" sz="1700" b="true">
                  <a:solidFill>
                    <a:srgbClr val="1F332F"/>
                  </a:solidFill>
                  <a:latin typeface="Calibri (MS) Bold"/>
                  <a:ea typeface="Calibri (MS) Bold"/>
                  <a:cs typeface="Calibri (MS) Bold"/>
                  <a:sym typeface="Calibri (MS) Bold"/>
                </a:rPr>
                <a:t>Pay a wrong amount</a:t>
              </a:r>
            </a:p>
          </p:txBody>
        </p:sp>
      </p:grpSp>
      <p:grpSp>
        <p:nvGrpSpPr>
          <p:cNvPr name="Group 80" id="80"/>
          <p:cNvGrpSpPr/>
          <p:nvPr/>
        </p:nvGrpSpPr>
        <p:grpSpPr>
          <a:xfrm rot="0">
            <a:off x="5669280" y="6053328"/>
            <a:ext cx="5120640" cy="914400"/>
            <a:chOff x="0" y="0"/>
            <a:chExt cx="6827520" cy="1219200"/>
          </a:xfrm>
        </p:grpSpPr>
        <p:sp>
          <p:nvSpPr>
            <p:cNvPr name="Freeform 81" id="81"/>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82" id="82"/>
            <p:cNvSpPr txBox="true"/>
            <p:nvPr/>
          </p:nvSpPr>
          <p:spPr>
            <a:xfrm>
              <a:off x="0" y="-38100"/>
              <a:ext cx="6827520" cy="1257300"/>
            </a:xfrm>
            <a:prstGeom prst="rect">
              <a:avLst/>
            </a:prstGeom>
          </p:spPr>
          <p:txBody>
            <a:bodyPr anchor="ctr" rtlCol="false" tIns="0" lIns="0" bIns="0" rIns="0"/>
            <a:lstStyle/>
            <a:p>
              <a:pPr algn="l">
                <a:lnSpc>
                  <a:spcPts val="1919"/>
                </a:lnSpc>
              </a:pPr>
              <a:r>
                <a:rPr lang="en-US" sz="1599">
                  <a:solidFill>
                    <a:srgbClr val="1F332F"/>
                  </a:solidFill>
                  <a:latin typeface="Consolas"/>
                  <a:ea typeface="Consolas"/>
                  <a:cs typeface="Consolas"/>
                  <a:sym typeface="Consolas"/>
                </a:rPr>
                <a:t>INSERT INTO payment (amount 100)</a:t>
              </a:r>
            </a:p>
          </p:txBody>
        </p:sp>
      </p:grpSp>
      <p:grpSp>
        <p:nvGrpSpPr>
          <p:cNvPr name="Group 83" id="83"/>
          <p:cNvGrpSpPr/>
          <p:nvPr/>
        </p:nvGrpSpPr>
        <p:grpSpPr>
          <a:xfrm rot="0">
            <a:off x="10972800" y="6053328"/>
            <a:ext cx="6217920" cy="914400"/>
            <a:chOff x="0" y="0"/>
            <a:chExt cx="8290560" cy="1219200"/>
          </a:xfrm>
        </p:grpSpPr>
        <p:sp>
          <p:nvSpPr>
            <p:cNvPr name="Freeform 84" id="84"/>
            <p:cNvSpPr/>
            <p:nvPr/>
          </p:nvSpPr>
          <p:spPr>
            <a:xfrm flipH="false" flipV="false" rot="0">
              <a:off x="0" y="0"/>
              <a:ext cx="8290560" cy="1219200"/>
            </a:xfrm>
            <a:custGeom>
              <a:avLst/>
              <a:gdLst/>
              <a:ahLst/>
              <a:cxnLst/>
              <a:rect r="r" b="b" t="t" l="l"/>
              <a:pathLst>
                <a:path h="1219200" w="8290560">
                  <a:moveTo>
                    <a:pt x="0" y="0"/>
                  </a:moveTo>
                  <a:lnTo>
                    <a:pt x="8290560" y="0"/>
                  </a:lnTo>
                  <a:lnTo>
                    <a:pt x="8290560" y="1219200"/>
                  </a:lnTo>
                  <a:lnTo>
                    <a:pt x="0" y="1219200"/>
                  </a:lnTo>
                  <a:close/>
                </a:path>
              </a:pathLst>
            </a:custGeom>
            <a:blipFill>
              <a:blip r:embed="rId3">
                <a:alphaModFix amt="0"/>
              </a:blip>
              <a:stretch>
                <a:fillRect l="0" t="-82498" r="0" b="-82498"/>
              </a:stretch>
            </a:blipFill>
          </p:spPr>
        </p:sp>
        <p:sp>
          <p:nvSpPr>
            <p:cNvPr name="TextBox 85" id="85"/>
            <p:cNvSpPr txBox="true"/>
            <p:nvPr/>
          </p:nvSpPr>
          <p:spPr>
            <a:xfrm>
              <a:off x="0" y="-38100"/>
              <a:ext cx="8290560" cy="1257300"/>
            </a:xfrm>
            <a:prstGeom prst="rect">
              <a:avLst/>
            </a:prstGeom>
          </p:spPr>
          <p:txBody>
            <a:bodyPr anchor="ctr" rtlCol="false" tIns="0" lIns="0" bIns="0" rIns="0"/>
            <a:lstStyle/>
            <a:p>
              <a:pPr algn="l">
                <a:lnSpc>
                  <a:spcPts val="2040"/>
                </a:lnSpc>
              </a:pPr>
              <a:r>
                <a:rPr lang="en-US" sz="1700">
                  <a:solidFill>
                    <a:srgbClr val="1F332F"/>
                  </a:solidFill>
                  <a:latin typeface="Calibri (MS)"/>
                  <a:ea typeface="Calibri (MS)"/>
                  <a:cs typeface="Calibri (MS)"/>
                  <a:sym typeface="Calibri (MS)"/>
                </a:rPr>
                <a:t>Rejected: Payment amount does not match the fare</a:t>
              </a:r>
            </a:p>
          </p:txBody>
        </p:sp>
      </p:grpSp>
      <p:grpSp>
        <p:nvGrpSpPr>
          <p:cNvPr name="Group 86" id="86"/>
          <p:cNvGrpSpPr/>
          <p:nvPr/>
        </p:nvGrpSpPr>
        <p:grpSpPr>
          <a:xfrm rot="0">
            <a:off x="901703" y="7083047"/>
            <a:ext cx="16484603" cy="939803"/>
            <a:chOff x="0" y="0"/>
            <a:chExt cx="21979471" cy="1253071"/>
          </a:xfrm>
        </p:grpSpPr>
        <p:sp>
          <p:nvSpPr>
            <p:cNvPr name="Freeform 87" id="87"/>
            <p:cNvSpPr/>
            <p:nvPr/>
          </p:nvSpPr>
          <p:spPr>
            <a:xfrm flipH="false" flipV="false" rot="0">
              <a:off x="0" y="0"/>
              <a:ext cx="21979510" cy="1253109"/>
            </a:xfrm>
            <a:custGeom>
              <a:avLst/>
              <a:gdLst/>
              <a:ahLst/>
              <a:cxnLst/>
              <a:rect r="r" b="b" t="t" l="l"/>
              <a:pathLst>
                <a:path h="1253109" w="21979510">
                  <a:moveTo>
                    <a:pt x="0" y="200533"/>
                  </a:moveTo>
                  <a:cubicBezTo>
                    <a:pt x="0" y="89789"/>
                    <a:pt x="89789" y="0"/>
                    <a:pt x="200533" y="0"/>
                  </a:cubicBezTo>
                  <a:lnTo>
                    <a:pt x="21778976" y="0"/>
                  </a:lnTo>
                  <a:cubicBezTo>
                    <a:pt x="21889720" y="0"/>
                    <a:pt x="21979510" y="89789"/>
                    <a:pt x="21979510" y="200533"/>
                  </a:cubicBezTo>
                  <a:lnTo>
                    <a:pt x="21979510" y="1052576"/>
                  </a:lnTo>
                  <a:cubicBezTo>
                    <a:pt x="21979510" y="1163320"/>
                    <a:pt x="21889720" y="1253109"/>
                    <a:pt x="21778976" y="1253109"/>
                  </a:cubicBezTo>
                  <a:lnTo>
                    <a:pt x="200533" y="1253109"/>
                  </a:lnTo>
                  <a:cubicBezTo>
                    <a:pt x="89789" y="1253109"/>
                    <a:pt x="0" y="1163320"/>
                    <a:pt x="0" y="1052576"/>
                  </a:cubicBezTo>
                  <a:close/>
                </a:path>
              </a:pathLst>
            </a:custGeom>
            <a:solidFill>
              <a:srgbClr val="FFFFFF"/>
            </a:solidFill>
            <a:ln w="25400" cap="sq">
              <a:solidFill>
                <a:srgbClr val="FFFFFF"/>
              </a:solidFill>
              <a:prstDash val="solid"/>
              <a:miter/>
            </a:ln>
          </p:spPr>
        </p:sp>
      </p:grpSp>
      <p:grpSp>
        <p:nvGrpSpPr>
          <p:cNvPr name="Group 88" id="88"/>
          <p:cNvGrpSpPr/>
          <p:nvPr/>
        </p:nvGrpSpPr>
        <p:grpSpPr>
          <a:xfrm rot="0">
            <a:off x="1084583" y="7265927"/>
            <a:ext cx="574043" cy="574043"/>
            <a:chOff x="0" y="0"/>
            <a:chExt cx="765391" cy="765391"/>
          </a:xfrm>
        </p:grpSpPr>
        <p:sp>
          <p:nvSpPr>
            <p:cNvPr name="Freeform 89" id="89"/>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1B4A4A"/>
            </a:solidFill>
            <a:ln w="25400" cap="sq">
              <a:solidFill>
                <a:srgbClr val="1B4A4A"/>
              </a:solidFill>
              <a:prstDash val="solid"/>
              <a:miter/>
            </a:ln>
          </p:spPr>
        </p:sp>
      </p:grpSp>
      <p:grpSp>
        <p:nvGrpSpPr>
          <p:cNvPr name="Group 90" id="90"/>
          <p:cNvGrpSpPr/>
          <p:nvPr/>
        </p:nvGrpSpPr>
        <p:grpSpPr>
          <a:xfrm rot="0">
            <a:off x="1097280" y="7278624"/>
            <a:ext cx="548640" cy="548640"/>
            <a:chOff x="0" y="0"/>
            <a:chExt cx="731520" cy="731520"/>
          </a:xfrm>
        </p:grpSpPr>
        <p:sp>
          <p:nvSpPr>
            <p:cNvPr name="Freeform 91" id="91"/>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92" id="92"/>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5</a:t>
              </a:r>
            </a:p>
          </p:txBody>
        </p:sp>
      </p:grpSp>
      <p:grpSp>
        <p:nvGrpSpPr>
          <p:cNvPr name="Group 93" id="93"/>
          <p:cNvGrpSpPr/>
          <p:nvPr/>
        </p:nvGrpSpPr>
        <p:grpSpPr>
          <a:xfrm rot="0">
            <a:off x="1792224" y="7095744"/>
            <a:ext cx="3840480" cy="914400"/>
            <a:chOff x="0" y="0"/>
            <a:chExt cx="5120640" cy="1219200"/>
          </a:xfrm>
        </p:grpSpPr>
        <p:sp>
          <p:nvSpPr>
            <p:cNvPr name="Freeform 94" id="94"/>
            <p:cNvSpPr/>
            <p:nvPr/>
          </p:nvSpPr>
          <p:spPr>
            <a:xfrm flipH="false" flipV="false" rot="0">
              <a:off x="0" y="0"/>
              <a:ext cx="5120640" cy="1219200"/>
            </a:xfrm>
            <a:custGeom>
              <a:avLst/>
              <a:gdLst/>
              <a:ahLst/>
              <a:cxnLst/>
              <a:rect r="r" b="b" t="t" l="l"/>
              <a:pathLst>
                <a:path h="1219200" w="5120640">
                  <a:moveTo>
                    <a:pt x="0" y="0"/>
                  </a:moveTo>
                  <a:lnTo>
                    <a:pt x="5120640" y="0"/>
                  </a:lnTo>
                  <a:lnTo>
                    <a:pt x="5120640" y="1219200"/>
                  </a:lnTo>
                  <a:lnTo>
                    <a:pt x="0" y="1219200"/>
                  </a:lnTo>
                  <a:close/>
                </a:path>
              </a:pathLst>
            </a:custGeom>
            <a:blipFill>
              <a:blip r:embed="rId3">
                <a:alphaModFix amt="0"/>
              </a:blip>
              <a:stretch>
                <a:fillRect l="0" t="-31837" r="0" b="-31837"/>
              </a:stretch>
            </a:blipFill>
          </p:spPr>
        </p:sp>
        <p:sp>
          <p:nvSpPr>
            <p:cNvPr name="TextBox 95" id="95"/>
            <p:cNvSpPr txBox="true"/>
            <p:nvPr/>
          </p:nvSpPr>
          <p:spPr>
            <a:xfrm>
              <a:off x="0" y="-38100"/>
              <a:ext cx="5120640" cy="1257300"/>
            </a:xfrm>
            <a:prstGeom prst="rect">
              <a:avLst/>
            </a:prstGeom>
          </p:spPr>
          <p:txBody>
            <a:bodyPr anchor="ctr" rtlCol="false" tIns="0" lIns="0" bIns="0" rIns="0"/>
            <a:lstStyle/>
            <a:p>
              <a:pPr algn="l">
                <a:lnSpc>
                  <a:spcPts val="2040"/>
                </a:lnSpc>
              </a:pPr>
              <a:r>
                <a:rPr lang="en-US" sz="1700" b="true">
                  <a:solidFill>
                    <a:srgbClr val="1F332F"/>
                  </a:solidFill>
                  <a:latin typeface="Calibri (MS) Bold"/>
                  <a:ea typeface="Calibri (MS) Bold"/>
                  <a:cs typeface="Calibri (MS) Bold"/>
                  <a:sym typeface="Calibri (MS) Bold"/>
                </a:rPr>
                <a:t>Cancel a booking</a:t>
              </a:r>
            </a:p>
          </p:txBody>
        </p:sp>
      </p:grpSp>
      <p:grpSp>
        <p:nvGrpSpPr>
          <p:cNvPr name="Group 96" id="96"/>
          <p:cNvGrpSpPr/>
          <p:nvPr/>
        </p:nvGrpSpPr>
        <p:grpSpPr>
          <a:xfrm rot="0">
            <a:off x="5669280" y="7095744"/>
            <a:ext cx="5120640" cy="914400"/>
            <a:chOff x="0" y="0"/>
            <a:chExt cx="6827520" cy="1219200"/>
          </a:xfrm>
        </p:grpSpPr>
        <p:sp>
          <p:nvSpPr>
            <p:cNvPr name="Freeform 97" id="97"/>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98" id="98"/>
            <p:cNvSpPr txBox="true"/>
            <p:nvPr/>
          </p:nvSpPr>
          <p:spPr>
            <a:xfrm>
              <a:off x="0" y="-38100"/>
              <a:ext cx="6827520" cy="1257300"/>
            </a:xfrm>
            <a:prstGeom prst="rect">
              <a:avLst/>
            </a:prstGeom>
          </p:spPr>
          <p:txBody>
            <a:bodyPr anchor="ctr" rtlCol="false" tIns="0" lIns="0" bIns="0" rIns="0"/>
            <a:lstStyle/>
            <a:p>
              <a:pPr algn="l">
                <a:lnSpc>
                  <a:spcPts val="1919"/>
                </a:lnSpc>
              </a:pPr>
              <a:r>
                <a:rPr lang="en-US" sz="1599">
                  <a:solidFill>
                    <a:srgbClr val="1F332F"/>
                  </a:solidFill>
                  <a:latin typeface="Consolas"/>
                  <a:ea typeface="Consolas"/>
                  <a:cs typeface="Consolas"/>
                  <a:sym typeface="Consolas"/>
                </a:rPr>
                <a:t>INSERT INTO cancellation (booking_id)</a:t>
              </a:r>
            </a:p>
          </p:txBody>
        </p:sp>
      </p:grpSp>
      <p:grpSp>
        <p:nvGrpSpPr>
          <p:cNvPr name="Group 99" id="99"/>
          <p:cNvGrpSpPr/>
          <p:nvPr/>
        </p:nvGrpSpPr>
        <p:grpSpPr>
          <a:xfrm rot="0">
            <a:off x="10972800" y="7095744"/>
            <a:ext cx="6217920" cy="914400"/>
            <a:chOff x="0" y="0"/>
            <a:chExt cx="8290560" cy="1219200"/>
          </a:xfrm>
        </p:grpSpPr>
        <p:sp>
          <p:nvSpPr>
            <p:cNvPr name="Freeform 100" id="100"/>
            <p:cNvSpPr/>
            <p:nvPr/>
          </p:nvSpPr>
          <p:spPr>
            <a:xfrm flipH="false" flipV="false" rot="0">
              <a:off x="0" y="0"/>
              <a:ext cx="8290560" cy="1219200"/>
            </a:xfrm>
            <a:custGeom>
              <a:avLst/>
              <a:gdLst/>
              <a:ahLst/>
              <a:cxnLst/>
              <a:rect r="r" b="b" t="t" l="l"/>
              <a:pathLst>
                <a:path h="1219200" w="8290560">
                  <a:moveTo>
                    <a:pt x="0" y="0"/>
                  </a:moveTo>
                  <a:lnTo>
                    <a:pt x="8290560" y="0"/>
                  </a:lnTo>
                  <a:lnTo>
                    <a:pt x="8290560" y="1219200"/>
                  </a:lnTo>
                  <a:lnTo>
                    <a:pt x="0" y="1219200"/>
                  </a:lnTo>
                  <a:close/>
                </a:path>
              </a:pathLst>
            </a:custGeom>
            <a:blipFill>
              <a:blip r:embed="rId3">
                <a:alphaModFix amt="0"/>
              </a:blip>
              <a:stretch>
                <a:fillRect l="0" t="-82498" r="0" b="-82498"/>
              </a:stretch>
            </a:blipFill>
          </p:spPr>
        </p:sp>
        <p:sp>
          <p:nvSpPr>
            <p:cNvPr name="TextBox 101" id="101"/>
            <p:cNvSpPr txBox="true"/>
            <p:nvPr/>
          </p:nvSpPr>
          <p:spPr>
            <a:xfrm>
              <a:off x="0" y="-38100"/>
              <a:ext cx="8290560" cy="1257300"/>
            </a:xfrm>
            <a:prstGeom prst="rect">
              <a:avLst/>
            </a:prstGeom>
          </p:spPr>
          <p:txBody>
            <a:bodyPr anchor="ctr" rtlCol="false" tIns="0" lIns="0" bIns="0" rIns="0"/>
            <a:lstStyle/>
            <a:p>
              <a:pPr algn="l">
                <a:lnSpc>
                  <a:spcPts val="2040"/>
                </a:lnSpc>
              </a:pPr>
              <a:r>
                <a:rPr lang="en-US" sz="1700">
                  <a:solidFill>
                    <a:srgbClr val="1F332F"/>
                  </a:solidFill>
                  <a:latin typeface="Calibri (MS)"/>
                  <a:ea typeface="Calibri (MS)"/>
                  <a:cs typeface="Calibri (MS)"/>
                  <a:sym typeface="Calibri (MS)"/>
                </a:rPr>
                <a:t>Refund tier applied, seat freed, payment Refunded</a:t>
              </a:r>
            </a:p>
          </p:txBody>
        </p:sp>
      </p:grpSp>
      <p:grpSp>
        <p:nvGrpSpPr>
          <p:cNvPr name="Group 102" id="102"/>
          <p:cNvGrpSpPr/>
          <p:nvPr/>
        </p:nvGrpSpPr>
        <p:grpSpPr>
          <a:xfrm rot="0">
            <a:off x="901703" y="8125463"/>
            <a:ext cx="16484603" cy="939803"/>
            <a:chOff x="0" y="0"/>
            <a:chExt cx="21979471" cy="1253071"/>
          </a:xfrm>
        </p:grpSpPr>
        <p:sp>
          <p:nvSpPr>
            <p:cNvPr name="Freeform 103" id="103"/>
            <p:cNvSpPr/>
            <p:nvPr/>
          </p:nvSpPr>
          <p:spPr>
            <a:xfrm flipH="false" flipV="false" rot="0">
              <a:off x="0" y="0"/>
              <a:ext cx="21979510" cy="1253109"/>
            </a:xfrm>
            <a:custGeom>
              <a:avLst/>
              <a:gdLst/>
              <a:ahLst/>
              <a:cxnLst/>
              <a:rect r="r" b="b" t="t" l="l"/>
              <a:pathLst>
                <a:path h="1253109" w="21979510">
                  <a:moveTo>
                    <a:pt x="0" y="200533"/>
                  </a:moveTo>
                  <a:cubicBezTo>
                    <a:pt x="0" y="89789"/>
                    <a:pt x="89789" y="0"/>
                    <a:pt x="200533" y="0"/>
                  </a:cubicBezTo>
                  <a:lnTo>
                    <a:pt x="21778976" y="0"/>
                  </a:lnTo>
                  <a:cubicBezTo>
                    <a:pt x="21889720" y="0"/>
                    <a:pt x="21979510" y="89789"/>
                    <a:pt x="21979510" y="200533"/>
                  </a:cubicBezTo>
                  <a:lnTo>
                    <a:pt x="21979510" y="1052576"/>
                  </a:lnTo>
                  <a:cubicBezTo>
                    <a:pt x="21979510" y="1163320"/>
                    <a:pt x="21889720" y="1253109"/>
                    <a:pt x="21778976" y="1253109"/>
                  </a:cubicBezTo>
                  <a:lnTo>
                    <a:pt x="200533" y="1253109"/>
                  </a:lnTo>
                  <a:cubicBezTo>
                    <a:pt x="89789" y="1253109"/>
                    <a:pt x="0" y="1163320"/>
                    <a:pt x="0" y="1052576"/>
                  </a:cubicBezTo>
                  <a:close/>
                </a:path>
              </a:pathLst>
            </a:custGeom>
            <a:solidFill>
              <a:srgbClr val="FFFFFF"/>
            </a:solidFill>
            <a:ln w="25400" cap="sq">
              <a:solidFill>
                <a:srgbClr val="FFFFFF"/>
              </a:solidFill>
              <a:prstDash val="solid"/>
              <a:miter/>
            </a:ln>
          </p:spPr>
        </p:sp>
      </p:grpSp>
      <p:grpSp>
        <p:nvGrpSpPr>
          <p:cNvPr name="Group 104" id="104"/>
          <p:cNvGrpSpPr/>
          <p:nvPr/>
        </p:nvGrpSpPr>
        <p:grpSpPr>
          <a:xfrm rot="0">
            <a:off x="1084583" y="8308343"/>
            <a:ext cx="574043" cy="574043"/>
            <a:chOff x="0" y="0"/>
            <a:chExt cx="765391" cy="765391"/>
          </a:xfrm>
        </p:grpSpPr>
        <p:sp>
          <p:nvSpPr>
            <p:cNvPr name="Freeform 105" id="105"/>
            <p:cNvSpPr/>
            <p:nvPr/>
          </p:nvSpPr>
          <p:spPr>
            <a:xfrm flipH="false" flipV="false" rot="0">
              <a:off x="0" y="0"/>
              <a:ext cx="765429" cy="765429"/>
            </a:xfrm>
            <a:custGeom>
              <a:avLst/>
              <a:gdLst/>
              <a:ahLst/>
              <a:cxnLst/>
              <a:rect r="r" b="b" t="t" l="l"/>
              <a:pathLst>
                <a:path h="765429" w="765429">
                  <a:moveTo>
                    <a:pt x="0" y="382651"/>
                  </a:moveTo>
                  <a:cubicBezTo>
                    <a:pt x="0" y="171323"/>
                    <a:pt x="171323" y="0"/>
                    <a:pt x="382651" y="0"/>
                  </a:cubicBezTo>
                  <a:cubicBezTo>
                    <a:pt x="593979" y="0"/>
                    <a:pt x="765429" y="171323"/>
                    <a:pt x="765429" y="382651"/>
                  </a:cubicBezTo>
                  <a:cubicBezTo>
                    <a:pt x="765429" y="593979"/>
                    <a:pt x="594106" y="765429"/>
                    <a:pt x="382651" y="765429"/>
                  </a:cubicBezTo>
                  <a:cubicBezTo>
                    <a:pt x="171196" y="765429"/>
                    <a:pt x="0" y="594106"/>
                    <a:pt x="0" y="382651"/>
                  </a:cubicBezTo>
                  <a:close/>
                </a:path>
              </a:pathLst>
            </a:custGeom>
            <a:solidFill>
              <a:srgbClr val="D98E3C"/>
            </a:solidFill>
            <a:ln w="25400" cap="sq">
              <a:solidFill>
                <a:srgbClr val="D98E3C"/>
              </a:solidFill>
              <a:prstDash val="solid"/>
              <a:miter/>
            </a:ln>
          </p:spPr>
        </p:sp>
      </p:grpSp>
      <p:grpSp>
        <p:nvGrpSpPr>
          <p:cNvPr name="Group 106" id="106"/>
          <p:cNvGrpSpPr/>
          <p:nvPr/>
        </p:nvGrpSpPr>
        <p:grpSpPr>
          <a:xfrm rot="0">
            <a:off x="1097280" y="8321040"/>
            <a:ext cx="548640" cy="548640"/>
            <a:chOff x="0" y="0"/>
            <a:chExt cx="731520" cy="731520"/>
          </a:xfrm>
        </p:grpSpPr>
        <p:sp>
          <p:nvSpPr>
            <p:cNvPr name="Freeform 107" id="10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3">
                <a:alphaModFix amt="0"/>
              </a:blip>
              <a:stretch>
                <a:fillRect l="-78303" t="0" r="-78303" b="0"/>
              </a:stretch>
            </a:blipFill>
          </p:spPr>
        </p:sp>
        <p:sp>
          <p:nvSpPr>
            <p:cNvPr name="TextBox 108" id="108"/>
            <p:cNvSpPr txBox="true"/>
            <p:nvPr/>
          </p:nvSpPr>
          <p:spPr>
            <a:xfrm>
              <a:off x="0" y="-38100"/>
              <a:ext cx="731520" cy="769620"/>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6</a:t>
              </a:r>
            </a:p>
          </p:txBody>
        </p:sp>
      </p:grpSp>
      <p:grpSp>
        <p:nvGrpSpPr>
          <p:cNvPr name="Group 109" id="109"/>
          <p:cNvGrpSpPr/>
          <p:nvPr/>
        </p:nvGrpSpPr>
        <p:grpSpPr>
          <a:xfrm rot="0">
            <a:off x="1792224" y="8138160"/>
            <a:ext cx="3840480" cy="914400"/>
            <a:chOff x="0" y="0"/>
            <a:chExt cx="5120640" cy="1219200"/>
          </a:xfrm>
        </p:grpSpPr>
        <p:sp>
          <p:nvSpPr>
            <p:cNvPr name="Freeform 110" id="110"/>
            <p:cNvSpPr/>
            <p:nvPr/>
          </p:nvSpPr>
          <p:spPr>
            <a:xfrm flipH="false" flipV="false" rot="0">
              <a:off x="0" y="0"/>
              <a:ext cx="5120640" cy="1219200"/>
            </a:xfrm>
            <a:custGeom>
              <a:avLst/>
              <a:gdLst/>
              <a:ahLst/>
              <a:cxnLst/>
              <a:rect r="r" b="b" t="t" l="l"/>
              <a:pathLst>
                <a:path h="1219200" w="5120640">
                  <a:moveTo>
                    <a:pt x="0" y="0"/>
                  </a:moveTo>
                  <a:lnTo>
                    <a:pt x="5120640" y="0"/>
                  </a:lnTo>
                  <a:lnTo>
                    <a:pt x="5120640" y="1219200"/>
                  </a:lnTo>
                  <a:lnTo>
                    <a:pt x="0" y="1219200"/>
                  </a:lnTo>
                  <a:close/>
                </a:path>
              </a:pathLst>
            </a:custGeom>
            <a:blipFill>
              <a:blip r:embed="rId3">
                <a:alphaModFix amt="0"/>
              </a:blip>
              <a:stretch>
                <a:fillRect l="0" t="-31837" r="0" b="-31837"/>
              </a:stretch>
            </a:blipFill>
          </p:spPr>
        </p:sp>
        <p:sp>
          <p:nvSpPr>
            <p:cNvPr name="TextBox 111" id="111"/>
            <p:cNvSpPr txBox="true"/>
            <p:nvPr/>
          </p:nvSpPr>
          <p:spPr>
            <a:xfrm>
              <a:off x="0" y="-38100"/>
              <a:ext cx="5120640" cy="1257300"/>
            </a:xfrm>
            <a:prstGeom prst="rect">
              <a:avLst/>
            </a:prstGeom>
          </p:spPr>
          <p:txBody>
            <a:bodyPr anchor="ctr" rtlCol="false" tIns="0" lIns="0" bIns="0" rIns="0"/>
            <a:lstStyle/>
            <a:p>
              <a:pPr algn="l">
                <a:lnSpc>
                  <a:spcPts val="2040"/>
                </a:lnSpc>
              </a:pPr>
              <a:r>
                <a:rPr lang="en-US" sz="1700" b="true">
                  <a:solidFill>
                    <a:srgbClr val="1F332F"/>
                  </a:solidFill>
                  <a:latin typeface="Calibri (MS) Bold"/>
                  <a:ea typeface="Calibri (MS) Bold"/>
                  <a:cs typeface="Calibri (MS) Bold"/>
                  <a:sym typeface="Calibri (MS) Bold"/>
                </a:rPr>
                <a:t>Application screens for the same steps</a:t>
              </a:r>
            </a:p>
          </p:txBody>
        </p:sp>
      </p:grpSp>
      <p:grpSp>
        <p:nvGrpSpPr>
          <p:cNvPr name="Group 112" id="112"/>
          <p:cNvGrpSpPr/>
          <p:nvPr/>
        </p:nvGrpSpPr>
        <p:grpSpPr>
          <a:xfrm rot="0">
            <a:off x="5669280" y="8138160"/>
            <a:ext cx="5120640" cy="914400"/>
            <a:chOff x="0" y="0"/>
            <a:chExt cx="6827520" cy="1219200"/>
          </a:xfrm>
        </p:grpSpPr>
        <p:sp>
          <p:nvSpPr>
            <p:cNvPr name="Freeform 113" id="113"/>
            <p:cNvSpPr/>
            <p:nvPr/>
          </p:nvSpPr>
          <p:spPr>
            <a:xfrm flipH="false" flipV="false" rot="0">
              <a:off x="0" y="0"/>
              <a:ext cx="6827520" cy="1219200"/>
            </a:xfrm>
            <a:custGeom>
              <a:avLst/>
              <a:gdLst/>
              <a:ahLst/>
              <a:cxnLst/>
              <a:rect r="r" b="b" t="t" l="l"/>
              <a:pathLst>
                <a:path h="1219200" w="6827520">
                  <a:moveTo>
                    <a:pt x="0" y="0"/>
                  </a:moveTo>
                  <a:lnTo>
                    <a:pt x="6827520" y="0"/>
                  </a:lnTo>
                  <a:lnTo>
                    <a:pt x="6827520" y="1219200"/>
                  </a:lnTo>
                  <a:lnTo>
                    <a:pt x="0" y="1219200"/>
                  </a:lnTo>
                  <a:close/>
                </a:path>
              </a:pathLst>
            </a:custGeom>
            <a:blipFill>
              <a:blip r:embed="rId3">
                <a:alphaModFix amt="0"/>
              </a:blip>
              <a:stretch>
                <a:fillRect l="0" t="-59116" r="0" b="-59116"/>
              </a:stretch>
            </a:blipFill>
          </p:spPr>
        </p:sp>
        <p:sp>
          <p:nvSpPr>
            <p:cNvPr name="TextBox 114" id="114"/>
            <p:cNvSpPr txBox="true"/>
            <p:nvPr/>
          </p:nvSpPr>
          <p:spPr>
            <a:xfrm>
              <a:off x="0" y="-38100"/>
              <a:ext cx="6827520" cy="1257300"/>
            </a:xfrm>
            <a:prstGeom prst="rect">
              <a:avLst/>
            </a:prstGeom>
          </p:spPr>
          <p:txBody>
            <a:bodyPr anchor="ctr" rtlCol="false" tIns="0" lIns="0" bIns="0" rIns="0"/>
            <a:lstStyle/>
            <a:p>
              <a:pPr algn="l">
                <a:lnSpc>
                  <a:spcPts val="1919"/>
                </a:lnSpc>
              </a:pPr>
              <a:r>
                <a:rPr lang="en-US" sz="1599">
                  <a:solidFill>
                    <a:srgbClr val="1F332F"/>
                  </a:solidFill>
                  <a:latin typeface="Consolas"/>
                  <a:ea typeface="Consolas"/>
                  <a:cs typeface="Consolas"/>
                  <a:sym typeface="Consolas"/>
                </a:rPr>
                <a:t>Python front-end</a:t>
              </a:r>
            </a:p>
          </p:txBody>
        </p:sp>
      </p:grpSp>
      <p:grpSp>
        <p:nvGrpSpPr>
          <p:cNvPr name="Group 115" id="115"/>
          <p:cNvGrpSpPr/>
          <p:nvPr/>
        </p:nvGrpSpPr>
        <p:grpSpPr>
          <a:xfrm rot="0">
            <a:off x="10972800" y="8138160"/>
            <a:ext cx="6217920" cy="914400"/>
            <a:chOff x="0" y="0"/>
            <a:chExt cx="8290560" cy="1219200"/>
          </a:xfrm>
        </p:grpSpPr>
        <p:sp>
          <p:nvSpPr>
            <p:cNvPr name="Freeform 116" id="116"/>
            <p:cNvSpPr/>
            <p:nvPr/>
          </p:nvSpPr>
          <p:spPr>
            <a:xfrm flipH="false" flipV="false" rot="0">
              <a:off x="0" y="0"/>
              <a:ext cx="8290560" cy="1219200"/>
            </a:xfrm>
            <a:custGeom>
              <a:avLst/>
              <a:gdLst/>
              <a:ahLst/>
              <a:cxnLst/>
              <a:rect r="r" b="b" t="t" l="l"/>
              <a:pathLst>
                <a:path h="1219200" w="8290560">
                  <a:moveTo>
                    <a:pt x="0" y="0"/>
                  </a:moveTo>
                  <a:lnTo>
                    <a:pt x="8290560" y="0"/>
                  </a:lnTo>
                  <a:lnTo>
                    <a:pt x="8290560" y="1219200"/>
                  </a:lnTo>
                  <a:lnTo>
                    <a:pt x="0" y="1219200"/>
                  </a:lnTo>
                  <a:close/>
                </a:path>
              </a:pathLst>
            </a:custGeom>
            <a:blipFill>
              <a:blip r:embed="rId3">
                <a:alphaModFix amt="0"/>
              </a:blip>
              <a:stretch>
                <a:fillRect l="0" t="-82498" r="0" b="-82498"/>
              </a:stretch>
            </a:blipFill>
          </p:spPr>
        </p:sp>
        <p:sp>
          <p:nvSpPr>
            <p:cNvPr name="TextBox 117" id="117"/>
            <p:cNvSpPr txBox="true"/>
            <p:nvPr/>
          </p:nvSpPr>
          <p:spPr>
            <a:xfrm>
              <a:off x="0" y="-38100"/>
              <a:ext cx="8290560" cy="1257300"/>
            </a:xfrm>
            <a:prstGeom prst="rect">
              <a:avLst/>
            </a:prstGeom>
          </p:spPr>
          <p:txBody>
            <a:bodyPr anchor="ctr" rtlCol="false" tIns="0" lIns="0" bIns="0" rIns="0"/>
            <a:lstStyle/>
            <a:p>
              <a:pPr algn="l">
                <a:lnSpc>
                  <a:spcPts val="2040"/>
                </a:lnSpc>
              </a:pPr>
              <a:r>
                <a:rPr lang="en-US" sz="1700" b="true">
                  <a:solidFill>
                    <a:srgbClr val="D98E3C"/>
                  </a:solidFill>
                  <a:latin typeface="Calibri (MS) Bold"/>
                  <a:ea typeface="Calibri (MS) Bold"/>
                  <a:cs typeface="Calibri (MS) Bold"/>
                  <a:sym typeface="Calibri (MS) Bold"/>
                </a:rPr>
                <a:t>Work in Progress</a:t>
              </a:r>
            </a:p>
          </p:txBody>
        </p:sp>
      </p:grpSp>
      <p:sp>
        <p:nvSpPr>
          <p:cNvPr name="TextBox 118" id="118"/>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EXPECTED BEHAVIOUR OF THE SYSTEM</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Testing &amp; Validation</a:t>
              </a:r>
            </a:p>
          </p:txBody>
        </p:sp>
      </p:grpSp>
      <p:grpSp>
        <p:nvGrpSpPr>
          <p:cNvPr name="Group 11" id="11"/>
          <p:cNvGrpSpPr/>
          <p:nvPr/>
        </p:nvGrpSpPr>
        <p:grpSpPr>
          <a:xfrm rot="0">
            <a:off x="901703" y="2090423"/>
            <a:ext cx="16484603" cy="647195"/>
            <a:chOff x="0" y="0"/>
            <a:chExt cx="21979471" cy="862927"/>
          </a:xfrm>
        </p:grpSpPr>
        <p:sp>
          <p:nvSpPr>
            <p:cNvPr name="Freeform 12" id="12"/>
            <p:cNvSpPr/>
            <p:nvPr/>
          </p:nvSpPr>
          <p:spPr>
            <a:xfrm flipH="false" flipV="false" rot="0">
              <a:off x="0" y="0"/>
              <a:ext cx="21979382" cy="862838"/>
            </a:xfrm>
            <a:custGeom>
              <a:avLst/>
              <a:gdLst/>
              <a:ahLst/>
              <a:cxnLst/>
              <a:rect r="r" b="b" t="t" l="l"/>
              <a:pathLst>
                <a:path h="862838" w="21979382">
                  <a:moveTo>
                    <a:pt x="0" y="126873"/>
                  </a:moveTo>
                  <a:cubicBezTo>
                    <a:pt x="0" y="56769"/>
                    <a:pt x="56769" y="0"/>
                    <a:pt x="126873" y="0"/>
                  </a:cubicBezTo>
                  <a:lnTo>
                    <a:pt x="21852510" y="0"/>
                  </a:lnTo>
                  <a:cubicBezTo>
                    <a:pt x="21922614" y="0"/>
                    <a:pt x="21979382" y="56769"/>
                    <a:pt x="21979382" y="126873"/>
                  </a:cubicBezTo>
                  <a:lnTo>
                    <a:pt x="21979382" y="735965"/>
                  </a:lnTo>
                  <a:cubicBezTo>
                    <a:pt x="21979382" y="806069"/>
                    <a:pt x="21922614" y="862838"/>
                    <a:pt x="21852510" y="862838"/>
                  </a:cubicBezTo>
                  <a:lnTo>
                    <a:pt x="126873" y="862838"/>
                  </a:lnTo>
                  <a:cubicBezTo>
                    <a:pt x="56769" y="862965"/>
                    <a:pt x="0" y="806069"/>
                    <a:pt x="0" y="735965"/>
                  </a:cubicBezTo>
                  <a:close/>
                </a:path>
              </a:pathLst>
            </a:custGeom>
            <a:solidFill>
              <a:srgbClr val="1B4A4A"/>
            </a:solidFill>
            <a:ln w="25400" cap="sq">
              <a:solidFill>
                <a:srgbClr val="1B4A4A"/>
              </a:solidFill>
              <a:prstDash val="solid"/>
              <a:miter/>
            </a:ln>
          </p:spPr>
        </p:sp>
      </p:grpSp>
      <p:grpSp>
        <p:nvGrpSpPr>
          <p:cNvPr name="Group 13" id="13"/>
          <p:cNvGrpSpPr/>
          <p:nvPr/>
        </p:nvGrpSpPr>
        <p:grpSpPr>
          <a:xfrm rot="0">
            <a:off x="1280160" y="2103120"/>
            <a:ext cx="7315200" cy="621792"/>
            <a:chOff x="0" y="0"/>
            <a:chExt cx="9753600" cy="829056"/>
          </a:xfrm>
        </p:grpSpPr>
        <p:sp>
          <p:nvSpPr>
            <p:cNvPr name="Freeform 14" id="14"/>
            <p:cNvSpPr/>
            <p:nvPr/>
          </p:nvSpPr>
          <p:spPr>
            <a:xfrm flipH="false" flipV="false" rot="0">
              <a:off x="0" y="0"/>
              <a:ext cx="9753600" cy="829056"/>
            </a:xfrm>
            <a:custGeom>
              <a:avLst/>
              <a:gdLst/>
              <a:ahLst/>
              <a:cxnLst/>
              <a:rect r="r" b="b" t="t" l="l"/>
              <a:pathLst>
                <a:path h="829056" w="9753600">
                  <a:moveTo>
                    <a:pt x="0" y="0"/>
                  </a:moveTo>
                  <a:lnTo>
                    <a:pt x="9753600" y="0"/>
                  </a:lnTo>
                  <a:lnTo>
                    <a:pt x="9753600" y="829056"/>
                  </a:lnTo>
                  <a:lnTo>
                    <a:pt x="0" y="829056"/>
                  </a:lnTo>
                  <a:close/>
                </a:path>
              </a:pathLst>
            </a:custGeom>
            <a:blipFill>
              <a:blip r:embed="rId3">
                <a:alphaModFix amt="0"/>
              </a:blip>
              <a:stretch>
                <a:fillRect l="0" t="-179235" r="0" b="-179235"/>
              </a:stretch>
            </a:blipFill>
          </p:spPr>
        </p:sp>
        <p:sp>
          <p:nvSpPr>
            <p:cNvPr name="TextBox 15" id="15"/>
            <p:cNvSpPr txBox="true"/>
            <p:nvPr/>
          </p:nvSpPr>
          <p:spPr>
            <a:xfrm>
              <a:off x="0" y="-38100"/>
              <a:ext cx="97536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Test case</a:t>
              </a:r>
            </a:p>
          </p:txBody>
        </p:sp>
      </p:grpSp>
      <p:grpSp>
        <p:nvGrpSpPr>
          <p:cNvPr name="Group 16" id="16"/>
          <p:cNvGrpSpPr/>
          <p:nvPr/>
        </p:nvGrpSpPr>
        <p:grpSpPr>
          <a:xfrm rot="0">
            <a:off x="9509760" y="2103120"/>
            <a:ext cx="7315200" cy="621792"/>
            <a:chOff x="0" y="0"/>
            <a:chExt cx="9753600" cy="829056"/>
          </a:xfrm>
        </p:grpSpPr>
        <p:sp>
          <p:nvSpPr>
            <p:cNvPr name="Freeform 17" id="17"/>
            <p:cNvSpPr/>
            <p:nvPr/>
          </p:nvSpPr>
          <p:spPr>
            <a:xfrm flipH="false" flipV="false" rot="0">
              <a:off x="0" y="0"/>
              <a:ext cx="9753600" cy="829056"/>
            </a:xfrm>
            <a:custGeom>
              <a:avLst/>
              <a:gdLst/>
              <a:ahLst/>
              <a:cxnLst/>
              <a:rect r="r" b="b" t="t" l="l"/>
              <a:pathLst>
                <a:path h="829056" w="9753600">
                  <a:moveTo>
                    <a:pt x="0" y="0"/>
                  </a:moveTo>
                  <a:lnTo>
                    <a:pt x="9753600" y="0"/>
                  </a:lnTo>
                  <a:lnTo>
                    <a:pt x="9753600" y="829056"/>
                  </a:lnTo>
                  <a:lnTo>
                    <a:pt x="0" y="829056"/>
                  </a:lnTo>
                  <a:close/>
                </a:path>
              </a:pathLst>
            </a:custGeom>
            <a:blipFill>
              <a:blip r:embed="rId3">
                <a:alphaModFix amt="0"/>
              </a:blip>
              <a:stretch>
                <a:fillRect l="0" t="-179235" r="0" b="-179235"/>
              </a:stretch>
            </a:blipFill>
          </p:spPr>
        </p:sp>
        <p:sp>
          <p:nvSpPr>
            <p:cNvPr name="TextBox 18" id="18"/>
            <p:cNvSpPr txBox="true"/>
            <p:nvPr/>
          </p:nvSpPr>
          <p:spPr>
            <a:xfrm>
              <a:off x="0" y="-38100"/>
              <a:ext cx="9753600" cy="867156"/>
            </a:xfrm>
            <a:prstGeom prst="rect">
              <a:avLst/>
            </a:prstGeom>
          </p:spPr>
          <p:txBody>
            <a:bodyPr anchor="ctr" rtlCol="false" tIns="0" lIns="0" bIns="0" rIns="0"/>
            <a:lstStyle/>
            <a:p>
              <a:pPr algn="l">
                <a:lnSpc>
                  <a:spcPts val="2160"/>
                </a:lnSpc>
              </a:pPr>
              <a:r>
                <a:rPr lang="en-US" sz="1800" b="true">
                  <a:solidFill>
                    <a:srgbClr val="FFFFFF"/>
                  </a:solidFill>
                  <a:latin typeface="Calibri (MS) Bold"/>
                  <a:ea typeface="Calibri (MS) Bold"/>
                  <a:cs typeface="Calibri (MS) Bold"/>
                  <a:sym typeface="Calibri (MS) Bold"/>
                </a:rPr>
                <a:t>Expected result</a:t>
              </a:r>
            </a:p>
          </p:txBody>
        </p:sp>
      </p:grpSp>
      <p:grpSp>
        <p:nvGrpSpPr>
          <p:cNvPr name="Group 19" id="19"/>
          <p:cNvGrpSpPr/>
          <p:nvPr/>
        </p:nvGrpSpPr>
        <p:grpSpPr>
          <a:xfrm rot="0">
            <a:off x="901703" y="2876807"/>
            <a:ext cx="16484603" cy="665483"/>
            <a:chOff x="0" y="0"/>
            <a:chExt cx="21979471" cy="887311"/>
          </a:xfrm>
        </p:grpSpPr>
        <p:sp>
          <p:nvSpPr>
            <p:cNvPr name="Freeform 20" id="20"/>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21" id="21"/>
          <p:cNvGrpSpPr/>
          <p:nvPr/>
        </p:nvGrpSpPr>
        <p:grpSpPr>
          <a:xfrm rot="0">
            <a:off x="1280160" y="2889504"/>
            <a:ext cx="8046720" cy="640080"/>
            <a:chOff x="0" y="0"/>
            <a:chExt cx="10728960" cy="853440"/>
          </a:xfrm>
        </p:grpSpPr>
        <p:sp>
          <p:nvSpPr>
            <p:cNvPr name="Freeform 22" id="22"/>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23" id="23"/>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Same seat booked twice on a trip</a:t>
              </a:r>
            </a:p>
          </p:txBody>
        </p:sp>
      </p:grpSp>
      <p:grpSp>
        <p:nvGrpSpPr>
          <p:cNvPr name="Group 24" id="24"/>
          <p:cNvGrpSpPr/>
          <p:nvPr/>
        </p:nvGrpSpPr>
        <p:grpSpPr>
          <a:xfrm rot="0">
            <a:off x="9509760" y="2889504"/>
            <a:ext cx="7680960" cy="640080"/>
            <a:chOff x="0" y="0"/>
            <a:chExt cx="10241280" cy="853440"/>
          </a:xfrm>
        </p:grpSpPr>
        <p:sp>
          <p:nvSpPr>
            <p:cNvPr name="Freeform 25" id="25"/>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26" id="26"/>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UNIQUE (trip_id, active_seat) rejects it</a:t>
              </a:r>
            </a:p>
          </p:txBody>
        </p:sp>
      </p:grpSp>
      <p:grpSp>
        <p:nvGrpSpPr>
          <p:cNvPr name="Group 27" id="27"/>
          <p:cNvGrpSpPr/>
          <p:nvPr/>
        </p:nvGrpSpPr>
        <p:grpSpPr>
          <a:xfrm rot="0">
            <a:off x="901703" y="3608327"/>
            <a:ext cx="16484603" cy="665483"/>
            <a:chOff x="0" y="0"/>
            <a:chExt cx="21979471" cy="887311"/>
          </a:xfrm>
        </p:grpSpPr>
        <p:sp>
          <p:nvSpPr>
            <p:cNvPr name="Freeform 28" id="28"/>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29" id="29"/>
          <p:cNvGrpSpPr/>
          <p:nvPr/>
        </p:nvGrpSpPr>
        <p:grpSpPr>
          <a:xfrm rot="0">
            <a:off x="1280160" y="3621024"/>
            <a:ext cx="8046720" cy="640080"/>
            <a:chOff x="0" y="0"/>
            <a:chExt cx="10728960" cy="853440"/>
          </a:xfrm>
        </p:grpSpPr>
        <p:sp>
          <p:nvSpPr>
            <p:cNvPr name="Freeform 30" id="30"/>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31" id="31"/>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Rebooking a cancelled seat</a:t>
              </a:r>
            </a:p>
          </p:txBody>
        </p:sp>
      </p:grpSp>
      <p:grpSp>
        <p:nvGrpSpPr>
          <p:cNvPr name="Group 32" id="32"/>
          <p:cNvGrpSpPr/>
          <p:nvPr/>
        </p:nvGrpSpPr>
        <p:grpSpPr>
          <a:xfrm rot="0">
            <a:off x="9509760" y="3621024"/>
            <a:ext cx="7680960" cy="640080"/>
            <a:chOff x="0" y="0"/>
            <a:chExt cx="10241280" cy="853440"/>
          </a:xfrm>
        </p:grpSpPr>
        <p:sp>
          <p:nvSpPr>
            <p:cNvPr name="Freeform 33" id="33"/>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34" id="34"/>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Allowed, because active_seat is NULL</a:t>
              </a:r>
            </a:p>
          </p:txBody>
        </p:sp>
      </p:grpSp>
      <p:grpSp>
        <p:nvGrpSpPr>
          <p:cNvPr name="Group 35" id="35"/>
          <p:cNvGrpSpPr/>
          <p:nvPr/>
        </p:nvGrpSpPr>
        <p:grpSpPr>
          <a:xfrm rot="0">
            <a:off x="901703" y="4339847"/>
            <a:ext cx="16484603" cy="665483"/>
            <a:chOff x="0" y="0"/>
            <a:chExt cx="21979471" cy="887311"/>
          </a:xfrm>
        </p:grpSpPr>
        <p:sp>
          <p:nvSpPr>
            <p:cNvPr name="Freeform 36" id="36"/>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37" id="37"/>
          <p:cNvGrpSpPr/>
          <p:nvPr/>
        </p:nvGrpSpPr>
        <p:grpSpPr>
          <a:xfrm rot="0">
            <a:off x="1280160" y="4352544"/>
            <a:ext cx="8046720" cy="640080"/>
            <a:chOff x="0" y="0"/>
            <a:chExt cx="10728960" cy="853440"/>
          </a:xfrm>
        </p:grpSpPr>
        <p:sp>
          <p:nvSpPr>
            <p:cNvPr name="Freeform 38" id="38"/>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39" id="39"/>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Driver, conductor or bus in two overlapping trips</a:t>
              </a:r>
            </a:p>
          </p:txBody>
        </p:sp>
      </p:grpSp>
      <p:grpSp>
        <p:nvGrpSpPr>
          <p:cNvPr name="Group 40" id="40"/>
          <p:cNvGrpSpPr/>
          <p:nvPr/>
        </p:nvGrpSpPr>
        <p:grpSpPr>
          <a:xfrm rot="0">
            <a:off x="9509760" y="4352544"/>
            <a:ext cx="7680960" cy="640080"/>
            <a:chOff x="0" y="0"/>
            <a:chExt cx="10241280" cy="853440"/>
          </a:xfrm>
        </p:grpSpPr>
        <p:sp>
          <p:nvSpPr>
            <p:cNvPr name="Freeform 41" id="41"/>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42" id="42"/>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Overlap trigger rejects the trip</a:t>
              </a:r>
            </a:p>
          </p:txBody>
        </p:sp>
      </p:grpSp>
      <p:grpSp>
        <p:nvGrpSpPr>
          <p:cNvPr name="Group 43" id="43"/>
          <p:cNvGrpSpPr/>
          <p:nvPr/>
        </p:nvGrpSpPr>
        <p:grpSpPr>
          <a:xfrm rot="0">
            <a:off x="901703" y="5071367"/>
            <a:ext cx="16484603" cy="665483"/>
            <a:chOff x="0" y="0"/>
            <a:chExt cx="21979471" cy="887311"/>
          </a:xfrm>
        </p:grpSpPr>
        <p:sp>
          <p:nvSpPr>
            <p:cNvPr name="Freeform 44" id="44"/>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45" id="45"/>
          <p:cNvGrpSpPr/>
          <p:nvPr/>
        </p:nvGrpSpPr>
        <p:grpSpPr>
          <a:xfrm rot="0">
            <a:off x="1280160" y="5084064"/>
            <a:ext cx="8046720" cy="640080"/>
            <a:chOff x="0" y="0"/>
            <a:chExt cx="10728960" cy="853440"/>
          </a:xfrm>
        </p:grpSpPr>
        <p:sp>
          <p:nvSpPr>
            <p:cNvPr name="Freeform 46" id="46"/>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47" id="47"/>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Seat from a different bus</a:t>
              </a:r>
            </a:p>
          </p:txBody>
        </p:sp>
      </p:grpSp>
      <p:grpSp>
        <p:nvGrpSpPr>
          <p:cNvPr name="Group 48" id="48"/>
          <p:cNvGrpSpPr/>
          <p:nvPr/>
        </p:nvGrpSpPr>
        <p:grpSpPr>
          <a:xfrm rot="0">
            <a:off x="9509760" y="5084064"/>
            <a:ext cx="7680960" cy="640080"/>
            <a:chOff x="0" y="0"/>
            <a:chExt cx="10241280" cy="853440"/>
          </a:xfrm>
        </p:grpSpPr>
        <p:sp>
          <p:nvSpPr>
            <p:cNvPr name="Freeform 49" id="49"/>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50" id="50"/>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Booking trigger rejects it</a:t>
              </a:r>
            </a:p>
          </p:txBody>
        </p:sp>
      </p:grpSp>
      <p:grpSp>
        <p:nvGrpSpPr>
          <p:cNvPr name="Group 51" id="51"/>
          <p:cNvGrpSpPr/>
          <p:nvPr/>
        </p:nvGrpSpPr>
        <p:grpSpPr>
          <a:xfrm rot="0">
            <a:off x="901703" y="5802887"/>
            <a:ext cx="16484603" cy="665483"/>
            <a:chOff x="0" y="0"/>
            <a:chExt cx="21979471" cy="887311"/>
          </a:xfrm>
        </p:grpSpPr>
        <p:sp>
          <p:nvSpPr>
            <p:cNvPr name="Freeform 52" id="52"/>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53" id="53"/>
          <p:cNvGrpSpPr/>
          <p:nvPr/>
        </p:nvGrpSpPr>
        <p:grpSpPr>
          <a:xfrm rot="0">
            <a:off x="1280160" y="5815584"/>
            <a:ext cx="8046720" cy="640080"/>
            <a:chOff x="0" y="0"/>
            <a:chExt cx="10728960" cy="853440"/>
          </a:xfrm>
        </p:grpSpPr>
        <p:sp>
          <p:nvSpPr>
            <p:cNvPr name="Freeform 54" id="54"/>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55" id="55"/>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Booking on a trip that is not Scheduled</a:t>
              </a:r>
            </a:p>
          </p:txBody>
        </p:sp>
      </p:grpSp>
      <p:grpSp>
        <p:nvGrpSpPr>
          <p:cNvPr name="Group 56" id="56"/>
          <p:cNvGrpSpPr/>
          <p:nvPr/>
        </p:nvGrpSpPr>
        <p:grpSpPr>
          <a:xfrm rot="0">
            <a:off x="9509760" y="5815584"/>
            <a:ext cx="7680960" cy="640080"/>
            <a:chOff x="0" y="0"/>
            <a:chExt cx="10241280" cy="853440"/>
          </a:xfrm>
        </p:grpSpPr>
        <p:sp>
          <p:nvSpPr>
            <p:cNvPr name="Freeform 57" id="57"/>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58" id="58"/>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Booking trigger rejects it</a:t>
              </a:r>
            </a:p>
          </p:txBody>
        </p:sp>
      </p:grpSp>
      <p:grpSp>
        <p:nvGrpSpPr>
          <p:cNvPr name="Group 59" id="59"/>
          <p:cNvGrpSpPr/>
          <p:nvPr/>
        </p:nvGrpSpPr>
        <p:grpSpPr>
          <a:xfrm rot="0">
            <a:off x="901703" y="6534407"/>
            <a:ext cx="16484603" cy="665483"/>
            <a:chOff x="0" y="0"/>
            <a:chExt cx="21979471" cy="887311"/>
          </a:xfrm>
        </p:grpSpPr>
        <p:sp>
          <p:nvSpPr>
            <p:cNvPr name="Freeform 60" id="60"/>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61" id="61"/>
          <p:cNvGrpSpPr/>
          <p:nvPr/>
        </p:nvGrpSpPr>
        <p:grpSpPr>
          <a:xfrm rot="0">
            <a:off x="1280160" y="6547104"/>
            <a:ext cx="8046720" cy="640080"/>
            <a:chOff x="0" y="0"/>
            <a:chExt cx="10728960" cy="853440"/>
          </a:xfrm>
        </p:grpSpPr>
        <p:sp>
          <p:nvSpPr>
            <p:cNvPr name="Freeform 62" id="62"/>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63" id="63"/>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Payment different from the fare</a:t>
              </a:r>
            </a:p>
          </p:txBody>
        </p:sp>
      </p:grpSp>
      <p:grpSp>
        <p:nvGrpSpPr>
          <p:cNvPr name="Group 64" id="64"/>
          <p:cNvGrpSpPr/>
          <p:nvPr/>
        </p:nvGrpSpPr>
        <p:grpSpPr>
          <a:xfrm rot="0">
            <a:off x="9509760" y="6547104"/>
            <a:ext cx="7680960" cy="640080"/>
            <a:chOff x="0" y="0"/>
            <a:chExt cx="10241280" cy="853440"/>
          </a:xfrm>
        </p:grpSpPr>
        <p:sp>
          <p:nvSpPr>
            <p:cNvPr name="Freeform 65" id="65"/>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66" id="66"/>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Payment trigger rejects it</a:t>
              </a:r>
            </a:p>
          </p:txBody>
        </p:sp>
      </p:grpSp>
      <p:grpSp>
        <p:nvGrpSpPr>
          <p:cNvPr name="Group 67" id="67"/>
          <p:cNvGrpSpPr/>
          <p:nvPr/>
        </p:nvGrpSpPr>
        <p:grpSpPr>
          <a:xfrm rot="0">
            <a:off x="901703" y="7265927"/>
            <a:ext cx="16484603" cy="665483"/>
            <a:chOff x="0" y="0"/>
            <a:chExt cx="21979471" cy="887311"/>
          </a:xfrm>
        </p:grpSpPr>
        <p:sp>
          <p:nvSpPr>
            <p:cNvPr name="Freeform 68" id="68"/>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69" id="69"/>
          <p:cNvGrpSpPr/>
          <p:nvPr/>
        </p:nvGrpSpPr>
        <p:grpSpPr>
          <a:xfrm rot="0">
            <a:off x="1280160" y="7278624"/>
            <a:ext cx="8046720" cy="640080"/>
            <a:chOff x="0" y="0"/>
            <a:chExt cx="10728960" cy="853440"/>
          </a:xfrm>
        </p:grpSpPr>
        <p:sp>
          <p:nvSpPr>
            <p:cNvPr name="Freeform 70" id="70"/>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71" id="71"/>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Cancel 24h+ / 6-24h / under 6h before departure</a:t>
              </a:r>
            </a:p>
          </p:txBody>
        </p:sp>
      </p:grpSp>
      <p:grpSp>
        <p:nvGrpSpPr>
          <p:cNvPr name="Group 72" id="72"/>
          <p:cNvGrpSpPr/>
          <p:nvPr/>
        </p:nvGrpSpPr>
        <p:grpSpPr>
          <a:xfrm rot="0">
            <a:off x="9509760" y="7278624"/>
            <a:ext cx="7680960" cy="640080"/>
            <a:chOff x="0" y="0"/>
            <a:chExt cx="10241280" cy="853440"/>
          </a:xfrm>
        </p:grpSpPr>
        <p:sp>
          <p:nvSpPr>
            <p:cNvPr name="Freeform 73" id="73"/>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74" id="74"/>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Refund of 90% / 50% / 0%</a:t>
              </a:r>
            </a:p>
          </p:txBody>
        </p:sp>
      </p:grpSp>
      <p:grpSp>
        <p:nvGrpSpPr>
          <p:cNvPr name="Group 75" id="75"/>
          <p:cNvGrpSpPr/>
          <p:nvPr/>
        </p:nvGrpSpPr>
        <p:grpSpPr>
          <a:xfrm rot="0">
            <a:off x="901703" y="7997447"/>
            <a:ext cx="16484603" cy="665483"/>
            <a:chOff x="0" y="0"/>
            <a:chExt cx="21979471" cy="887311"/>
          </a:xfrm>
        </p:grpSpPr>
        <p:sp>
          <p:nvSpPr>
            <p:cNvPr name="Freeform 76" id="76"/>
            <p:cNvSpPr/>
            <p:nvPr/>
          </p:nvSpPr>
          <p:spPr>
            <a:xfrm flipH="false" flipV="false" rot="0">
              <a:off x="0" y="0"/>
              <a:ext cx="21979508" cy="887349"/>
            </a:xfrm>
            <a:custGeom>
              <a:avLst/>
              <a:gdLst/>
              <a:ahLst/>
              <a:cxnLst/>
              <a:rect r="r" b="b" t="t" l="l"/>
              <a:pathLst>
                <a:path h="887349" w="21979508">
                  <a:moveTo>
                    <a:pt x="0" y="202819"/>
                  </a:moveTo>
                  <a:cubicBezTo>
                    <a:pt x="0" y="90805"/>
                    <a:pt x="90805" y="0"/>
                    <a:pt x="202819" y="0"/>
                  </a:cubicBezTo>
                  <a:lnTo>
                    <a:pt x="21776689" y="0"/>
                  </a:lnTo>
                  <a:cubicBezTo>
                    <a:pt x="21888704" y="0"/>
                    <a:pt x="21979508" y="90805"/>
                    <a:pt x="21979508" y="202819"/>
                  </a:cubicBezTo>
                  <a:lnTo>
                    <a:pt x="21979508" y="684530"/>
                  </a:lnTo>
                  <a:cubicBezTo>
                    <a:pt x="21979508" y="796544"/>
                    <a:pt x="21888704" y="887349"/>
                    <a:pt x="21776689" y="887349"/>
                  </a:cubicBezTo>
                  <a:lnTo>
                    <a:pt x="202819" y="887349"/>
                  </a:lnTo>
                  <a:cubicBezTo>
                    <a:pt x="90805" y="887349"/>
                    <a:pt x="0" y="796544"/>
                    <a:pt x="0" y="684530"/>
                  </a:cubicBezTo>
                  <a:close/>
                </a:path>
              </a:pathLst>
            </a:custGeom>
            <a:solidFill>
              <a:srgbClr val="FFFFFF"/>
            </a:solidFill>
            <a:ln w="25400" cap="sq">
              <a:solidFill>
                <a:srgbClr val="FFFFFF"/>
              </a:solidFill>
              <a:prstDash val="solid"/>
              <a:miter/>
            </a:ln>
          </p:spPr>
        </p:sp>
      </p:grpSp>
      <p:grpSp>
        <p:nvGrpSpPr>
          <p:cNvPr name="Group 77" id="77"/>
          <p:cNvGrpSpPr/>
          <p:nvPr/>
        </p:nvGrpSpPr>
        <p:grpSpPr>
          <a:xfrm rot="0">
            <a:off x="1280160" y="8010144"/>
            <a:ext cx="8046720" cy="640080"/>
            <a:chOff x="0" y="0"/>
            <a:chExt cx="10728960" cy="853440"/>
          </a:xfrm>
        </p:grpSpPr>
        <p:sp>
          <p:nvSpPr>
            <p:cNvPr name="Freeform 78" id="78"/>
            <p:cNvSpPr/>
            <p:nvPr/>
          </p:nvSpPr>
          <p:spPr>
            <a:xfrm flipH="false" flipV="false" rot="0">
              <a:off x="0" y="0"/>
              <a:ext cx="10728960" cy="853440"/>
            </a:xfrm>
            <a:custGeom>
              <a:avLst/>
              <a:gdLst/>
              <a:ahLst/>
              <a:cxnLst/>
              <a:rect r="r" b="b" t="t" l="l"/>
              <a:pathLst>
                <a:path h="853440" w="10728960">
                  <a:moveTo>
                    <a:pt x="0" y="0"/>
                  </a:moveTo>
                  <a:lnTo>
                    <a:pt x="10728960" y="0"/>
                  </a:lnTo>
                  <a:lnTo>
                    <a:pt x="10728960" y="853440"/>
                  </a:lnTo>
                  <a:lnTo>
                    <a:pt x="0" y="853440"/>
                  </a:lnTo>
                  <a:close/>
                </a:path>
              </a:pathLst>
            </a:custGeom>
            <a:blipFill>
              <a:blip r:embed="rId3">
                <a:alphaModFix amt="0"/>
              </a:blip>
              <a:stretch>
                <a:fillRect l="0" t="-194954" r="0" b="-194954"/>
              </a:stretch>
            </a:blipFill>
          </p:spPr>
        </p:sp>
        <p:sp>
          <p:nvSpPr>
            <p:cNvPr name="TextBox 79" id="79"/>
            <p:cNvSpPr txBox="true"/>
            <p:nvPr/>
          </p:nvSpPr>
          <p:spPr>
            <a:xfrm>
              <a:off x="0" y="-38100"/>
              <a:ext cx="10728960" cy="891540"/>
            </a:xfrm>
            <a:prstGeom prst="rect">
              <a:avLst/>
            </a:prstGeom>
          </p:spPr>
          <p:txBody>
            <a:bodyPr anchor="ctr" rtlCol="false" tIns="0" lIns="0" bIns="0" rIns="0"/>
            <a:lstStyle/>
            <a:p>
              <a:pPr algn="l">
                <a:lnSpc>
                  <a:spcPts val="2160"/>
                </a:lnSpc>
              </a:pPr>
              <a:r>
                <a:rPr lang="en-US" sz="1800" b="true">
                  <a:solidFill>
                    <a:srgbClr val="1F332F"/>
                  </a:solidFill>
                  <a:latin typeface="Calibri (MS) Bold"/>
                  <a:ea typeface="Calibri (MS) Bold"/>
                  <a:cs typeface="Calibri (MS) Bold"/>
                  <a:sym typeface="Calibri (MS) Bold"/>
                </a:rPr>
                <a:t>Cancel after departure or cancel twice</a:t>
              </a:r>
            </a:p>
          </p:txBody>
        </p:sp>
      </p:grpSp>
      <p:grpSp>
        <p:nvGrpSpPr>
          <p:cNvPr name="Group 80" id="80"/>
          <p:cNvGrpSpPr/>
          <p:nvPr/>
        </p:nvGrpSpPr>
        <p:grpSpPr>
          <a:xfrm rot="0">
            <a:off x="9509760" y="8010144"/>
            <a:ext cx="7680960" cy="640080"/>
            <a:chOff x="0" y="0"/>
            <a:chExt cx="10241280" cy="853440"/>
          </a:xfrm>
        </p:grpSpPr>
        <p:sp>
          <p:nvSpPr>
            <p:cNvPr name="Freeform 81" id="81"/>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82" id="82"/>
            <p:cNvSpPr txBox="true"/>
            <p:nvPr/>
          </p:nvSpPr>
          <p:spPr>
            <a:xfrm>
              <a:off x="0" y="-38100"/>
              <a:ext cx="10241280" cy="891540"/>
            </a:xfrm>
            <a:prstGeom prst="rect">
              <a:avLst/>
            </a:prstGeom>
          </p:spPr>
          <p:txBody>
            <a:bodyPr anchor="ctr" rtlCol="false" tIns="0" lIns="0" bIns="0" rIns="0"/>
            <a:lstStyle/>
            <a:p>
              <a:pPr algn="l">
                <a:lnSpc>
                  <a:spcPts val="2160"/>
                </a:lnSpc>
              </a:pPr>
              <a:r>
                <a:rPr lang="en-US" sz="1800">
                  <a:solidFill>
                    <a:srgbClr val="1F332F"/>
                  </a:solidFill>
                  <a:latin typeface="Calibri (MS)"/>
                  <a:ea typeface="Calibri (MS)"/>
                  <a:cs typeface="Calibri (MS)"/>
                  <a:sym typeface="Calibri (MS)"/>
                </a:rPr>
                <a:t>Cancellation trigger rejects it</a:t>
              </a:r>
            </a:p>
          </p:txBody>
        </p:sp>
      </p:grpSp>
      <p:grpSp>
        <p:nvGrpSpPr>
          <p:cNvPr name="Group 83" id="83"/>
          <p:cNvGrpSpPr/>
          <p:nvPr/>
        </p:nvGrpSpPr>
        <p:grpSpPr>
          <a:xfrm rot="0">
            <a:off x="914400" y="8869680"/>
            <a:ext cx="16459200" cy="457200"/>
            <a:chOff x="0" y="0"/>
            <a:chExt cx="21945600" cy="609600"/>
          </a:xfrm>
        </p:grpSpPr>
        <p:sp>
          <p:nvSpPr>
            <p:cNvPr name="Freeform 84" id="84"/>
            <p:cNvSpPr/>
            <p:nvPr/>
          </p:nvSpPr>
          <p:spPr>
            <a:xfrm flipH="false" flipV="false" rot="0">
              <a:off x="0" y="0"/>
              <a:ext cx="21945600" cy="609600"/>
            </a:xfrm>
            <a:custGeom>
              <a:avLst/>
              <a:gdLst/>
              <a:ahLst/>
              <a:cxnLst/>
              <a:rect r="r" b="b" t="t" l="l"/>
              <a:pathLst>
                <a:path h="609600" w="21945600">
                  <a:moveTo>
                    <a:pt x="0" y="0"/>
                  </a:moveTo>
                  <a:lnTo>
                    <a:pt x="21945600" y="0"/>
                  </a:lnTo>
                  <a:lnTo>
                    <a:pt x="21945600" y="609600"/>
                  </a:lnTo>
                  <a:lnTo>
                    <a:pt x="0" y="609600"/>
                  </a:lnTo>
                  <a:close/>
                </a:path>
              </a:pathLst>
            </a:custGeom>
            <a:blipFill>
              <a:blip r:embed="rId3">
                <a:alphaModFix amt="0"/>
              </a:blip>
              <a:stretch>
                <a:fillRect l="0" t="-651461" r="0" b="-651461"/>
              </a:stretch>
            </a:blipFill>
          </p:spPr>
        </p:sp>
        <p:sp>
          <p:nvSpPr>
            <p:cNvPr name="TextBox 85" id="85"/>
            <p:cNvSpPr txBox="true"/>
            <p:nvPr/>
          </p:nvSpPr>
          <p:spPr>
            <a:xfrm>
              <a:off x="0" y="-38100"/>
              <a:ext cx="21945600" cy="647700"/>
            </a:xfrm>
            <a:prstGeom prst="rect">
              <a:avLst/>
            </a:prstGeom>
          </p:spPr>
          <p:txBody>
            <a:bodyPr anchor="ctr" rtlCol="false" tIns="0" lIns="0" bIns="0" rIns="0"/>
            <a:lstStyle/>
            <a:p>
              <a:pPr algn="l">
                <a:lnSpc>
                  <a:spcPts val="2040"/>
                </a:lnSpc>
              </a:pPr>
              <a:r>
                <a:rPr lang="en-US" sz="1700" i="true">
                  <a:solidFill>
                    <a:srgbClr val="1B4A4A"/>
                  </a:solidFill>
                  <a:latin typeface="Calibri (MS) Italics"/>
                  <a:ea typeface="Calibri (MS) Italics"/>
                  <a:cs typeface="Calibri (MS) Italics"/>
                  <a:sym typeface="Calibri (MS) Italics"/>
                </a:rPr>
                <a:t>Rule tests run in MySQL. End-to-end testing through the application is work in progress.</a:t>
              </a:r>
            </a:p>
          </p:txBody>
        </p:sp>
      </p:grpSp>
      <p:sp>
        <p:nvSpPr>
          <p:cNvPr name="TextBox 86" id="86"/>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BD8CC"/>
        </a:solidFill>
      </p:bgPr>
    </p:bg>
    <p:spTree>
      <p:nvGrpSpPr>
        <p:cNvPr id="1" name=""/>
        <p:cNvGrpSpPr/>
        <p:nvPr/>
      </p:nvGrpSpPr>
      <p:grpSpPr>
        <a:xfrm>
          <a:off x="0" y="0"/>
          <a:ext cx="0" cy="0"/>
          <a:chOff x="0" y="0"/>
          <a:chExt cx="0" cy="0"/>
        </a:xfrm>
      </p:grpSpPr>
      <p:grpSp>
        <p:nvGrpSpPr>
          <p:cNvPr name="Group 2" id="2"/>
          <p:cNvGrpSpPr/>
          <p:nvPr/>
        </p:nvGrpSpPr>
        <p:grpSpPr>
          <a:xfrm rot="0">
            <a:off x="914400" y="9656064"/>
            <a:ext cx="9144000" cy="457200"/>
            <a:chOff x="0" y="0"/>
            <a:chExt cx="12192000" cy="609600"/>
          </a:xfrm>
        </p:grpSpPr>
        <p:sp>
          <p:nvSpPr>
            <p:cNvPr name="Freeform 3" id="3"/>
            <p:cNvSpPr/>
            <p:nvPr/>
          </p:nvSpPr>
          <p:spPr>
            <a:xfrm flipH="false" flipV="false" rot="0">
              <a:off x="0" y="0"/>
              <a:ext cx="12192000" cy="609600"/>
            </a:xfrm>
            <a:custGeom>
              <a:avLst/>
              <a:gdLst/>
              <a:ahLst/>
              <a:cxnLst/>
              <a:rect r="r" b="b" t="t" l="l"/>
              <a:pathLst>
                <a:path h="609600" w="12192000">
                  <a:moveTo>
                    <a:pt x="0" y="0"/>
                  </a:moveTo>
                  <a:lnTo>
                    <a:pt x="12192000" y="0"/>
                  </a:lnTo>
                  <a:lnTo>
                    <a:pt x="12192000" y="609600"/>
                  </a:lnTo>
                  <a:lnTo>
                    <a:pt x="0" y="609600"/>
                  </a:lnTo>
                  <a:close/>
                </a:path>
              </a:pathLst>
            </a:custGeom>
            <a:blipFill>
              <a:blip r:embed="rId3">
                <a:alphaModFix amt="0"/>
              </a:blip>
              <a:stretch>
                <a:fillRect l="0" t="-339700" r="0" b="-339700"/>
              </a:stretch>
            </a:blipFill>
          </p:spPr>
        </p:sp>
        <p:sp>
          <p:nvSpPr>
            <p:cNvPr name="TextBox 4" id="4"/>
            <p:cNvSpPr txBox="true"/>
            <p:nvPr/>
          </p:nvSpPr>
          <p:spPr>
            <a:xfrm>
              <a:off x="0" y="-28575"/>
              <a:ext cx="12192000" cy="638175"/>
            </a:xfrm>
            <a:prstGeom prst="rect">
              <a:avLst/>
            </a:prstGeom>
          </p:spPr>
          <p:txBody>
            <a:bodyPr anchor="ctr" rtlCol="false" tIns="0" lIns="0" bIns="0" rIns="0"/>
            <a:lstStyle/>
            <a:p>
              <a:pPr algn="l">
                <a:lnSpc>
                  <a:spcPts val="1919"/>
                </a:lnSpc>
              </a:pPr>
              <a:r>
                <a:rPr lang="en-US" sz="1599">
                  <a:solidFill>
                    <a:srgbClr val="5C7A70"/>
                  </a:solidFill>
                  <a:latin typeface="Calibri (MS)"/>
                  <a:ea typeface="Calibri (MS)"/>
                  <a:cs typeface="Calibri (MS)"/>
                  <a:sym typeface="Calibri (MS)"/>
                </a:rPr>
                <a:t>Bus Reservation &amp; Fleet Scheduling DBMS</a:t>
              </a:r>
            </a:p>
          </p:txBody>
        </p:sp>
      </p:grpSp>
      <p:grpSp>
        <p:nvGrpSpPr>
          <p:cNvPr name="Group 5" id="5"/>
          <p:cNvGrpSpPr/>
          <p:nvPr/>
        </p:nvGrpSpPr>
        <p:grpSpPr>
          <a:xfrm rot="0">
            <a:off x="914400" y="512064"/>
            <a:ext cx="16459200" cy="402336"/>
            <a:chOff x="0" y="0"/>
            <a:chExt cx="21945600" cy="536448"/>
          </a:xfrm>
        </p:grpSpPr>
        <p:sp>
          <p:nvSpPr>
            <p:cNvPr name="Freeform 6" id="6"/>
            <p:cNvSpPr/>
            <p:nvPr/>
          </p:nvSpPr>
          <p:spPr>
            <a:xfrm flipH="false" flipV="false" rot="0">
              <a:off x="0" y="0"/>
              <a:ext cx="21945600" cy="536448"/>
            </a:xfrm>
            <a:custGeom>
              <a:avLst/>
              <a:gdLst/>
              <a:ahLst/>
              <a:cxnLst/>
              <a:rect r="r" b="b" t="t" l="l"/>
              <a:pathLst>
                <a:path h="536448" w="21945600">
                  <a:moveTo>
                    <a:pt x="0" y="0"/>
                  </a:moveTo>
                  <a:lnTo>
                    <a:pt x="21945600" y="0"/>
                  </a:lnTo>
                  <a:lnTo>
                    <a:pt x="21945600" y="536448"/>
                  </a:lnTo>
                  <a:lnTo>
                    <a:pt x="0" y="536448"/>
                  </a:lnTo>
                  <a:close/>
                </a:path>
              </a:pathLst>
            </a:custGeom>
            <a:blipFill>
              <a:blip r:embed="rId3">
                <a:alphaModFix amt="0"/>
              </a:blip>
              <a:stretch>
                <a:fillRect l="0" t="-747115" r="0" b="-747115"/>
              </a:stretch>
            </a:blipFill>
          </p:spPr>
        </p:sp>
        <p:sp>
          <p:nvSpPr>
            <p:cNvPr name="TextBox 7" id="7"/>
            <p:cNvSpPr txBox="true"/>
            <p:nvPr/>
          </p:nvSpPr>
          <p:spPr>
            <a:xfrm>
              <a:off x="0" y="-38100"/>
              <a:ext cx="21945600" cy="574548"/>
            </a:xfrm>
            <a:prstGeom prst="rect">
              <a:avLst/>
            </a:prstGeom>
          </p:spPr>
          <p:txBody>
            <a:bodyPr anchor="ctr" rtlCol="false" tIns="0" lIns="0" bIns="0" rIns="0"/>
            <a:lstStyle/>
            <a:p>
              <a:pPr algn="l">
                <a:lnSpc>
                  <a:spcPts val="2040"/>
                </a:lnSpc>
              </a:pPr>
              <a:r>
                <a:rPr lang="en-US" b="true" sz="1700" spc="400">
                  <a:solidFill>
                    <a:srgbClr val="D98E3C"/>
                  </a:solidFill>
                  <a:latin typeface="Calibri (MS) Bold"/>
                  <a:ea typeface="Calibri (MS) Bold"/>
                  <a:cs typeface="Calibri (MS) Bold"/>
                  <a:sym typeface="Calibri (MS) Bold"/>
                </a:rPr>
                <a:t>SCOPE AND FUTURE WORK</a:t>
              </a:r>
            </a:p>
          </p:txBody>
        </p:sp>
      </p:grpSp>
      <p:grpSp>
        <p:nvGrpSpPr>
          <p:cNvPr name="Group 8" id="8"/>
          <p:cNvGrpSpPr/>
          <p:nvPr/>
        </p:nvGrpSpPr>
        <p:grpSpPr>
          <a:xfrm rot="0">
            <a:off x="914400" y="914400"/>
            <a:ext cx="16459200" cy="914400"/>
            <a:chOff x="0" y="0"/>
            <a:chExt cx="21945600" cy="1219200"/>
          </a:xfrm>
        </p:grpSpPr>
        <p:sp>
          <p:nvSpPr>
            <p:cNvPr name="Freeform 9" id="9"/>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10" id="10"/>
            <p:cNvSpPr txBox="true"/>
            <p:nvPr/>
          </p:nvSpPr>
          <p:spPr>
            <a:xfrm>
              <a:off x="0" y="-9525"/>
              <a:ext cx="21945600" cy="1228725"/>
            </a:xfrm>
            <a:prstGeom prst="rect">
              <a:avLst/>
            </a:prstGeom>
          </p:spPr>
          <p:txBody>
            <a:bodyPr anchor="ctr" rtlCol="false" tIns="0" lIns="0" bIns="0" rIns="0"/>
            <a:lstStyle/>
            <a:p>
              <a:pPr algn="l">
                <a:lnSpc>
                  <a:spcPts val="4799"/>
                </a:lnSpc>
              </a:pPr>
              <a:r>
                <a:rPr lang="en-US" sz="3999" b="true">
                  <a:solidFill>
                    <a:srgbClr val="1B4A4A"/>
                  </a:solidFill>
                  <a:latin typeface="Cambria Bold"/>
                  <a:ea typeface="Cambria Bold"/>
                  <a:cs typeface="Cambria Bold"/>
                  <a:sym typeface="Cambria Bold"/>
                </a:rPr>
                <a:t>Limitations &amp; Conclusion</a:t>
              </a:r>
            </a:p>
          </p:txBody>
        </p:sp>
      </p:grpSp>
      <p:grpSp>
        <p:nvGrpSpPr>
          <p:cNvPr name="Group 11" id="11"/>
          <p:cNvGrpSpPr/>
          <p:nvPr/>
        </p:nvGrpSpPr>
        <p:grpSpPr>
          <a:xfrm rot="0">
            <a:off x="901703" y="2181863"/>
            <a:ext cx="9169403" cy="1232411"/>
            <a:chOff x="0" y="0"/>
            <a:chExt cx="12225871" cy="1643215"/>
          </a:xfrm>
        </p:grpSpPr>
        <p:sp>
          <p:nvSpPr>
            <p:cNvPr name="Freeform 12" id="12"/>
            <p:cNvSpPr/>
            <p:nvPr/>
          </p:nvSpPr>
          <p:spPr>
            <a:xfrm flipH="false" flipV="false" rot="0">
              <a:off x="0" y="0"/>
              <a:ext cx="12225782" cy="1643126"/>
            </a:xfrm>
            <a:custGeom>
              <a:avLst/>
              <a:gdLst/>
              <a:ahLst/>
              <a:cxnLst/>
              <a:rect r="r" b="b" t="t" l="l"/>
              <a:pathLst>
                <a:path h="1643126" w="12225782">
                  <a:moveTo>
                    <a:pt x="0" y="199136"/>
                  </a:moveTo>
                  <a:cubicBezTo>
                    <a:pt x="0" y="89154"/>
                    <a:pt x="89154" y="0"/>
                    <a:pt x="199136" y="0"/>
                  </a:cubicBezTo>
                  <a:lnTo>
                    <a:pt x="12026646" y="0"/>
                  </a:lnTo>
                  <a:cubicBezTo>
                    <a:pt x="12136628" y="0"/>
                    <a:pt x="12225782" y="89154"/>
                    <a:pt x="12225782" y="199136"/>
                  </a:cubicBezTo>
                  <a:lnTo>
                    <a:pt x="12225782" y="1443990"/>
                  </a:lnTo>
                  <a:cubicBezTo>
                    <a:pt x="12225782" y="1553972"/>
                    <a:pt x="12136628" y="1643126"/>
                    <a:pt x="12026646" y="1643126"/>
                  </a:cubicBezTo>
                  <a:lnTo>
                    <a:pt x="199136" y="1643126"/>
                  </a:lnTo>
                  <a:cubicBezTo>
                    <a:pt x="89154" y="1643253"/>
                    <a:pt x="0" y="1554099"/>
                    <a:pt x="0" y="1443990"/>
                  </a:cubicBezTo>
                  <a:close/>
                </a:path>
              </a:pathLst>
            </a:custGeom>
            <a:solidFill>
              <a:srgbClr val="FFFFFF"/>
            </a:solidFill>
            <a:ln w="25400" cap="sq">
              <a:solidFill>
                <a:srgbClr val="FFFFFF"/>
              </a:solidFill>
              <a:prstDash val="solid"/>
              <a:miter/>
            </a:ln>
          </p:spPr>
        </p:sp>
      </p:grpSp>
      <p:grpSp>
        <p:nvGrpSpPr>
          <p:cNvPr name="Group 13" id="13"/>
          <p:cNvGrpSpPr/>
          <p:nvPr/>
        </p:nvGrpSpPr>
        <p:grpSpPr>
          <a:xfrm rot="0">
            <a:off x="1121159" y="2492759"/>
            <a:ext cx="610619" cy="610619"/>
            <a:chOff x="0" y="0"/>
            <a:chExt cx="814159" cy="814159"/>
          </a:xfrm>
        </p:grpSpPr>
        <p:sp>
          <p:nvSpPr>
            <p:cNvPr name="Freeform 14" id="14"/>
            <p:cNvSpPr/>
            <p:nvPr/>
          </p:nvSpPr>
          <p:spPr>
            <a:xfrm flipH="false" flipV="false" rot="0">
              <a:off x="0" y="0"/>
              <a:ext cx="814197" cy="814197"/>
            </a:xfrm>
            <a:custGeom>
              <a:avLst/>
              <a:gdLst/>
              <a:ahLst/>
              <a:cxnLst/>
              <a:rect r="r" b="b" t="t" l="l"/>
              <a:pathLst>
                <a:path h="814197" w="814197">
                  <a:moveTo>
                    <a:pt x="0" y="407035"/>
                  </a:moveTo>
                  <a:cubicBezTo>
                    <a:pt x="0" y="182245"/>
                    <a:pt x="182245" y="0"/>
                    <a:pt x="407035" y="0"/>
                  </a:cubicBezTo>
                  <a:cubicBezTo>
                    <a:pt x="631825" y="0"/>
                    <a:pt x="814197" y="182245"/>
                    <a:pt x="814197" y="407035"/>
                  </a:cubicBezTo>
                  <a:cubicBezTo>
                    <a:pt x="814197" y="631825"/>
                    <a:pt x="631952" y="814197"/>
                    <a:pt x="407035" y="814197"/>
                  </a:cubicBezTo>
                  <a:cubicBezTo>
                    <a:pt x="182118" y="814197"/>
                    <a:pt x="0" y="631952"/>
                    <a:pt x="0" y="407035"/>
                  </a:cubicBezTo>
                  <a:close/>
                </a:path>
              </a:pathLst>
            </a:custGeom>
            <a:solidFill>
              <a:srgbClr val="D98E3C"/>
            </a:solidFill>
            <a:ln w="25400" cap="sq">
              <a:solidFill>
                <a:srgbClr val="D98E3C"/>
              </a:solidFill>
              <a:prstDash val="solid"/>
              <a:miter/>
            </a:ln>
          </p:spPr>
        </p:sp>
      </p:grpSp>
      <p:grpSp>
        <p:nvGrpSpPr>
          <p:cNvPr name="Group 15" id="15"/>
          <p:cNvGrpSpPr/>
          <p:nvPr/>
        </p:nvGrpSpPr>
        <p:grpSpPr>
          <a:xfrm rot="0">
            <a:off x="1133856" y="2505456"/>
            <a:ext cx="585216" cy="585216"/>
            <a:chOff x="0" y="0"/>
            <a:chExt cx="780288" cy="780288"/>
          </a:xfrm>
        </p:grpSpPr>
        <p:sp>
          <p:nvSpPr>
            <p:cNvPr name="Freeform 16" id="16"/>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17" id="17"/>
            <p:cNvSpPr txBox="true"/>
            <p:nvPr/>
          </p:nvSpPr>
          <p:spPr>
            <a:xfrm>
              <a:off x="0" y="-38100"/>
              <a:ext cx="780288" cy="81838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2011680" y="2194560"/>
            <a:ext cx="7863840" cy="1207008"/>
            <a:chOff x="0" y="0"/>
            <a:chExt cx="10485120" cy="1609344"/>
          </a:xfrm>
        </p:grpSpPr>
        <p:sp>
          <p:nvSpPr>
            <p:cNvPr name="Freeform 19" id="19"/>
            <p:cNvSpPr/>
            <p:nvPr/>
          </p:nvSpPr>
          <p:spPr>
            <a:xfrm flipH="false" flipV="false" rot="0">
              <a:off x="0" y="0"/>
              <a:ext cx="10485120" cy="1609344"/>
            </a:xfrm>
            <a:custGeom>
              <a:avLst/>
              <a:gdLst/>
              <a:ahLst/>
              <a:cxnLst/>
              <a:rect r="r" b="b" t="t" l="l"/>
              <a:pathLst>
                <a:path h="1609344" w="10485120">
                  <a:moveTo>
                    <a:pt x="0" y="0"/>
                  </a:moveTo>
                  <a:lnTo>
                    <a:pt x="10485120" y="0"/>
                  </a:lnTo>
                  <a:lnTo>
                    <a:pt x="10485120" y="1609344"/>
                  </a:lnTo>
                  <a:lnTo>
                    <a:pt x="0" y="1609344"/>
                  </a:lnTo>
                  <a:close/>
                </a:path>
              </a:pathLst>
            </a:custGeom>
            <a:blipFill>
              <a:blip r:embed="rId3">
                <a:alphaModFix amt="0"/>
              </a:blip>
              <a:stretch>
                <a:fillRect l="0" t="-76947" r="0" b="-76947"/>
              </a:stretch>
            </a:blipFill>
          </p:spPr>
        </p:sp>
        <p:sp>
          <p:nvSpPr>
            <p:cNvPr name="TextBox 20" id="20"/>
            <p:cNvSpPr txBox="true"/>
            <p:nvPr/>
          </p:nvSpPr>
          <p:spPr>
            <a:xfrm>
              <a:off x="0" y="-38100"/>
              <a:ext cx="10485120" cy="1647444"/>
            </a:xfrm>
            <a:prstGeom prst="rect">
              <a:avLst/>
            </a:prstGeom>
          </p:spPr>
          <p:txBody>
            <a:bodyPr anchor="ctr" rtlCol="false" tIns="0" lIns="0" bIns="0" rIns="0"/>
            <a:lstStyle/>
            <a:p>
              <a:pPr algn="l">
                <a:lnSpc>
                  <a:spcPts val="2279"/>
                </a:lnSpc>
              </a:pPr>
              <a:r>
                <a:rPr lang="en-US" sz="1899">
                  <a:solidFill>
                    <a:srgbClr val="1F332F"/>
                  </a:solidFill>
                  <a:latin typeface="Calibri (MS)"/>
                  <a:ea typeface="Calibri (MS)"/>
                  <a:cs typeface="Calibri (MS)"/>
                  <a:sym typeface="Calibri (MS)"/>
                </a:rPr>
                <a:t>Login and role-based access for admin, booking clerk and passenger</a:t>
              </a:r>
            </a:p>
          </p:txBody>
        </p:sp>
      </p:grpSp>
      <p:grpSp>
        <p:nvGrpSpPr>
          <p:cNvPr name="Group 21" id="21"/>
          <p:cNvGrpSpPr/>
          <p:nvPr/>
        </p:nvGrpSpPr>
        <p:grpSpPr>
          <a:xfrm rot="0">
            <a:off x="901703" y="3571751"/>
            <a:ext cx="9169403" cy="1232411"/>
            <a:chOff x="0" y="0"/>
            <a:chExt cx="12225871" cy="1643215"/>
          </a:xfrm>
        </p:grpSpPr>
        <p:sp>
          <p:nvSpPr>
            <p:cNvPr name="Freeform 22" id="22"/>
            <p:cNvSpPr/>
            <p:nvPr/>
          </p:nvSpPr>
          <p:spPr>
            <a:xfrm flipH="false" flipV="false" rot="0">
              <a:off x="0" y="0"/>
              <a:ext cx="12225782" cy="1643126"/>
            </a:xfrm>
            <a:custGeom>
              <a:avLst/>
              <a:gdLst/>
              <a:ahLst/>
              <a:cxnLst/>
              <a:rect r="r" b="b" t="t" l="l"/>
              <a:pathLst>
                <a:path h="1643126" w="12225782">
                  <a:moveTo>
                    <a:pt x="0" y="199136"/>
                  </a:moveTo>
                  <a:cubicBezTo>
                    <a:pt x="0" y="89154"/>
                    <a:pt x="89154" y="0"/>
                    <a:pt x="199136" y="0"/>
                  </a:cubicBezTo>
                  <a:lnTo>
                    <a:pt x="12026646" y="0"/>
                  </a:lnTo>
                  <a:cubicBezTo>
                    <a:pt x="12136628" y="0"/>
                    <a:pt x="12225782" y="89154"/>
                    <a:pt x="12225782" y="199136"/>
                  </a:cubicBezTo>
                  <a:lnTo>
                    <a:pt x="12225782" y="1443990"/>
                  </a:lnTo>
                  <a:cubicBezTo>
                    <a:pt x="12225782" y="1553972"/>
                    <a:pt x="12136628" y="1643126"/>
                    <a:pt x="12026646" y="1643126"/>
                  </a:cubicBezTo>
                  <a:lnTo>
                    <a:pt x="199136" y="1643126"/>
                  </a:lnTo>
                  <a:cubicBezTo>
                    <a:pt x="89154" y="1643253"/>
                    <a:pt x="0" y="1554099"/>
                    <a:pt x="0" y="1443990"/>
                  </a:cubicBezTo>
                  <a:close/>
                </a:path>
              </a:pathLst>
            </a:custGeom>
            <a:solidFill>
              <a:srgbClr val="FFFFFF"/>
            </a:solidFill>
            <a:ln w="25400" cap="sq">
              <a:solidFill>
                <a:srgbClr val="FFFFFF"/>
              </a:solidFill>
              <a:prstDash val="solid"/>
              <a:miter/>
            </a:ln>
          </p:spPr>
        </p:sp>
      </p:grpSp>
      <p:grpSp>
        <p:nvGrpSpPr>
          <p:cNvPr name="Group 23" id="23"/>
          <p:cNvGrpSpPr/>
          <p:nvPr/>
        </p:nvGrpSpPr>
        <p:grpSpPr>
          <a:xfrm rot="0">
            <a:off x="1121159" y="3882647"/>
            <a:ext cx="610619" cy="610619"/>
            <a:chOff x="0" y="0"/>
            <a:chExt cx="814159" cy="814159"/>
          </a:xfrm>
        </p:grpSpPr>
        <p:sp>
          <p:nvSpPr>
            <p:cNvPr name="Freeform 24" id="24"/>
            <p:cNvSpPr/>
            <p:nvPr/>
          </p:nvSpPr>
          <p:spPr>
            <a:xfrm flipH="false" flipV="false" rot="0">
              <a:off x="0" y="0"/>
              <a:ext cx="814197" cy="814197"/>
            </a:xfrm>
            <a:custGeom>
              <a:avLst/>
              <a:gdLst/>
              <a:ahLst/>
              <a:cxnLst/>
              <a:rect r="r" b="b" t="t" l="l"/>
              <a:pathLst>
                <a:path h="814197" w="814197">
                  <a:moveTo>
                    <a:pt x="0" y="407035"/>
                  </a:moveTo>
                  <a:cubicBezTo>
                    <a:pt x="0" y="182245"/>
                    <a:pt x="182245" y="0"/>
                    <a:pt x="407035" y="0"/>
                  </a:cubicBezTo>
                  <a:cubicBezTo>
                    <a:pt x="631825" y="0"/>
                    <a:pt x="814197" y="182245"/>
                    <a:pt x="814197" y="407035"/>
                  </a:cubicBezTo>
                  <a:cubicBezTo>
                    <a:pt x="814197" y="631825"/>
                    <a:pt x="631952" y="814197"/>
                    <a:pt x="407035" y="814197"/>
                  </a:cubicBezTo>
                  <a:cubicBezTo>
                    <a:pt x="182118" y="814197"/>
                    <a:pt x="0" y="631952"/>
                    <a:pt x="0" y="407035"/>
                  </a:cubicBezTo>
                  <a:close/>
                </a:path>
              </a:pathLst>
            </a:custGeom>
            <a:solidFill>
              <a:srgbClr val="D98E3C"/>
            </a:solidFill>
            <a:ln w="25400" cap="sq">
              <a:solidFill>
                <a:srgbClr val="D98E3C"/>
              </a:solidFill>
              <a:prstDash val="solid"/>
              <a:miter/>
            </a:ln>
          </p:spPr>
        </p:sp>
      </p:grpSp>
      <p:grpSp>
        <p:nvGrpSpPr>
          <p:cNvPr name="Group 25" id="25"/>
          <p:cNvGrpSpPr/>
          <p:nvPr/>
        </p:nvGrpSpPr>
        <p:grpSpPr>
          <a:xfrm rot="0">
            <a:off x="1133856" y="3895344"/>
            <a:ext cx="585216" cy="585216"/>
            <a:chOff x="0" y="0"/>
            <a:chExt cx="780288" cy="780288"/>
          </a:xfrm>
        </p:grpSpPr>
        <p:sp>
          <p:nvSpPr>
            <p:cNvPr name="Freeform 26" id="26"/>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27" id="27"/>
            <p:cNvSpPr txBox="true"/>
            <p:nvPr/>
          </p:nvSpPr>
          <p:spPr>
            <a:xfrm>
              <a:off x="0" y="-38100"/>
              <a:ext cx="780288" cy="81838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a:t>
              </a:r>
            </a:p>
          </p:txBody>
        </p:sp>
      </p:grpSp>
      <p:grpSp>
        <p:nvGrpSpPr>
          <p:cNvPr name="Group 28" id="28"/>
          <p:cNvGrpSpPr/>
          <p:nvPr/>
        </p:nvGrpSpPr>
        <p:grpSpPr>
          <a:xfrm rot="0">
            <a:off x="2011680" y="3584448"/>
            <a:ext cx="7863840" cy="1207008"/>
            <a:chOff x="0" y="0"/>
            <a:chExt cx="10485120" cy="1609344"/>
          </a:xfrm>
        </p:grpSpPr>
        <p:sp>
          <p:nvSpPr>
            <p:cNvPr name="Freeform 29" id="29"/>
            <p:cNvSpPr/>
            <p:nvPr/>
          </p:nvSpPr>
          <p:spPr>
            <a:xfrm flipH="false" flipV="false" rot="0">
              <a:off x="0" y="0"/>
              <a:ext cx="10485120" cy="1609344"/>
            </a:xfrm>
            <a:custGeom>
              <a:avLst/>
              <a:gdLst/>
              <a:ahLst/>
              <a:cxnLst/>
              <a:rect r="r" b="b" t="t" l="l"/>
              <a:pathLst>
                <a:path h="1609344" w="10485120">
                  <a:moveTo>
                    <a:pt x="0" y="0"/>
                  </a:moveTo>
                  <a:lnTo>
                    <a:pt x="10485120" y="0"/>
                  </a:lnTo>
                  <a:lnTo>
                    <a:pt x="10485120" y="1609344"/>
                  </a:lnTo>
                  <a:lnTo>
                    <a:pt x="0" y="1609344"/>
                  </a:lnTo>
                  <a:close/>
                </a:path>
              </a:pathLst>
            </a:custGeom>
            <a:blipFill>
              <a:blip r:embed="rId3">
                <a:alphaModFix amt="0"/>
              </a:blip>
              <a:stretch>
                <a:fillRect l="0" t="-76947" r="0" b="-76947"/>
              </a:stretch>
            </a:blipFill>
          </p:spPr>
        </p:sp>
        <p:sp>
          <p:nvSpPr>
            <p:cNvPr name="TextBox 30" id="30"/>
            <p:cNvSpPr txBox="true"/>
            <p:nvPr/>
          </p:nvSpPr>
          <p:spPr>
            <a:xfrm>
              <a:off x="0" y="-38100"/>
              <a:ext cx="10485120" cy="1647444"/>
            </a:xfrm>
            <a:prstGeom prst="rect">
              <a:avLst/>
            </a:prstGeom>
          </p:spPr>
          <p:txBody>
            <a:bodyPr anchor="ctr" rtlCol="false" tIns="0" lIns="0" bIns="0" rIns="0"/>
            <a:lstStyle/>
            <a:p>
              <a:pPr algn="l">
                <a:lnSpc>
                  <a:spcPts val="2279"/>
                </a:lnSpc>
              </a:pPr>
              <a:r>
                <a:rPr lang="en-US" sz="1899">
                  <a:solidFill>
                    <a:srgbClr val="1F332F"/>
                  </a:solidFill>
                  <a:latin typeface="Calibri (MS)"/>
                  <a:ea typeface="Calibri (MS)"/>
                  <a:cs typeface="Calibri (MS)"/>
                  <a:sym typeface="Calibri (MS)"/>
                </a:rPr>
                <a:t>Seat-level pricing, per-stop fares and dynamic fares for peak days</a:t>
              </a:r>
            </a:p>
          </p:txBody>
        </p:sp>
      </p:grpSp>
      <p:grpSp>
        <p:nvGrpSpPr>
          <p:cNvPr name="Group 31" id="31"/>
          <p:cNvGrpSpPr/>
          <p:nvPr/>
        </p:nvGrpSpPr>
        <p:grpSpPr>
          <a:xfrm rot="0">
            <a:off x="901703" y="4961639"/>
            <a:ext cx="9169403" cy="1232411"/>
            <a:chOff x="0" y="0"/>
            <a:chExt cx="12225871" cy="1643215"/>
          </a:xfrm>
        </p:grpSpPr>
        <p:sp>
          <p:nvSpPr>
            <p:cNvPr name="Freeform 32" id="32"/>
            <p:cNvSpPr/>
            <p:nvPr/>
          </p:nvSpPr>
          <p:spPr>
            <a:xfrm flipH="false" flipV="false" rot="0">
              <a:off x="0" y="0"/>
              <a:ext cx="12225782" cy="1643126"/>
            </a:xfrm>
            <a:custGeom>
              <a:avLst/>
              <a:gdLst/>
              <a:ahLst/>
              <a:cxnLst/>
              <a:rect r="r" b="b" t="t" l="l"/>
              <a:pathLst>
                <a:path h="1643126" w="12225782">
                  <a:moveTo>
                    <a:pt x="0" y="199136"/>
                  </a:moveTo>
                  <a:cubicBezTo>
                    <a:pt x="0" y="89154"/>
                    <a:pt x="89154" y="0"/>
                    <a:pt x="199136" y="0"/>
                  </a:cubicBezTo>
                  <a:lnTo>
                    <a:pt x="12026646" y="0"/>
                  </a:lnTo>
                  <a:cubicBezTo>
                    <a:pt x="12136628" y="0"/>
                    <a:pt x="12225782" y="89154"/>
                    <a:pt x="12225782" y="199136"/>
                  </a:cubicBezTo>
                  <a:lnTo>
                    <a:pt x="12225782" y="1443990"/>
                  </a:lnTo>
                  <a:cubicBezTo>
                    <a:pt x="12225782" y="1553972"/>
                    <a:pt x="12136628" y="1643126"/>
                    <a:pt x="12026646" y="1643126"/>
                  </a:cubicBezTo>
                  <a:lnTo>
                    <a:pt x="199136" y="1643126"/>
                  </a:lnTo>
                  <a:cubicBezTo>
                    <a:pt x="89154" y="1643253"/>
                    <a:pt x="0" y="1554099"/>
                    <a:pt x="0" y="1443990"/>
                  </a:cubicBezTo>
                  <a:close/>
                </a:path>
              </a:pathLst>
            </a:custGeom>
            <a:solidFill>
              <a:srgbClr val="FFFFFF"/>
            </a:solidFill>
            <a:ln w="25400" cap="sq">
              <a:solidFill>
                <a:srgbClr val="FFFFFF"/>
              </a:solidFill>
              <a:prstDash val="solid"/>
              <a:miter/>
            </a:ln>
          </p:spPr>
        </p:sp>
      </p:grpSp>
      <p:grpSp>
        <p:nvGrpSpPr>
          <p:cNvPr name="Group 33" id="33"/>
          <p:cNvGrpSpPr/>
          <p:nvPr/>
        </p:nvGrpSpPr>
        <p:grpSpPr>
          <a:xfrm rot="0">
            <a:off x="1121159" y="5272535"/>
            <a:ext cx="610619" cy="610619"/>
            <a:chOff x="0" y="0"/>
            <a:chExt cx="814159" cy="814159"/>
          </a:xfrm>
        </p:grpSpPr>
        <p:sp>
          <p:nvSpPr>
            <p:cNvPr name="Freeform 34" id="34"/>
            <p:cNvSpPr/>
            <p:nvPr/>
          </p:nvSpPr>
          <p:spPr>
            <a:xfrm flipH="false" flipV="false" rot="0">
              <a:off x="0" y="0"/>
              <a:ext cx="814197" cy="814197"/>
            </a:xfrm>
            <a:custGeom>
              <a:avLst/>
              <a:gdLst/>
              <a:ahLst/>
              <a:cxnLst/>
              <a:rect r="r" b="b" t="t" l="l"/>
              <a:pathLst>
                <a:path h="814197" w="814197">
                  <a:moveTo>
                    <a:pt x="0" y="407035"/>
                  </a:moveTo>
                  <a:cubicBezTo>
                    <a:pt x="0" y="182245"/>
                    <a:pt x="182245" y="0"/>
                    <a:pt x="407035" y="0"/>
                  </a:cubicBezTo>
                  <a:cubicBezTo>
                    <a:pt x="631825" y="0"/>
                    <a:pt x="814197" y="182245"/>
                    <a:pt x="814197" y="407035"/>
                  </a:cubicBezTo>
                  <a:cubicBezTo>
                    <a:pt x="814197" y="631825"/>
                    <a:pt x="631952" y="814197"/>
                    <a:pt x="407035" y="814197"/>
                  </a:cubicBezTo>
                  <a:cubicBezTo>
                    <a:pt x="182118" y="814197"/>
                    <a:pt x="0" y="631952"/>
                    <a:pt x="0" y="407035"/>
                  </a:cubicBezTo>
                  <a:close/>
                </a:path>
              </a:pathLst>
            </a:custGeom>
            <a:solidFill>
              <a:srgbClr val="D98E3C"/>
            </a:solidFill>
            <a:ln w="25400" cap="sq">
              <a:solidFill>
                <a:srgbClr val="D98E3C"/>
              </a:solidFill>
              <a:prstDash val="solid"/>
              <a:miter/>
            </a:ln>
          </p:spPr>
        </p:sp>
      </p:grpSp>
      <p:grpSp>
        <p:nvGrpSpPr>
          <p:cNvPr name="Group 35" id="35"/>
          <p:cNvGrpSpPr/>
          <p:nvPr/>
        </p:nvGrpSpPr>
        <p:grpSpPr>
          <a:xfrm rot="0">
            <a:off x="1133856" y="5285232"/>
            <a:ext cx="585216" cy="585216"/>
            <a:chOff x="0" y="0"/>
            <a:chExt cx="780288" cy="780288"/>
          </a:xfrm>
        </p:grpSpPr>
        <p:sp>
          <p:nvSpPr>
            <p:cNvPr name="Freeform 36" id="36"/>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37" id="37"/>
            <p:cNvSpPr txBox="true"/>
            <p:nvPr/>
          </p:nvSpPr>
          <p:spPr>
            <a:xfrm>
              <a:off x="0" y="-38100"/>
              <a:ext cx="780288" cy="81838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3</a:t>
              </a:r>
            </a:p>
          </p:txBody>
        </p:sp>
      </p:grpSp>
      <p:grpSp>
        <p:nvGrpSpPr>
          <p:cNvPr name="Group 38" id="38"/>
          <p:cNvGrpSpPr/>
          <p:nvPr/>
        </p:nvGrpSpPr>
        <p:grpSpPr>
          <a:xfrm rot="0">
            <a:off x="2011680" y="4974336"/>
            <a:ext cx="7863840" cy="1207008"/>
            <a:chOff x="0" y="0"/>
            <a:chExt cx="10485120" cy="1609344"/>
          </a:xfrm>
        </p:grpSpPr>
        <p:sp>
          <p:nvSpPr>
            <p:cNvPr name="Freeform 39" id="39"/>
            <p:cNvSpPr/>
            <p:nvPr/>
          </p:nvSpPr>
          <p:spPr>
            <a:xfrm flipH="false" flipV="false" rot="0">
              <a:off x="0" y="0"/>
              <a:ext cx="10485120" cy="1609344"/>
            </a:xfrm>
            <a:custGeom>
              <a:avLst/>
              <a:gdLst/>
              <a:ahLst/>
              <a:cxnLst/>
              <a:rect r="r" b="b" t="t" l="l"/>
              <a:pathLst>
                <a:path h="1609344" w="10485120">
                  <a:moveTo>
                    <a:pt x="0" y="0"/>
                  </a:moveTo>
                  <a:lnTo>
                    <a:pt x="10485120" y="0"/>
                  </a:lnTo>
                  <a:lnTo>
                    <a:pt x="10485120" y="1609344"/>
                  </a:lnTo>
                  <a:lnTo>
                    <a:pt x="0" y="1609344"/>
                  </a:lnTo>
                  <a:close/>
                </a:path>
              </a:pathLst>
            </a:custGeom>
            <a:blipFill>
              <a:blip r:embed="rId3">
                <a:alphaModFix amt="0"/>
              </a:blip>
              <a:stretch>
                <a:fillRect l="0" t="-76947" r="0" b="-76947"/>
              </a:stretch>
            </a:blipFill>
          </p:spPr>
        </p:sp>
        <p:sp>
          <p:nvSpPr>
            <p:cNvPr name="TextBox 40" id="40"/>
            <p:cNvSpPr txBox="true"/>
            <p:nvPr/>
          </p:nvSpPr>
          <p:spPr>
            <a:xfrm>
              <a:off x="0" y="-38100"/>
              <a:ext cx="10485120" cy="1647444"/>
            </a:xfrm>
            <a:prstGeom prst="rect">
              <a:avLst/>
            </a:prstGeom>
          </p:spPr>
          <p:txBody>
            <a:bodyPr anchor="ctr" rtlCol="false" tIns="0" lIns="0" bIns="0" rIns="0"/>
            <a:lstStyle/>
            <a:p>
              <a:pPr algn="l">
                <a:lnSpc>
                  <a:spcPts val="2279"/>
                </a:lnSpc>
              </a:pPr>
              <a:r>
                <a:rPr lang="en-US" sz="1899">
                  <a:solidFill>
                    <a:srgbClr val="1F332F"/>
                  </a:solidFill>
                  <a:latin typeface="Calibri (MS)"/>
                  <a:ea typeface="Calibri (MS)"/>
                  <a:cs typeface="Calibri (MS)"/>
                  <a:sym typeface="Calibri (MS)"/>
                </a:rPr>
                <a:t>No login or role-based access for admin, clerk and passenger</a:t>
              </a:r>
            </a:p>
          </p:txBody>
        </p:sp>
      </p:grpSp>
      <p:grpSp>
        <p:nvGrpSpPr>
          <p:cNvPr name="Group 41" id="41"/>
          <p:cNvGrpSpPr/>
          <p:nvPr/>
        </p:nvGrpSpPr>
        <p:grpSpPr>
          <a:xfrm rot="0">
            <a:off x="901703" y="6351527"/>
            <a:ext cx="9169403" cy="1232411"/>
            <a:chOff x="0" y="0"/>
            <a:chExt cx="12225871" cy="1643215"/>
          </a:xfrm>
        </p:grpSpPr>
        <p:sp>
          <p:nvSpPr>
            <p:cNvPr name="Freeform 42" id="42"/>
            <p:cNvSpPr/>
            <p:nvPr/>
          </p:nvSpPr>
          <p:spPr>
            <a:xfrm flipH="false" flipV="false" rot="0">
              <a:off x="0" y="0"/>
              <a:ext cx="12225782" cy="1643126"/>
            </a:xfrm>
            <a:custGeom>
              <a:avLst/>
              <a:gdLst/>
              <a:ahLst/>
              <a:cxnLst/>
              <a:rect r="r" b="b" t="t" l="l"/>
              <a:pathLst>
                <a:path h="1643126" w="12225782">
                  <a:moveTo>
                    <a:pt x="0" y="199136"/>
                  </a:moveTo>
                  <a:cubicBezTo>
                    <a:pt x="0" y="89154"/>
                    <a:pt x="89154" y="0"/>
                    <a:pt x="199136" y="0"/>
                  </a:cubicBezTo>
                  <a:lnTo>
                    <a:pt x="12026646" y="0"/>
                  </a:lnTo>
                  <a:cubicBezTo>
                    <a:pt x="12136628" y="0"/>
                    <a:pt x="12225782" y="89154"/>
                    <a:pt x="12225782" y="199136"/>
                  </a:cubicBezTo>
                  <a:lnTo>
                    <a:pt x="12225782" y="1443990"/>
                  </a:lnTo>
                  <a:cubicBezTo>
                    <a:pt x="12225782" y="1553972"/>
                    <a:pt x="12136628" y="1643126"/>
                    <a:pt x="12026646" y="1643126"/>
                  </a:cubicBezTo>
                  <a:lnTo>
                    <a:pt x="199136" y="1643126"/>
                  </a:lnTo>
                  <a:cubicBezTo>
                    <a:pt x="89154" y="1643253"/>
                    <a:pt x="0" y="1554099"/>
                    <a:pt x="0" y="1443990"/>
                  </a:cubicBezTo>
                  <a:close/>
                </a:path>
              </a:pathLst>
            </a:custGeom>
            <a:solidFill>
              <a:srgbClr val="FFFFFF"/>
            </a:solidFill>
            <a:ln w="25400" cap="sq">
              <a:solidFill>
                <a:srgbClr val="FFFFFF"/>
              </a:solidFill>
              <a:prstDash val="solid"/>
              <a:miter/>
            </a:ln>
          </p:spPr>
        </p:sp>
      </p:grpSp>
      <p:grpSp>
        <p:nvGrpSpPr>
          <p:cNvPr name="Group 43" id="43"/>
          <p:cNvGrpSpPr/>
          <p:nvPr/>
        </p:nvGrpSpPr>
        <p:grpSpPr>
          <a:xfrm rot="0">
            <a:off x="1121159" y="6662423"/>
            <a:ext cx="610619" cy="610619"/>
            <a:chOff x="0" y="0"/>
            <a:chExt cx="814159" cy="814159"/>
          </a:xfrm>
        </p:grpSpPr>
        <p:sp>
          <p:nvSpPr>
            <p:cNvPr name="Freeform 44" id="44"/>
            <p:cNvSpPr/>
            <p:nvPr/>
          </p:nvSpPr>
          <p:spPr>
            <a:xfrm flipH="false" flipV="false" rot="0">
              <a:off x="0" y="0"/>
              <a:ext cx="814197" cy="814197"/>
            </a:xfrm>
            <a:custGeom>
              <a:avLst/>
              <a:gdLst/>
              <a:ahLst/>
              <a:cxnLst/>
              <a:rect r="r" b="b" t="t" l="l"/>
              <a:pathLst>
                <a:path h="814197" w="814197">
                  <a:moveTo>
                    <a:pt x="0" y="407035"/>
                  </a:moveTo>
                  <a:cubicBezTo>
                    <a:pt x="0" y="182245"/>
                    <a:pt x="182245" y="0"/>
                    <a:pt x="407035" y="0"/>
                  </a:cubicBezTo>
                  <a:cubicBezTo>
                    <a:pt x="631825" y="0"/>
                    <a:pt x="814197" y="182245"/>
                    <a:pt x="814197" y="407035"/>
                  </a:cubicBezTo>
                  <a:cubicBezTo>
                    <a:pt x="814197" y="631825"/>
                    <a:pt x="631952" y="814197"/>
                    <a:pt x="407035" y="814197"/>
                  </a:cubicBezTo>
                  <a:cubicBezTo>
                    <a:pt x="182118" y="814197"/>
                    <a:pt x="0" y="631952"/>
                    <a:pt x="0" y="407035"/>
                  </a:cubicBezTo>
                  <a:close/>
                </a:path>
              </a:pathLst>
            </a:custGeom>
            <a:solidFill>
              <a:srgbClr val="D98E3C"/>
            </a:solidFill>
            <a:ln w="25400" cap="sq">
              <a:solidFill>
                <a:srgbClr val="D98E3C"/>
              </a:solidFill>
              <a:prstDash val="solid"/>
              <a:miter/>
            </a:ln>
          </p:spPr>
        </p:sp>
      </p:grpSp>
      <p:grpSp>
        <p:nvGrpSpPr>
          <p:cNvPr name="Group 45" id="45"/>
          <p:cNvGrpSpPr/>
          <p:nvPr/>
        </p:nvGrpSpPr>
        <p:grpSpPr>
          <a:xfrm rot="0">
            <a:off x="1133856" y="6675120"/>
            <a:ext cx="585216" cy="585216"/>
            <a:chOff x="0" y="0"/>
            <a:chExt cx="780288" cy="780288"/>
          </a:xfrm>
        </p:grpSpPr>
        <p:sp>
          <p:nvSpPr>
            <p:cNvPr name="Freeform 46" id="46"/>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47" id="47"/>
            <p:cNvSpPr txBox="true"/>
            <p:nvPr/>
          </p:nvSpPr>
          <p:spPr>
            <a:xfrm>
              <a:off x="0" y="-38100"/>
              <a:ext cx="780288" cy="81838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4</a:t>
              </a:r>
            </a:p>
          </p:txBody>
        </p:sp>
      </p:grpSp>
      <p:grpSp>
        <p:nvGrpSpPr>
          <p:cNvPr name="Group 48" id="48"/>
          <p:cNvGrpSpPr/>
          <p:nvPr/>
        </p:nvGrpSpPr>
        <p:grpSpPr>
          <a:xfrm rot="0">
            <a:off x="2011680" y="6364224"/>
            <a:ext cx="7863840" cy="1207008"/>
            <a:chOff x="0" y="0"/>
            <a:chExt cx="10485120" cy="1609344"/>
          </a:xfrm>
        </p:grpSpPr>
        <p:sp>
          <p:nvSpPr>
            <p:cNvPr name="Freeform 49" id="49"/>
            <p:cNvSpPr/>
            <p:nvPr/>
          </p:nvSpPr>
          <p:spPr>
            <a:xfrm flipH="false" flipV="false" rot="0">
              <a:off x="0" y="0"/>
              <a:ext cx="10485120" cy="1609344"/>
            </a:xfrm>
            <a:custGeom>
              <a:avLst/>
              <a:gdLst/>
              <a:ahLst/>
              <a:cxnLst/>
              <a:rect r="r" b="b" t="t" l="l"/>
              <a:pathLst>
                <a:path h="1609344" w="10485120">
                  <a:moveTo>
                    <a:pt x="0" y="0"/>
                  </a:moveTo>
                  <a:lnTo>
                    <a:pt x="10485120" y="0"/>
                  </a:lnTo>
                  <a:lnTo>
                    <a:pt x="10485120" y="1609344"/>
                  </a:lnTo>
                  <a:lnTo>
                    <a:pt x="0" y="1609344"/>
                  </a:lnTo>
                  <a:close/>
                </a:path>
              </a:pathLst>
            </a:custGeom>
            <a:blipFill>
              <a:blip r:embed="rId3">
                <a:alphaModFix amt="0"/>
              </a:blip>
              <a:stretch>
                <a:fillRect l="0" t="-76947" r="0" b="-76947"/>
              </a:stretch>
            </a:blipFill>
          </p:spPr>
        </p:sp>
        <p:sp>
          <p:nvSpPr>
            <p:cNvPr name="TextBox 50" id="50"/>
            <p:cNvSpPr txBox="true"/>
            <p:nvPr/>
          </p:nvSpPr>
          <p:spPr>
            <a:xfrm>
              <a:off x="0" y="-38100"/>
              <a:ext cx="10485120" cy="1647444"/>
            </a:xfrm>
            <a:prstGeom prst="rect">
              <a:avLst/>
            </a:prstGeom>
          </p:spPr>
          <p:txBody>
            <a:bodyPr anchor="ctr" rtlCol="false" tIns="0" lIns="0" bIns="0" rIns="0"/>
            <a:lstStyle/>
            <a:p>
              <a:pPr algn="l">
                <a:lnSpc>
                  <a:spcPts val="2279"/>
                </a:lnSpc>
              </a:pPr>
              <a:r>
                <a:rPr lang="en-US" sz="1899">
                  <a:solidFill>
                    <a:srgbClr val="1F332F"/>
                  </a:solidFill>
                  <a:latin typeface="Calibri (MS)"/>
                  <a:ea typeface="Calibri (MS)"/>
                  <a:cs typeface="Calibri (MS)"/>
                  <a:sym typeface="Calibri (MS)"/>
                </a:rPr>
                <a:t>No seat-level pricing or per-stop fares; fare is per route and bus type</a:t>
              </a:r>
            </a:p>
          </p:txBody>
        </p:sp>
      </p:grpSp>
      <p:grpSp>
        <p:nvGrpSpPr>
          <p:cNvPr name="Group 51" id="51"/>
          <p:cNvGrpSpPr/>
          <p:nvPr/>
        </p:nvGrpSpPr>
        <p:grpSpPr>
          <a:xfrm rot="0">
            <a:off x="901703" y="7741415"/>
            <a:ext cx="9169403" cy="1232411"/>
            <a:chOff x="0" y="0"/>
            <a:chExt cx="12225871" cy="1643215"/>
          </a:xfrm>
        </p:grpSpPr>
        <p:sp>
          <p:nvSpPr>
            <p:cNvPr name="Freeform 52" id="52"/>
            <p:cNvSpPr/>
            <p:nvPr/>
          </p:nvSpPr>
          <p:spPr>
            <a:xfrm flipH="false" flipV="false" rot="0">
              <a:off x="0" y="0"/>
              <a:ext cx="12225782" cy="1643126"/>
            </a:xfrm>
            <a:custGeom>
              <a:avLst/>
              <a:gdLst/>
              <a:ahLst/>
              <a:cxnLst/>
              <a:rect r="r" b="b" t="t" l="l"/>
              <a:pathLst>
                <a:path h="1643126" w="12225782">
                  <a:moveTo>
                    <a:pt x="0" y="199136"/>
                  </a:moveTo>
                  <a:cubicBezTo>
                    <a:pt x="0" y="89154"/>
                    <a:pt x="89154" y="0"/>
                    <a:pt x="199136" y="0"/>
                  </a:cubicBezTo>
                  <a:lnTo>
                    <a:pt x="12026646" y="0"/>
                  </a:lnTo>
                  <a:cubicBezTo>
                    <a:pt x="12136628" y="0"/>
                    <a:pt x="12225782" y="89154"/>
                    <a:pt x="12225782" y="199136"/>
                  </a:cubicBezTo>
                  <a:lnTo>
                    <a:pt x="12225782" y="1443990"/>
                  </a:lnTo>
                  <a:cubicBezTo>
                    <a:pt x="12225782" y="1553972"/>
                    <a:pt x="12136628" y="1643126"/>
                    <a:pt x="12026646" y="1643126"/>
                  </a:cubicBezTo>
                  <a:lnTo>
                    <a:pt x="199136" y="1643126"/>
                  </a:lnTo>
                  <a:cubicBezTo>
                    <a:pt x="89154" y="1643253"/>
                    <a:pt x="0" y="1554099"/>
                    <a:pt x="0" y="1443990"/>
                  </a:cubicBezTo>
                  <a:close/>
                </a:path>
              </a:pathLst>
            </a:custGeom>
            <a:solidFill>
              <a:srgbClr val="FFFFFF"/>
            </a:solidFill>
            <a:ln w="25400" cap="sq">
              <a:solidFill>
                <a:srgbClr val="FFFFFF"/>
              </a:solidFill>
              <a:prstDash val="solid"/>
              <a:miter/>
            </a:ln>
          </p:spPr>
        </p:sp>
      </p:grpSp>
      <p:grpSp>
        <p:nvGrpSpPr>
          <p:cNvPr name="Group 53" id="53"/>
          <p:cNvGrpSpPr/>
          <p:nvPr/>
        </p:nvGrpSpPr>
        <p:grpSpPr>
          <a:xfrm rot="0">
            <a:off x="1121159" y="8052311"/>
            <a:ext cx="610619" cy="610619"/>
            <a:chOff x="0" y="0"/>
            <a:chExt cx="814159" cy="814159"/>
          </a:xfrm>
        </p:grpSpPr>
        <p:sp>
          <p:nvSpPr>
            <p:cNvPr name="Freeform 54" id="54"/>
            <p:cNvSpPr/>
            <p:nvPr/>
          </p:nvSpPr>
          <p:spPr>
            <a:xfrm flipH="false" flipV="false" rot="0">
              <a:off x="0" y="0"/>
              <a:ext cx="814197" cy="814197"/>
            </a:xfrm>
            <a:custGeom>
              <a:avLst/>
              <a:gdLst/>
              <a:ahLst/>
              <a:cxnLst/>
              <a:rect r="r" b="b" t="t" l="l"/>
              <a:pathLst>
                <a:path h="814197" w="814197">
                  <a:moveTo>
                    <a:pt x="0" y="407035"/>
                  </a:moveTo>
                  <a:cubicBezTo>
                    <a:pt x="0" y="182245"/>
                    <a:pt x="182245" y="0"/>
                    <a:pt x="407035" y="0"/>
                  </a:cubicBezTo>
                  <a:cubicBezTo>
                    <a:pt x="631825" y="0"/>
                    <a:pt x="814197" y="182245"/>
                    <a:pt x="814197" y="407035"/>
                  </a:cubicBezTo>
                  <a:cubicBezTo>
                    <a:pt x="814197" y="631825"/>
                    <a:pt x="631952" y="814197"/>
                    <a:pt x="407035" y="814197"/>
                  </a:cubicBezTo>
                  <a:cubicBezTo>
                    <a:pt x="182118" y="814197"/>
                    <a:pt x="0" y="631952"/>
                    <a:pt x="0" y="407035"/>
                  </a:cubicBezTo>
                  <a:close/>
                </a:path>
              </a:pathLst>
            </a:custGeom>
            <a:solidFill>
              <a:srgbClr val="D98E3C"/>
            </a:solidFill>
            <a:ln w="25400" cap="sq">
              <a:solidFill>
                <a:srgbClr val="D98E3C"/>
              </a:solidFill>
              <a:prstDash val="solid"/>
              <a:miter/>
            </a:ln>
          </p:spPr>
        </p:sp>
      </p:grpSp>
      <p:grpSp>
        <p:nvGrpSpPr>
          <p:cNvPr name="Group 55" id="55"/>
          <p:cNvGrpSpPr/>
          <p:nvPr/>
        </p:nvGrpSpPr>
        <p:grpSpPr>
          <a:xfrm rot="0">
            <a:off x="1133856" y="8065008"/>
            <a:ext cx="585216" cy="585216"/>
            <a:chOff x="0" y="0"/>
            <a:chExt cx="780288" cy="780288"/>
          </a:xfrm>
        </p:grpSpPr>
        <p:sp>
          <p:nvSpPr>
            <p:cNvPr name="Freeform 56" id="56"/>
            <p:cNvSpPr/>
            <p:nvPr/>
          </p:nvSpPr>
          <p:spPr>
            <a:xfrm flipH="false" flipV="false" rot="0">
              <a:off x="0" y="0"/>
              <a:ext cx="780288" cy="780288"/>
            </a:xfrm>
            <a:custGeom>
              <a:avLst/>
              <a:gdLst/>
              <a:ahLst/>
              <a:cxnLst/>
              <a:rect r="r" b="b" t="t" l="l"/>
              <a:pathLst>
                <a:path h="780288" w="780288">
                  <a:moveTo>
                    <a:pt x="0" y="0"/>
                  </a:moveTo>
                  <a:lnTo>
                    <a:pt x="780288" y="0"/>
                  </a:lnTo>
                  <a:lnTo>
                    <a:pt x="780288" y="780288"/>
                  </a:lnTo>
                  <a:lnTo>
                    <a:pt x="0" y="780288"/>
                  </a:lnTo>
                  <a:close/>
                </a:path>
              </a:pathLst>
            </a:custGeom>
            <a:blipFill>
              <a:blip r:embed="rId3">
                <a:alphaModFix amt="0"/>
              </a:blip>
              <a:stretch>
                <a:fillRect l="-78303" t="0" r="-78303" b="0"/>
              </a:stretch>
            </a:blipFill>
          </p:spPr>
        </p:sp>
        <p:sp>
          <p:nvSpPr>
            <p:cNvPr name="TextBox 57" id="57"/>
            <p:cNvSpPr txBox="true"/>
            <p:nvPr/>
          </p:nvSpPr>
          <p:spPr>
            <a:xfrm>
              <a:off x="0" y="-38100"/>
              <a:ext cx="780288" cy="818388"/>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5</a:t>
              </a:r>
            </a:p>
          </p:txBody>
        </p:sp>
      </p:grpSp>
      <p:grpSp>
        <p:nvGrpSpPr>
          <p:cNvPr name="Group 58" id="58"/>
          <p:cNvGrpSpPr/>
          <p:nvPr/>
        </p:nvGrpSpPr>
        <p:grpSpPr>
          <a:xfrm rot="0">
            <a:off x="2011680" y="7754112"/>
            <a:ext cx="7863840" cy="1207008"/>
            <a:chOff x="0" y="0"/>
            <a:chExt cx="10485120" cy="1609344"/>
          </a:xfrm>
        </p:grpSpPr>
        <p:sp>
          <p:nvSpPr>
            <p:cNvPr name="Freeform 59" id="59"/>
            <p:cNvSpPr/>
            <p:nvPr/>
          </p:nvSpPr>
          <p:spPr>
            <a:xfrm flipH="false" flipV="false" rot="0">
              <a:off x="0" y="0"/>
              <a:ext cx="10485120" cy="1609344"/>
            </a:xfrm>
            <a:custGeom>
              <a:avLst/>
              <a:gdLst/>
              <a:ahLst/>
              <a:cxnLst/>
              <a:rect r="r" b="b" t="t" l="l"/>
              <a:pathLst>
                <a:path h="1609344" w="10485120">
                  <a:moveTo>
                    <a:pt x="0" y="0"/>
                  </a:moveTo>
                  <a:lnTo>
                    <a:pt x="10485120" y="0"/>
                  </a:lnTo>
                  <a:lnTo>
                    <a:pt x="10485120" y="1609344"/>
                  </a:lnTo>
                  <a:lnTo>
                    <a:pt x="0" y="1609344"/>
                  </a:lnTo>
                  <a:close/>
                </a:path>
              </a:pathLst>
            </a:custGeom>
            <a:blipFill>
              <a:blip r:embed="rId3">
                <a:alphaModFix amt="0"/>
              </a:blip>
              <a:stretch>
                <a:fillRect l="0" t="-76947" r="0" b="-76947"/>
              </a:stretch>
            </a:blipFill>
          </p:spPr>
        </p:sp>
        <p:sp>
          <p:nvSpPr>
            <p:cNvPr name="TextBox 60" id="60"/>
            <p:cNvSpPr txBox="true"/>
            <p:nvPr/>
          </p:nvSpPr>
          <p:spPr>
            <a:xfrm>
              <a:off x="0" y="-38100"/>
              <a:ext cx="10485120" cy="1647444"/>
            </a:xfrm>
            <a:prstGeom prst="rect">
              <a:avLst/>
            </a:prstGeom>
          </p:spPr>
          <p:txBody>
            <a:bodyPr anchor="ctr" rtlCol="false" tIns="0" lIns="0" bIns="0" rIns="0"/>
            <a:lstStyle/>
            <a:p>
              <a:pPr algn="l">
                <a:lnSpc>
                  <a:spcPts val="2279"/>
                </a:lnSpc>
              </a:pPr>
              <a:r>
                <a:rPr lang="en-US" sz="1899">
                  <a:solidFill>
                    <a:srgbClr val="1F332F"/>
                  </a:solidFill>
                  <a:latin typeface="Calibri (MS)"/>
                  <a:ea typeface="Calibri (MS)"/>
                  <a:cs typeface="Calibri (MS)"/>
                  <a:sym typeface="Calibri (MS)"/>
                </a:rPr>
                <a:t> The app shows the refund tier (90%, 50% or 0%) that the trigger applied</a:t>
              </a:r>
            </a:p>
          </p:txBody>
        </p:sp>
      </p:grpSp>
      <p:grpSp>
        <p:nvGrpSpPr>
          <p:cNvPr name="Group 61" id="61"/>
          <p:cNvGrpSpPr/>
          <p:nvPr/>
        </p:nvGrpSpPr>
        <p:grpSpPr>
          <a:xfrm rot="0">
            <a:off x="10411463" y="2181863"/>
            <a:ext cx="6974843" cy="6865115"/>
            <a:chOff x="0" y="0"/>
            <a:chExt cx="9299791" cy="9153487"/>
          </a:xfrm>
        </p:grpSpPr>
        <p:sp>
          <p:nvSpPr>
            <p:cNvPr name="Freeform 62" id="62"/>
            <p:cNvSpPr/>
            <p:nvPr/>
          </p:nvSpPr>
          <p:spPr>
            <a:xfrm flipH="false" flipV="false" rot="0">
              <a:off x="0" y="0"/>
              <a:ext cx="9299828" cy="9153525"/>
            </a:xfrm>
            <a:custGeom>
              <a:avLst/>
              <a:gdLst/>
              <a:ahLst/>
              <a:cxnLst/>
              <a:rect r="r" b="b" t="t" l="l"/>
              <a:pathLst>
                <a:path h="9153525" w="9299828">
                  <a:moveTo>
                    <a:pt x="0" y="195834"/>
                  </a:moveTo>
                  <a:cubicBezTo>
                    <a:pt x="0" y="87630"/>
                    <a:pt x="87630" y="0"/>
                    <a:pt x="195834" y="0"/>
                  </a:cubicBezTo>
                  <a:lnTo>
                    <a:pt x="9103995" y="0"/>
                  </a:lnTo>
                  <a:cubicBezTo>
                    <a:pt x="9212072" y="0"/>
                    <a:pt x="9299828" y="87630"/>
                    <a:pt x="9299828" y="195834"/>
                  </a:cubicBezTo>
                  <a:lnTo>
                    <a:pt x="9299828" y="8957691"/>
                  </a:lnTo>
                  <a:cubicBezTo>
                    <a:pt x="9299828" y="9065768"/>
                    <a:pt x="9212199" y="9153525"/>
                    <a:pt x="9103995" y="9153525"/>
                  </a:cubicBezTo>
                  <a:lnTo>
                    <a:pt x="195834" y="9153525"/>
                  </a:lnTo>
                  <a:cubicBezTo>
                    <a:pt x="87630" y="9153525"/>
                    <a:pt x="0" y="9065768"/>
                    <a:pt x="0" y="8957691"/>
                  </a:cubicBezTo>
                  <a:close/>
                </a:path>
              </a:pathLst>
            </a:custGeom>
            <a:solidFill>
              <a:srgbClr val="1B4A4A"/>
            </a:solidFill>
            <a:ln w="25400" cap="sq">
              <a:solidFill>
                <a:srgbClr val="1B4A4A"/>
              </a:solidFill>
              <a:prstDash val="solid"/>
              <a:miter/>
            </a:ln>
          </p:spPr>
        </p:sp>
      </p:grpSp>
      <p:sp>
        <p:nvSpPr>
          <p:cNvPr name="TextBox 63" id="63"/>
          <p:cNvSpPr txBox="true"/>
          <p:nvPr/>
        </p:nvSpPr>
        <p:spPr>
          <a:xfrm rot="0">
            <a:off x="10881360" y="2522220"/>
            <a:ext cx="6035040" cy="2943225"/>
          </a:xfrm>
          <a:prstGeom prst="rect">
            <a:avLst/>
          </a:prstGeom>
        </p:spPr>
        <p:txBody>
          <a:bodyPr anchor="t" rtlCol="false" tIns="0" lIns="0" bIns="0" rIns="0">
            <a:spAutoFit/>
          </a:bodyPr>
          <a:lstStyle/>
          <a:p>
            <a:pPr algn="l">
              <a:lnSpc>
                <a:spcPts val="2040"/>
              </a:lnSpc>
            </a:pPr>
            <a:r>
              <a:rPr lang="en-US" sz="1700" b="true">
                <a:solidFill>
                  <a:srgbClr val="D98E3C"/>
                </a:solidFill>
                <a:latin typeface="Calibri (MS) Bold"/>
                <a:ea typeface="Calibri (MS) Bold"/>
                <a:cs typeface="Calibri (MS) Bold"/>
                <a:sym typeface="Calibri (MS) Bold"/>
              </a:rPr>
              <a:t>CONCLUSION</a:t>
            </a:r>
          </a:p>
          <a:p>
            <a:pPr algn="l">
              <a:lnSpc>
                <a:spcPts val="2639"/>
              </a:lnSpc>
            </a:pPr>
            <a:r>
              <a:rPr lang="en-US" sz="2199">
                <a:solidFill>
                  <a:srgbClr val="FFFFFF"/>
                </a:solidFill>
                <a:latin typeface="Calibri (MS)"/>
                <a:ea typeface="Calibri (MS)"/>
                <a:cs typeface="Calibri (MS)"/>
                <a:sym typeface="Calibri (MS)"/>
              </a:rPr>
              <a:t>The bus reservation and fleet scheduling database is implemented in MySQL. Double booking, crew overlap, payment and refund rules are enforced by constraints and triggers. Queries, reports and the application are work in progress.</a:t>
            </a:r>
          </a:p>
          <a:p>
            <a:pPr algn="l">
              <a:lnSpc>
                <a:spcPts val="1919"/>
              </a:lnSpc>
            </a:pPr>
            <a:r>
              <a:rPr lang="en-US" sz="1599">
                <a:solidFill>
                  <a:srgbClr val="000000"/>
                </a:solidFill>
                <a:latin typeface="Calibri (MS)"/>
                <a:ea typeface="Calibri (MS)"/>
                <a:cs typeface="Calibri (MS)"/>
                <a:sym typeface="Calibri (MS)"/>
              </a:rPr>
              <a:t> </a:t>
            </a:r>
          </a:p>
          <a:p>
            <a:pPr algn="l">
              <a:lnSpc>
                <a:spcPts val="3840"/>
              </a:lnSpc>
            </a:pPr>
            <a:r>
              <a:rPr lang="en-US" sz="3200" b="true">
                <a:solidFill>
                  <a:srgbClr val="FFFFFF"/>
                </a:solidFill>
                <a:latin typeface="Cambria Bold"/>
                <a:ea typeface="Cambria Bold"/>
                <a:cs typeface="Cambria Bold"/>
                <a:sym typeface="Cambria Bold"/>
              </a:rPr>
              <a:t>Thank You</a:t>
            </a:r>
          </a:p>
          <a:p>
            <a:pPr algn="l">
              <a:lnSpc>
                <a:spcPts val="2040"/>
              </a:lnSpc>
            </a:pPr>
            <a:r>
              <a:rPr lang="en-US" sz="1700">
                <a:solidFill>
                  <a:srgbClr val="BBD8CC"/>
                </a:solidFill>
                <a:latin typeface="Calibri (MS)"/>
                <a:ea typeface="Calibri (MS)"/>
                <a:cs typeface="Calibri (MS)"/>
                <a:sym typeface="Calibri (MS)"/>
              </a:rPr>
              <a:t>Harshit Palla  •  25WU0102095</a:t>
            </a:r>
          </a:p>
        </p:txBody>
      </p:sp>
      <p:sp>
        <p:nvSpPr>
          <p:cNvPr name="TextBox 64" id="64"/>
          <p:cNvSpPr txBox="true"/>
          <p:nvPr/>
        </p:nvSpPr>
        <p:spPr>
          <a:xfrm rot="0">
            <a:off x="16733520" y="9673209"/>
            <a:ext cx="548640" cy="394335"/>
          </a:xfrm>
          <a:prstGeom prst="rect">
            <a:avLst/>
          </a:prstGeom>
        </p:spPr>
        <p:txBody>
          <a:bodyPr anchor="t" rtlCol="false" tIns="0" lIns="0" bIns="0" rIns="0">
            <a:spAutoFit/>
          </a:bodyPr>
          <a:lstStyle/>
          <a:p>
            <a:pPr algn="l">
              <a:lnSpc>
                <a:spcPts val="1919"/>
              </a:lnSpc>
            </a:pPr>
            <a:r>
              <a:rPr lang="en-US" sz="1599">
                <a:solidFill>
                  <a:srgbClr val="5C7A70"/>
                </a:solidFill>
                <a:latin typeface="Calibri (MS)"/>
                <a:ea typeface="Calibri (MS)"/>
                <a:cs typeface="Calibri (MS)"/>
                <a:sym typeface="Calibri (MS)"/>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DAHXcWgVQR4</dc:identifier>
  <dcterms:modified xsi:type="dcterms:W3CDTF">2011-08-01T06:04:30Z</dcterms:modified>
  <cp:revision>1</cp:revision>
  <dc:title>Bus_Reservation_DBMS_Review_3.pptx</dc:title>
</cp:coreProperties>
</file>