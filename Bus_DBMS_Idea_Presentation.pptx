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082C45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082C45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77724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777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82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PROPOSAL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10424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 BUS RESERVATION AND FLEET SCHEDULING SYSTEM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86968" y="39776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Design, ER Model &amp; Initial Relational Schema for a Relational Bus Reservation and Fleet Scheduling Platform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86968" y="4892040"/>
            <a:ext cx="29260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5074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Harshit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5440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Artificial Intelligence &amp; Machine Learning  |  Woxsen University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— Idea &amp; Conceptual Design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 &amp; 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6309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operators today manage routes, fleets, crews and bookings largely through manual registers, spreadsheets or disconnected tools — creating real operational risk: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02536"/>
            <a:ext cx="5715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double-booked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seat on a trip can be sold to two passengers with no system-level check.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962656"/>
            <a:ext cx="5715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fleet-wide visibility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Bus, seat and route data are scattered; availability cannot be verified in real time.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97764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922776"/>
            <a:ext cx="5715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duty overlaps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or conductors can be assigned to two overlapping trips undetected.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937760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4882896"/>
            <a:ext cx="5715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reporting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revenue, cancellations and utilization cannot be tracked reliably.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269480" y="1234440"/>
            <a:ext cx="4434840" cy="2148840"/>
          </a:xfrm>
          <a:prstGeom prst="roundRect">
            <a:avLst>
              <a:gd name="adj" fmla="val 4255"/>
            </a:avLst>
          </a:prstGeom>
          <a:solidFill>
            <a:srgbClr val="F1F4F6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14173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SYSTEM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1783080"/>
            <a:ext cx="3886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✗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/ spreadsheet registers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✗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in-person confirmations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✗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on seat or crew clashes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✗"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built manually, if at all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69480" y="3566160"/>
            <a:ext cx="4434840" cy="2148840"/>
          </a:xfrm>
          <a:prstGeom prst="roundRect">
            <a:avLst>
              <a:gd name="adj" fmla="val 4255"/>
            </a:avLst>
          </a:prstGeom>
          <a:solidFill>
            <a:srgbClr val="0B3C5D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37490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DATABASE-DRIVEN SYSTEM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43800" y="4114800"/>
            <a:ext cx="3886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booking per seat per trip, enforced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availability across the fleet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overlap prevented by constraints</a:t>
            </a:r>
            <a:endParaRPr lang="en-US" sz="1150" dirty="0"/>
          </a:p>
          <a:p>
            <a:pPr marL="228600" indent="-228600">
              <a:spcAft>
                <a:spcPts val="800"/>
              </a:spcAft>
              <a:buSzPct val="100000"/>
              <a:buChar char="✓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occupancy, revenue &amp; fleet reports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Reservation &amp; Fleet Scheduling DBMS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DEFINITION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5349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6792" y="1234440"/>
            <a:ext cx="5349240" cy="5074920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0B3C5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36792" y="123444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336792" y="123444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310896" cy="310896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98424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management of routes, stops, fleet, seats and schedules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953512"/>
            <a:ext cx="310896" cy="310896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28803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handling — driver / conductor assignment and duty tracking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310896" cy="310896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77647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booking, cancellation, fare and payment workflows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4745736"/>
            <a:ext cx="310896" cy="310896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467258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reports — occupancy, revenue, cancellations, utilization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310896" cy="310896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641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556869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on MySQL / PostgreSQL / Oracle with a Java or Python front-end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11112" y="205740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2057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68312" y="1984248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model all entities and relationships (ER → relational schema)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11112" y="295351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611112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68312" y="28803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the schema up to Third Normal Form (3NF), removing redundancy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11112" y="384962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611112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68312" y="3776472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integrity with PK, FK, UNIQUE, NOT NULL, CHECK and DEFAULT constraints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11112" y="4745736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611112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68312" y="4672584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double-booking and crew duty overlap through schema-level rules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11112" y="56418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611112" y="5641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68312" y="5568696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working front-end that demonstrates the core booking workflows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Reservation &amp; Fleet Scheduling DBMS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Stakeholders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SYSTEM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14344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673352"/>
            <a:ext cx="566928" cy="566928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8952" y="2350008"/>
            <a:ext cx="3002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/ Operator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770632"/>
            <a:ext cx="3002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routes, buses, seats, schedules and fares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417320"/>
            <a:ext cx="3514344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3336" y="16733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93336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3336" y="2350008"/>
            <a:ext cx="3002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Clerk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93336" y="2770632"/>
            <a:ext cx="3002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counter bookings and cancellations for passengers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71688" y="1417320"/>
            <a:ext cx="3514344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7720" y="1673352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427720" y="1673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27720" y="2350008"/>
            <a:ext cx="3002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27720" y="2770632"/>
            <a:ext cx="3002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trips, books or cancels seats, and makes payments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3514344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3959352"/>
            <a:ext cx="566928" cy="566928"/>
          </a:xfrm>
          <a:prstGeom prst="ellipse">
            <a:avLst/>
          </a:prstGeom>
          <a:solidFill>
            <a:srgbClr val="5A93AA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8952" y="4636008"/>
            <a:ext cx="3002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8952" y="5056632"/>
            <a:ext cx="3002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trips; subject to duty-time and overlap rules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7304" y="3703320"/>
            <a:ext cx="3514344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3336" y="3959352"/>
            <a:ext cx="566928" cy="566928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26" name="Text 24"/>
          <p:cNvSpPr/>
          <p:nvPr/>
        </p:nvSpPr>
        <p:spPr>
          <a:xfrm>
            <a:off x="4593336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93336" y="4636008"/>
            <a:ext cx="3002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93336" y="5056632"/>
            <a:ext cx="3002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trips; manages onboard ticketing and fare collection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71688" y="3703320"/>
            <a:ext cx="3514344" cy="1965960"/>
          </a:xfrm>
          <a:prstGeom prst="roundRect">
            <a:avLst>
              <a:gd name="adj" fmla="val 4651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7720" y="39593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427720" y="3959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27720" y="4636008"/>
            <a:ext cx="3002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Reports Viewer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427720" y="5056632"/>
            <a:ext cx="3002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revenue, occupancy, cancellation and utilization reports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Reservation &amp; Fleet Scheduling DBMS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MUST 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9003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38100" dist="12700" dir="5400000">
              <a:srgbClr val="1B2B3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8483" y="16459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578483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157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Publishing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624328"/>
            <a:ext cx="23157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publish schedules for a route and bus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7278" y="1417320"/>
            <a:ext cx="259003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38100" dist="12700" dir="5400000">
              <a:srgbClr val="1B2B3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42841" y="16459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42841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4438" y="2240280"/>
            <a:ext cx="23157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Search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04438" y="2624328"/>
            <a:ext cx="23157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seat availability by route, date and time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1636" y="1417320"/>
            <a:ext cx="259003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38100" dist="12700" dir="5400000">
              <a:srgbClr val="1B2B3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07199" y="16459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07199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68796" y="2240280"/>
            <a:ext cx="23157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Booking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68796" y="2624328"/>
            <a:ext cx="23157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specific seat for a specific trip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95994" y="1417320"/>
            <a:ext cx="259003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38100" dist="12700" dir="5400000">
              <a:srgbClr val="1B2B3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71557" y="164592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10171557" y="1645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33154" y="2240280"/>
            <a:ext cx="23157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Refund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3154" y="2624328"/>
            <a:ext cx="23157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 booking under policy and trigger refund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35099" y="3611880"/>
            <a:ext cx="259003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38100" dist="12700" dir="5400000">
              <a:srgbClr val="1B2B3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010662" y="384048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301066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072259" y="4434840"/>
            <a:ext cx="23157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Assignment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072259" y="4818888"/>
            <a:ext cx="23157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driver / conductor without duty overlap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99457" y="3611880"/>
            <a:ext cx="259003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38100" dist="12700" dir="5400000">
              <a:srgbClr val="1B2B3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75020" y="384048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5875020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936617" y="4434840"/>
            <a:ext cx="23157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Collection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936617" y="4818888"/>
            <a:ext cx="23157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and reconcile payments against bookings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663815" y="3611880"/>
            <a:ext cx="259003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  <a:effectLst>
            <a:outerShdw sx="100000" sy="100000" kx="0" ky="0" algn="bl" rotWithShape="0" blurRad="38100" dist="12700" dir="5400000">
              <a:srgbClr val="1B2B34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39378" y="384048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8739378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800975" y="4434840"/>
            <a:ext cx="23157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800975" y="4818888"/>
            <a:ext cx="231571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revenue, crew, utilization, history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Reservation &amp; Fleet Scheduling DBMS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Entities Identified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51790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188366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destination &amp; path definition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7278" y="137160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50158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5015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90238" y="151790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90238" y="188366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halting points on a route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4516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1451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54596" y="151790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54596" y="188366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vehicle in the fleet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95994" y="137160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8874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27887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18954" y="151790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918954" y="188366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seat within a bus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288036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25880" y="302666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Trip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25880" y="339242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run of a bus on a route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67278" y="288036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50158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55015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90238" y="302666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190238" y="339242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staff operating the bus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31636" y="288036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4516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6414516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54596" y="302666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054596" y="339242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staff managing tickets &amp; fares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095994" y="288036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78874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9278874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918954" y="302666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918954" y="339242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making bookings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438912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47548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325880" y="453542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1325880" y="490118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of a seat for a trip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367278" y="438912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50158" y="4754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1" name="Text 49"/>
          <p:cNvSpPr/>
          <p:nvPr/>
        </p:nvSpPr>
        <p:spPr>
          <a:xfrm>
            <a:off x="3550158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190238" y="453542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4190238" y="490118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of a cancelled booking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31636" y="438912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14516" y="4754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6" name="Text 54"/>
          <p:cNvSpPr/>
          <p:nvPr/>
        </p:nvSpPr>
        <p:spPr>
          <a:xfrm>
            <a:off x="6414516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054596" y="453542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7054596" y="490118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applicable per route &amp; seat type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095994" y="4389120"/>
            <a:ext cx="2590038" cy="123444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78874" y="4754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1" name="Text 59"/>
          <p:cNvSpPr/>
          <p:nvPr/>
        </p:nvSpPr>
        <p:spPr>
          <a:xfrm>
            <a:off x="9278874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918954" y="4535424"/>
            <a:ext cx="16299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9918954" y="4901184"/>
            <a:ext cx="16299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collected against a booking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Reservation &amp; Fleet Scheduling DBMS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Design — ER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ENTITIES &amp; RELATIONSHIPS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48056" y="118872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48056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route_id (PK)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68296" y="118872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68296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stop_id (PK)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88536" y="118872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88536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bus_id (PK)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18872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08776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seat_id (PK)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9016" y="118872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29016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driver_id (PK)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49256" y="118872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49256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conductor_id (PK)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05756" y="26517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B3C5D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05756" y="265176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TRIP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schedule_id (PK)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4160520"/>
            <a:ext cx="16916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passenger_id (PK)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05756" y="41605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0B3C5D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05756" y="4160520"/>
            <a:ext cx="2377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(PK)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66960" y="416052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966960" y="4160520"/>
            <a:ext cx="16916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fare_id (PK) · per route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0" y="553212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5A93AA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828800" y="5532120"/>
            <a:ext cx="1691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cancellation_id (PK)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553212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5A93AA"/>
          </a:solidFill>
          <a:ln/>
          <a:effectLst>
            <a:outerShdw sx="100000" sy="100000" kx="0" ky="0" algn="bl" rotWithShape="0" blurRad="50800" dist="25400" dir="5400000">
              <a:srgbClr val="1B2B34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0" y="5532120"/>
            <a:ext cx="16916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9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39696" y="1508760"/>
            <a:ext cx="228600" cy="9144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0176" y="1508760"/>
            <a:ext cx="228600" cy="9144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93876" y="1828800"/>
            <a:ext cx="3918204" cy="822960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34356" y="1828800"/>
            <a:ext cx="626364" cy="822960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400800" y="1828800"/>
            <a:ext cx="2574036" cy="822960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6949440" y="1828800"/>
            <a:ext cx="3945636" cy="822960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4596" y="1828800"/>
            <a:ext cx="228600" cy="2674620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0280" y="4503420"/>
            <a:ext cx="2665476" cy="9144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4476" y="3429000"/>
            <a:ext cx="9144" cy="731520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674620" y="4846320"/>
            <a:ext cx="2811780" cy="685800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4846320"/>
            <a:ext cx="1943100" cy="685800"/>
          </a:xfrm>
          <a:prstGeom prst="line">
            <a:avLst/>
          </a:prstGeom>
          <a:noFill/>
          <a:ln w="15875">
            <a:solidFill>
              <a:srgbClr val="8A99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42082" y="2116836"/>
            <a:ext cx="62179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42082" y="211683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36642" y="2116836"/>
            <a:ext cx="62179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6642" y="211683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76922" y="2116836"/>
            <a:ext cx="62179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76922" y="211683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611362" y="2116836"/>
            <a:ext cx="62179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11362" y="211683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M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75704" y="2016252"/>
            <a:ext cx="62179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75704" y="2016252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62122" y="4379976"/>
            <a:ext cx="62179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62122" y="437997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783580" y="3671316"/>
            <a:ext cx="62179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83580" y="367131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769614" y="5065776"/>
            <a:ext cx="62179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69614" y="506577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35774" y="5065776"/>
            <a:ext cx="62179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7DE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35774" y="5065776"/>
            <a:ext cx="621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 = one-to-many     M : M = many-to-many (resolved through an associative table, e.g. crew assignment)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Relationships &amp; Business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09344"/>
            <a:ext cx="457200" cy="45720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booking per seat per trip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508760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constraint on (schedule_id, seat_id) in Booking prevents the same seat being sold twice on a trip.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86584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5786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47802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crew duties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478024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or conductor cannot be assigned to two schedules whose durations overlap.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55848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547872"/>
            <a:ext cx="457200" cy="45720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44728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departure / arrival times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447288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constraint enforces arrival_time later than departure_time for every schedule.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325112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5171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517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policy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4416552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cancellation is linked to exactly one booking; refund amount is derived from the fare and time-to-departure.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294376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1E7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486400"/>
            <a:ext cx="457200" cy="45720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538581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consistency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5385816"/>
            <a:ext cx="6720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booking has at most one payment record, and the amount must reconcile with the applicable fare, less any refund.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Reservation &amp; Fleet Scheduling DBMS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3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1645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DERIVED FROM THE ER MODEL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201400" cy="507492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6172200"/>
              </a:tblGrid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route_id → 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bus_id → Bus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(Trip)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route_id → Route, bus_id → Bus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Crew_Assignment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schedule_id → Schedule, driver_id → Driver, conductor_id → Conductor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schedule_id → Schedule, seat_id → Seat, passenger_id → Passenger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cancellation_id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 → 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route_id → 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24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3C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 → Booking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Reservation &amp; Fleet Scheduling DBMS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2883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082C4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937760"/>
            <a:ext cx="3657600" cy="3657600"/>
          </a:xfrm>
          <a:prstGeom prst="ellipse">
            <a:avLst/>
          </a:prstGeom>
          <a:solidFill>
            <a:srgbClr val="082C4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conceptual design to a working, normalized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82C45"/>
          </a:solidFill>
          <a:ln w="12700">
            <a:solidFill>
              <a:srgbClr val="1E55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schema through 2NF and 3NF, removing partial and transitive dependencies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96596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82C45"/>
          </a:solidFill>
          <a:ln w="12700">
            <a:solidFill>
              <a:srgbClr val="1E55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22402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9260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57600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tables with PK / FK / UNIQUE / NOT NULL / CHECK / DEFAULT constraints and indexes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96596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82C45"/>
          </a:solidFill>
          <a:ln w="12700">
            <a:solidFill>
              <a:srgbClr val="1E55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2402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29260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&amp; Query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83680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realistic sample data; write joins, aggregates, nested queries, views &amp; reports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81160" y="196596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082C45"/>
          </a:solidFill>
          <a:ln w="12700">
            <a:solidFill>
              <a:srgbClr val="1E55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9760" y="2240280"/>
            <a:ext cx="502920" cy="5029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7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09760" y="29260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509760" y="338328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9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Java / Python front-end for booking, crew and fare workflows, then test end-to-end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1208" y="5623560"/>
            <a:ext cx="2743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1208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2026-09-07T18:12:25Z</dcterms:created>
  <dcterms:modified xsi:type="dcterms:W3CDTF">2026-09-07T18:12:25Z</dcterms:modified>
</cp:coreProperties>
</file>