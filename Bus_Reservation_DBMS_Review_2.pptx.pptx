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ourier New" charset="1" panose="020703090202050204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project. Review 1 covered the idea, ER design and initial schema. Review 2 shows the implemented MySQL database and the work still in progress.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 phases are complete: requirements, design and database implementation. Queries, views, reports, the front-end and full testing are work in progress and planned for Review 3.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design was refined during implementation. Crew assignment became two foreign keys in trip because each trip has one driver and one conductor. route_stop was added to model stops shared between routes.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Nine master tables hold reference data. Four transaction tables record trips, bookings, payments and cancellations. The core chain shows how a booking flows through the system.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Constraints enforce data validity at the schema level. Indexes speed up the most frequent searches: routes by city pair, trips by route or crew and departure time, and bookings by passenger.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Six triggers implement the rules from Review 1: crew and bus overlap (insert and update), booking validity, payment consistency, the cancellation policy and the automatic seat release.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generated active_seat column solves a subtle problem: a plain UNIQUE on (trip, seat) would block rebooking a cancelled seat. The refund tiers are computed in the cancellation trigger.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database layer is built and enforces the business rules itself. The front-end (Python or Java, as proposed in Review 1) and the SQL query layer are work in progress.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Everything at the database level is complete. Data loading, queries, views, the front-end and testing are work in progress.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Demonstrate each rule live in MySQL Workbench or the mysql client. Each rejection comes from a constraint or trigger, not from application code. Statement IDs depend on the sample data loaded.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Summarize: the database layer is complete and rule-enforcing. Remaining work is data, queries and reports, the front-end and testing.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2518" y="1572577"/>
            <a:ext cx="4535805" cy="530733"/>
            <a:chOff x="0" y="0"/>
            <a:chExt cx="6047740" cy="7076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7740" cy="707644"/>
            </a:xfrm>
            <a:custGeom>
              <a:avLst/>
              <a:gdLst/>
              <a:ahLst/>
              <a:cxnLst/>
              <a:rect r="r" b="b" t="t" l="l"/>
              <a:pathLst>
                <a:path h="707644" w="6047740">
                  <a:moveTo>
                    <a:pt x="0" y="353822"/>
                  </a:moveTo>
                  <a:cubicBezTo>
                    <a:pt x="0" y="158369"/>
                    <a:pt x="158369" y="0"/>
                    <a:pt x="353822" y="0"/>
                  </a:cubicBezTo>
                  <a:lnTo>
                    <a:pt x="5693918" y="0"/>
                  </a:lnTo>
                  <a:cubicBezTo>
                    <a:pt x="5889371" y="0"/>
                    <a:pt x="6047740" y="158369"/>
                    <a:pt x="6047740" y="353822"/>
                  </a:cubicBezTo>
                  <a:cubicBezTo>
                    <a:pt x="6047740" y="549275"/>
                    <a:pt x="5889371" y="707644"/>
                    <a:pt x="5693918" y="707644"/>
                  </a:cubicBezTo>
                  <a:lnTo>
                    <a:pt x="353822" y="707644"/>
                  </a:lnTo>
                  <a:cubicBezTo>
                    <a:pt x="158369" y="707644"/>
                    <a:pt x="0" y="549275"/>
                    <a:pt x="0" y="353822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1577340"/>
            <a:ext cx="4526280" cy="521208"/>
            <a:chOff x="0" y="0"/>
            <a:chExt cx="6035040" cy="69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694944"/>
            </a:xfrm>
            <a:custGeom>
              <a:avLst/>
              <a:gdLst/>
              <a:ahLst/>
              <a:cxnLst/>
              <a:rect r="r" b="b" t="t" l="l"/>
              <a:pathLst>
                <a:path h="69494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50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300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DBMS – PBL  |  REVIEW 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2596515"/>
            <a:ext cx="1536192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AND IMPLEMENTATION OF A DATABASE MANAGEMENT SYSTEM FOR BUS RESERVATION AND FLEET SCHEDULING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7280" y="5379720"/>
            <a:ext cx="14401800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D9E6E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Relational schema, integrity constraints and business-rule triggers implemented in MySQL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7212330"/>
            <a:ext cx="109728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by:  Harshit Palla - 25WU0102095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7839075"/>
            <a:ext cx="123444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B.Tech, Artificial Intelligence &amp; Machine Learning  |  Woxsen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280" y="8602980"/>
            <a:ext cx="12344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Management Systems — Review 2: Implementation Progress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THE PROJECT STANDS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Progress Since Review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393156"/>
            <a:ext cx="3067469" cy="4883468"/>
            <a:chOff x="0" y="0"/>
            <a:chExt cx="4089959" cy="6511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89908" cy="6511290"/>
            </a:xfrm>
            <a:custGeom>
              <a:avLst/>
              <a:gdLst/>
              <a:ahLst/>
              <a:cxnLst/>
              <a:rect r="r" b="b" t="t" l="l"/>
              <a:pathLst>
                <a:path h="6511290" w="4089908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2969" y="0"/>
                  </a:lnTo>
                  <a:cubicBezTo>
                    <a:pt x="4024122" y="0"/>
                    <a:pt x="4089908" y="65786"/>
                    <a:pt x="4089908" y="146939"/>
                  </a:cubicBezTo>
                  <a:lnTo>
                    <a:pt x="4089908" y="6364351"/>
                  </a:lnTo>
                  <a:cubicBezTo>
                    <a:pt x="4089908" y="6445504"/>
                    <a:pt x="4024122" y="6511290"/>
                    <a:pt x="3942969" y="6511290"/>
                  </a:cubicBezTo>
                  <a:lnTo>
                    <a:pt x="146939" y="6511290"/>
                  </a:lnTo>
                  <a:cubicBezTo>
                    <a:pt x="65786" y="6511290"/>
                    <a:pt x="0" y="6445504"/>
                    <a:pt x="0" y="6364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19950" y="2697290"/>
            <a:ext cx="626745" cy="626745"/>
            <a:chOff x="0" y="0"/>
            <a:chExt cx="835660" cy="835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4712" y="2702052"/>
            <a:ext cx="617220" cy="617220"/>
            <a:chOff x="0" y="0"/>
            <a:chExt cx="82296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24712" y="3528060"/>
            <a:ext cx="244967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Requirement Analysis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9950" y="4658678"/>
            <a:ext cx="1655445" cy="421005"/>
            <a:chOff x="0" y="0"/>
            <a:chExt cx="2207260" cy="561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7260" cy="561340"/>
            </a:xfrm>
            <a:custGeom>
              <a:avLst/>
              <a:gdLst/>
              <a:ahLst/>
              <a:cxnLst/>
              <a:rect r="r" b="b" t="t" l="l"/>
              <a:pathLst>
                <a:path h="561340" w="22072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1926590" y="0"/>
                  </a:lnTo>
                  <a:cubicBezTo>
                    <a:pt x="2081657" y="0"/>
                    <a:pt x="2207260" y="125603"/>
                    <a:pt x="2207260" y="280670"/>
                  </a:cubicBezTo>
                  <a:cubicBezTo>
                    <a:pt x="2207260" y="435737"/>
                    <a:pt x="2081657" y="561340"/>
                    <a:pt x="19265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712" y="4663440"/>
            <a:ext cx="1645920" cy="411480"/>
            <a:chOff x="0" y="0"/>
            <a:chExt cx="219456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94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24712" y="5301615"/>
            <a:ext cx="244967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Users, entities, scope and business rules defined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211898" y="2393156"/>
            <a:ext cx="3067469" cy="4883468"/>
            <a:chOff x="0" y="0"/>
            <a:chExt cx="4089959" cy="65112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89908" cy="6511290"/>
            </a:xfrm>
            <a:custGeom>
              <a:avLst/>
              <a:gdLst/>
              <a:ahLst/>
              <a:cxnLst/>
              <a:rect r="r" b="b" t="t" l="l"/>
              <a:pathLst>
                <a:path h="6511290" w="4089908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2969" y="0"/>
                  </a:lnTo>
                  <a:cubicBezTo>
                    <a:pt x="4024122" y="0"/>
                    <a:pt x="4089908" y="65786"/>
                    <a:pt x="4089908" y="146939"/>
                  </a:cubicBezTo>
                  <a:lnTo>
                    <a:pt x="4089908" y="6364351"/>
                  </a:lnTo>
                  <a:cubicBezTo>
                    <a:pt x="4089908" y="6445504"/>
                    <a:pt x="4024122" y="6511290"/>
                    <a:pt x="3942969" y="6511290"/>
                  </a:cubicBezTo>
                  <a:lnTo>
                    <a:pt x="146939" y="6511290"/>
                  </a:lnTo>
                  <a:cubicBezTo>
                    <a:pt x="65786" y="6511290"/>
                    <a:pt x="0" y="6445504"/>
                    <a:pt x="0" y="6364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16031" y="2697290"/>
            <a:ext cx="626745" cy="626745"/>
            <a:chOff x="0" y="0"/>
            <a:chExt cx="835660" cy="8356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520794" y="2702052"/>
            <a:ext cx="617220" cy="617220"/>
            <a:chOff x="0" y="0"/>
            <a:chExt cx="82296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520794" y="3528060"/>
            <a:ext cx="244967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Design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516031" y="4658678"/>
            <a:ext cx="1655445" cy="421005"/>
            <a:chOff x="0" y="0"/>
            <a:chExt cx="2207260" cy="561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7260" cy="561340"/>
            </a:xfrm>
            <a:custGeom>
              <a:avLst/>
              <a:gdLst/>
              <a:ahLst/>
              <a:cxnLst/>
              <a:rect r="r" b="b" t="t" l="l"/>
              <a:pathLst>
                <a:path h="561340" w="22072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1926590" y="0"/>
                  </a:lnTo>
                  <a:cubicBezTo>
                    <a:pt x="2081657" y="0"/>
                    <a:pt x="2207260" y="125603"/>
                    <a:pt x="2207260" y="280670"/>
                  </a:cubicBezTo>
                  <a:cubicBezTo>
                    <a:pt x="2207260" y="435737"/>
                    <a:pt x="2081657" y="561340"/>
                    <a:pt x="19265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520794" y="4663440"/>
            <a:ext cx="1645920" cy="411480"/>
            <a:chOff x="0" y="0"/>
            <a:chExt cx="219456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194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520794" y="5301615"/>
            <a:ext cx="244967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ER model refined; 13 tables normalized to 3NF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607979" y="2393156"/>
            <a:ext cx="3067469" cy="4883468"/>
            <a:chOff x="0" y="0"/>
            <a:chExt cx="4089959" cy="65112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89908" cy="6511290"/>
            </a:xfrm>
            <a:custGeom>
              <a:avLst/>
              <a:gdLst/>
              <a:ahLst/>
              <a:cxnLst/>
              <a:rect r="r" b="b" t="t" l="l"/>
              <a:pathLst>
                <a:path h="6511290" w="4089908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2969" y="0"/>
                  </a:lnTo>
                  <a:cubicBezTo>
                    <a:pt x="4024122" y="0"/>
                    <a:pt x="4089908" y="65786"/>
                    <a:pt x="4089908" y="146939"/>
                  </a:cubicBezTo>
                  <a:lnTo>
                    <a:pt x="4089908" y="6364351"/>
                  </a:lnTo>
                  <a:cubicBezTo>
                    <a:pt x="4089908" y="6445504"/>
                    <a:pt x="4024122" y="6511290"/>
                    <a:pt x="3942969" y="6511290"/>
                  </a:cubicBezTo>
                  <a:lnTo>
                    <a:pt x="146939" y="6511290"/>
                  </a:lnTo>
                  <a:cubicBezTo>
                    <a:pt x="65786" y="6511290"/>
                    <a:pt x="0" y="6445504"/>
                    <a:pt x="0" y="6364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912113" y="2697290"/>
            <a:ext cx="626745" cy="626745"/>
            <a:chOff x="0" y="0"/>
            <a:chExt cx="835660" cy="8356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916875" y="2702052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916875" y="3528060"/>
            <a:ext cx="244967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Implementation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912113" y="4658678"/>
            <a:ext cx="1655445" cy="421005"/>
            <a:chOff x="0" y="0"/>
            <a:chExt cx="2207260" cy="5613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07260" cy="561340"/>
            </a:xfrm>
            <a:custGeom>
              <a:avLst/>
              <a:gdLst/>
              <a:ahLst/>
              <a:cxnLst/>
              <a:rect r="r" b="b" t="t" l="l"/>
              <a:pathLst>
                <a:path h="561340" w="22072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1926590" y="0"/>
                  </a:lnTo>
                  <a:cubicBezTo>
                    <a:pt x="2081657" y="0"/>
                    <a:pt x="2207260" y="125603"/>
                    <a:pt x="2207260" y="280670"/>
                  </a:cubicBezTo>
                  <a:cubicBezTo>
                    <a:pt x="2207260" y="435737"/>
                    <a:pt x="2081657" y="561340"/>
                    <a:pt x="19265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916875" y="4663440"/>
            <a:ext cx="1645920" cy="411480"/>
            <a:chOff x="0" y="0"/>
            <a:chExt cx="219456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194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916875" y="5301615"/>
            <a:ext cx="244967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MySQL schema with constraints, indexes and triggers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004061" y="2393156"/>
            <a:ext cx="3067469" cy="4883468"/>
            <a:chOff x="0" y="0"/>
            <a:chExt cx="4089959" cy="65112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89908" cy="6511290"/>
            </a:xfrm>
            <a:custGeom>
              <a:avLst/>
              <a:gdLst/>
              <a:ahLst/>
              <a:cxnLst/>
              <a:rect r="r" b="b" t="t" l="l"/>
              <a:pathLst>
                <a:path h="6511290" w="4089908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2969" y="0"/>
                  </a:lnTo>
                  <a:cubicBezTo>
                    <a:pt x="4024122" y="0"/>
                    <a:pt x="4089908" y="65786"/>
                    <a:pt x="4089908" y="146939"/>
                  </a:cubicBezTo>
                  <a:lnTo>
                    <a:pt x="4089908" y="6364351"/>
                  </a:lnTo>
                  <a:cubicBezTo>
                    <a:pt x="4089908" y="6445504"/>
                    <a:pt x="4024122" y="6511290"/>
                    <a:pt x="3942969" y="6511290"/>
                  </a:cubicBezTo>
                  <a:lnTo>
                    <a:pt x="146939" y="6511290"/>
                  </a:lnTo>
                  <a:cubicBezTo>
                    <a:pt x="65786" y="6511290"/>
                    <a:pt x="0" y="6445504"/>
                    <a:pt x="0" y="6364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308194" y="2697290"/>
            <a:ext cx="626745" cy="626745"/>
            <a:chOff x="0" y="0"/>
            <a:chExt cx="835660" cy="8356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312957" y="2702052"/>
            <a:ext cx="617220" cy="617220"/>
            <a:chOff x="0" y="0"/>
            <a:chExt cx="822960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1312957" y="3528060"/>
            <a:ext cx="244967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Queries, Views &amp; Reports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1308194" y="4658678"/>
            <a:ext cx="2135505" cy="421005"/>
            <a:chOff x="0" y="0"/>
            <a:chExt cx="2847340" cy="5613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47340" cy="561340"/>
            </a:xfrm>
            <a:custGeom>
              <a:avLst/>
              <a:gdLst/>
              <a:ahLst/>
              <a:cxnLst/>
              <a:rect r="r" b="b" t="t" l="l"/>
              <a:pathLst>
                <a:path h="561340" w="2847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566670" y="0"/>
                  </a:lnTo>
                  <a:cubicBezTo>
                    <a:pt x="2721737" y="0"/>
                    <a:pt x="2847340" y="125603"/>
                    <a:pt x="2847340" y="280670"/>
                  </a:cubicBezTo>
                  <a:cubicBezTo>
                    <a:pt x="2847340" y="435737"/>
                    <a:pt x="2721737" y="561340"/>
                    <a:pt x="25666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312957" y="4663440"/>
            <a:ext cx="2125980" cy="411480"/>
            <a:chOff x="0" y="0"/>
            <a:chExt cx="28346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34640" cy="548640"/>
            </a:xfrm>
            <a:custGeom>
              <a:avLst/>
              <a:gdLst/>
              <a:ahLst/>
              <a:cxnLst/>
              <a:rect r="r" b="b" t="t" l="l"/>
              <a:pathLst>
                <a:path h="54864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834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312957" y="5301615"/>
            <a:ext cx="244967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Sample data, joins, aggregates and report views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4400143" y="2393156"/>
            <a:ext cx="3067469" cy="4883468"/>
            <a:chOff x="0" y="0"/>
            <a:chExt cx="4089959" cy="65112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89908" cy="6511290"/>
            </a:xfrm>
            <a:custGeom>
              <a:avLst/>
              <a:gdLst/>
              <a:ahLst/>
              <a:cxnLst/>
              <a:rect r="r" b="b" t="t" l="l"/>
              <a:pathLst>
                <a:path h="6511290" w="4089908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42969" y="0"/>
                  </a:lnTo>
                  <a:cubicBezTo>
                    <a:pt x="4024122" y="0"/>
                    <a:pt x="4089908" y="65786"/>
                    <a:pt x="4089908" y="146939"/>
                  </a:cubicBezTo>
                  <a:lnTo>
                    <a:pt x="4089908" y="6364351"/>
                  </a:lnTo>
                  <a:cubicBezTo>
                    <a:pt x="4089908" y="6445504"/>
                    <a:pt x="4024122" y="6511290"/>
                    <a:pt x="3942969" y="6511290"/>
                  </a:cubicBezTo>
                  <a:lnTo>
                    <a:pt x="146939" y="6511290"/>
                  </a:lnTo>
                  <a:cubicBezTo>
                    <a:pt x="65786" y="6511290"/>
                    <a:pt x="0" y="6445504"/>
                    <a:pt x="0" y="63643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4704276" y="2697290"/>
            <a:ext cx="626745" cy="626745"/>
            <a:chOff x="0" y="0"/>
            <a:chExt cx="835660" cy="8356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4709038" y="2702052"/>
            <a:ext cx="617220" cy="617220"/>
            <a:chOff x="0" y="0"/>
            <a:chExt cx="822960" cy="822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4709038" y="3528060"/>
            <a:ext cx="244967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Front-end &amp; Testing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4704276" y="4658678"/>
            <a:ext cx="2135505" cy="421005"/>
            <a:chOff x="0" y="0"/>
            <a:chExt cx="2847340" cy="5613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847340" cy="561340"/>
            </a:xfrm>
            <a:custGeom>
              <a:avLst/>
              <a:gdLst/>
              <a:ahLst/>
              <a:cxnLst/>
              <a:rect r="r" b="b" t="t" l="l"/>
              <a:pathLst>
                <a:path h="561340" w="2847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566670" y="0"/>
                  </a:lnTo>
                  <a:cubicBezTo>
                    <a:pt x="2721737" y="0"/>
                    <a:pt x="2847340" y="125603"/>
                    <a:pt x="2847340" y="280670"/>
                  </a:cubicBezTo>
                  <a:cubicBezTo>
                    <a:pt x="2847340" y="435737"/>
                    <a:pt x="2721737" y="561340"/>
                    <a:pt x="25666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4709038" y="4663440"/>
            <a:ext cx="2125980" cy="411480"/>
            <a:chOff x="0" y="0"/>
            <a:chExt cx="283464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34640" cy="548640"/>
            </a:xfrm>
            <a:custGeom>
              <a:avLst/>
              <a:gdLst/>
              <a:ahLst/>
              <a:cxnLst/>
              <a:rect r="r" b="b" t="t" l="l"/>
              <a:pathLst>
                <a:path h="54864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834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4709038" y="5301615"/>
            <a:ext cx="244967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Booking workflows and end-to-end testing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15816" y="7742396"/>
            <a:ext cx="16651796" cy="1454468"/>
            <a:chOff x="0" y="0"/>
            <a:chExt cx="22202394" cy="19392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202394" cy="1939290"/>
            </a:xfrm>
            <a:custGeom>
              <a:avLst/>
              <a:gdLst/>
              <a:ahLst/>
              <a:cxnLst/>
              <a:rect r="r" b="b" t="t" l="l"/>
              <a:pathLst>
                <a:path h="1939290" w="2220239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2054693" y="0"/>
                  </a:lnTo>
                  <a:cubicBezTo>
                    <a:pt x="22136354" y="0"/>
                    <a:pt x="22202394" y="66167"/>
                    <a:pt x="22202394" y="147701"/>
                  </a:cubicBezTo>
                  <a:lnTo>
                    <a:pt x="22202394" y="1791589"/>
                  </a:lnTo>
                  <a:cubicBezTo>
                    <a:pt x="22202394" y="1873250"/>
                    <a:pt x="22136227" y="1939290"/>
                    <a:pt x="22054693" y="1939290"/>
                  </a:cubicBezTo>
                  <a:lnTo>
                    <a:pt x="147701" y="1939290"/>
                  </a:lnTo>
                  <a:cubicBezTo>
                    <a:pt x="66167" y="1939290"/>
                    <a:pt x="0" y="1873123"/>
                    <a:pt x="0" y="17915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34440" y="7749540"/>
            <a:ext cx="15841980" cy="1440180"/>
            <a:chOff x="0" y="0"/>
            <a:chExt cx="21122640" cy="19202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12263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2112264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 1: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identification, scope, ER design and initial schema.   </a:t>
              </a:r>
              <a:r>
                <a:rPr lang="en-US" sz="21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 2: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MySQL implementation with business rules enforced inside the database.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REVIEW 1 TO THE FINAL TABLES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Refinement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2960" y="2193417"/>
            <a:ext cx="699516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1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09660" y="2193417"/>
            <a:ext cx="86410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IMPLEMENTED IN REVIEW 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736056"/>
            <a:ext cx="7009447" cy="864680"/>
            <a:chOff x="0" y="0"/>
            <a:chExt cx="9345930" cy="11529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743200"/>
            <a:ext cx="6515100" cy="850392"/>
            <a:chOff x="0" y="0"/>
            <a:chExt cx="8686800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Schedule / Trip  (schedule_id)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77950" y="2971610"/>
            <a:ext cx="626745" cy="393573"/>
            <a:chOff x="0" y="0"/>
            <a:chExt cx="835660" cy="5247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771096" y="2736056"/>
            <a:ext cx="8696516" cy="864680"/>
            <a:chOff x="0" y="0"/>
            <a:chExt cx="11595354" cy="1152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52560" y="2743200"/>
            <a:ext cx="8161020" cy="850392"/>
            <a:chOff x="0" y="0"/>
            <a:chExt cx="10881360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trip — now also holds route, bus, driver and conductor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5816" y="3723608"/>
            <a:ext cx="7009447" cy="864680"/>
            <a:chOff x="0" y="0"/>
            <a:chExt cx="9345930" cy="11529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3730752"/>
            <a:ext cx="6515100" cy="850392"/>
            <a:chOff x="0" y="0"/>
            <a:chExt cx="8686800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Crew_Assignment  (M : M table)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77950" y="3959162"/>
            <a:ext cx="626745" cy="393573"/>
            <a:chOff x="0" y="0"/>
            <a:chExt cx="835660" cy="5247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771096" y="3723608"/>
            <a:ext cx="8696516" cy="864680"/>
            <a:chOff x="0" y="0"/>
            <a:chExt cx="11595354" cy="11529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52560" y="3730752"/>
            <a:ext cx="8161020" cy="850392"/>
            <a:chOff x="0" y="0"/>
            <a:chExt cx="10881360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— driver_id and conductor_id stored in trip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5816" y="4711160"/>
            <a:ext cx="7009447" cy="864680"/>
            <a:chOff x="0" y="0"/>
            <a:chExt cx="9345930" cy="11529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4718304"/>
            <a:ext cx="6515100" cy="850392"/>
            <a:chOff x="0" y="0"/>
            <a:chExt cx="868680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 (route_id as foreign key)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977950" y="4946714"/>
            <a:ext cx="626745" cy="393573"/>
            <a:chOff x="0" y="0"/>
            <a:chExt cx="835660" cy="5247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771096" y="4711160"/>
            <a:ext cx="8696516" cy="864680"/>
            <a:chOff x="0" y="0"/>
            <a:chExt cx="11595354" cy="11529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052560" y="4718304"/>
            <a:ext cx="8161020" cy="850392"/>
            <a:chOff x="0" y="0"/>
            <a:chExt cx="10881360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+ route_stop with stop_order, so stops can be shared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5816" y="5698712"/>
            <a:ext cx="7009447" cy="864680"/>
            <a:chOff x="0" y="0"/>
            <a:chExt cx="9345930" cy="11529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97280" y="5705856"/>
            <a:ext cx="6515100" cy="850392"/>
            <a:chOff x="0" y="0"/>
            <a:chExt cx="8686800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(schedule_id, seat_id)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77950" y="5934266"/>
            <a:ext cx="626745" cy="393573"/>
            <a:chOff x="0" y="0"/>
            <a:chExt cx="835660" cy="5247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771096" y="5698712"/>
            <a:ext cx="8696516" cy="864680"/>
            <a:chOff x="0" y="0"/>
            <a:chExt cx="11595354" cy="11529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052560" y="5705856"/>
            <a:ext cx="8161020" cy="850392"/>
            <a:chOff x="0" y="0"/>
            <a:chExt cx="10881360" cy="1133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(trip_id, active_seat) — cancelled seats can be rebooked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5816" y="6686264"/>
            <a:ext cx="7009447" cy="864680"/>
            <a:chOff x="0" y="0"/>
            <a:chExt cx="9345930" cy="115290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" y="6693408"/>
            <a:ext cx="6515100" cy="850392"/>
            <a:chOff x="0" y="0"/>
            <a:chExt cx="868680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Crew overlap "prevented by constraints"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977950" y="6921818"/>
            <a:ext cx="626745" cy="393573"/>
            <a:chOff x="0" y="0"/>
            <a:chExt cx="835660" cy="5247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771096" y="6686264"/>
            <a:ext cx="8696516" cy="864680"/>
            <a:chOff x="0" y="0"/>
            <a:chExt cx="11595354" cy="11529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052560" y="6693408"/>
            <a:ext cx="8161020" cy="850392"/>
            <a:chOff x="0" y="0"/>
            <a:chExt cx="10881360" cy="11338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INSERT / UPDATE triggers on trip (driver, conductor, bus)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15816" y="7673816"/>
            <a:ext cx="7009447" cy="864680"/>
            <a:chOff x="0" y="0"/>
            <a:chExt cx="9345930" cy="115290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459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3459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9197213" y="0"/>
                  </a:lnTo>
                  <a:cubicBezTo>
                    <a:pt x="9279382" y="0"/>
                    <a:pt x="9345930" y="66548"/>
                    <a:pt x="9345930" y="148717"/>
                  </a:cubicBezTo>
                  <a:lnTo>
                    <a:pt x="9345930" y="1004189"/>
                  </a:lnTo>
                  <a:cubicBezTo>
                    <a:pt x="9345930" y="1086358"/>
                    <a:pt x="9279382" y="1152906"/>
                    <a:pt x="91972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97280" y="7680960"/>
            <a:ext cx="6515100" cy="850392"/>
            <a:chOff x="0" y="0"/>
            <a:chExt cx="8686800" cy="11338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686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80" r="0" b="-992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868680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Refund "derived from fare and time"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977950" y="7909370"/>
            <a:ext cx="626745" cy="393573"/>
            <a:chOff x="0" y="0"/>
            <a:chExt cx="835660" cy="5247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35660" cy="524764"/>
            </a:xfrm>
            <a:custGeom>
              <a:avLst/>
              <a:gdLst/>
              <a:ahLst/>
              <a:cxnLst/>
              <a:rect r="r" b="b" t="t" l="l"/>
              <a:pathLst>
                <a:path h="524764" w="835660">
                  <a:moveTo>
                    <a:pt x="0" y="131191"/>
                  </a:moveTo>
                  <a:lnTo>
                    <a:pt x="573278" y="131191"/>
                  </a:lnTo>
                  <a:lnTo>
                    <a:pt x="573278" y="0"/>
                  </a:lnTo>
                  <a:lnTo>
                    <a:pt x="835660" y="262382"/>
                  </a:lnTo>
                  <a:lnTo>
                    <a:pt x="573278" y="524764"/>
                  </a:lnTo>
                  <a:lnTo>
                    <a:pt x="573278" y="393573"/>
                  </a:lnTo>
                  <a:lnTo>
                    <a:pt x="0" y="393573"/>
                  </a:ln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771096" y="7673816"/>
            <a:ext cx="8696516" cy="864680"/>
            <a:chOff x="0" y="0"/>
            <a:chExt cx="11595354" cy="11529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595354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953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1446637" y="0"/>
                  </a:lnTo>
                  <a:cubicBezTo>
                    <a:pt x="11528806" y="0"/>
                    <a:pt x="11595354" y="66548"/>
                    <a:pt x="11595354" y="148717"/>
                  </a:cubicBezTo>
                  <a:lnTo>
                    <a:pt x="11595354" y="1004189"/>
                  </a:lnTo>
                  <a:cubicBezTo>
                    <a:pt x="11595354" y="1086358"/>
                    <a:pt x="11528806" y="1152906"/>
                    <a:pt x="11446637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052560" y="7680960"/>
            <a:ext cx="8161020" cy="850392"/>
            <a:chOff x="0" y="0"/>
            <a:chExt cx="10881360" cy="11338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813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93" r="0" b="-13699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8813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Trigger computes the refund: 90% / 50% / 0% by hours to departure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15816" y="8771096"/>
            <a:ext cx="16651796" cy="700088"/>
            <a:chOff x="0" y="0"/>
            <a:chExt cx="22202394" cy="9334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202394" cy="933450"/>
            </a:xfrm>
            <a:custGeom>
              <a:avLst/>
              <a:gdLst/>
              <a:ahLst/>
              <a:cxnLst/>
              <a:rect r="r" b="b" t="t" l="l"/>
              <a:pathLst>
                <a:path h="933450" w="22202394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53042" y="0"/>
                  </a:lnTo>
                  <a:cubicBezTo>
                    <a:pt x="22135464" y="0"/>
                    <a:pt x="22202394" y="66929"/>
                    <a:pt x="22202394" y="149352"/>
                  </a:cubicBezTo>
                  <a:lnTo>
                    <a:pt x="22202394" y="784098"/>
                  </a:lnTo>
                  <a:cubicBezTo>
                    <a:pt x="22202394" y="866521"/>
                    <a:pt x="22135464" y="933450"/>
                    <a:pt x="22053042" y="933450"/>
                  </a:cubicBezTo>
                  <a:lnTo>
                    <a:pt x="149352" y="933450"/>
                  </a:lnTo>
                  <a:cubicBezTo>
                    <a:pt x="66929" y="933450"/>
                    <a:pt x="0" y="866521"/>
                    <a:pt x="0" y="784098"/>
                  </a:cubicBezTo>
                  <a:close/>
                </a:path>
              </a:pathLst>
            </a:custGeom>
            <a:solidFill>
              <a:srgbClr val="E1E7EA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65860" y="8778240"/>
            <a:ext cx="16047720" cy="685800"/>
            <a:chOff x="0" y="0"/>
            <a:chExt cx="2139696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396961" cy="914400"/>
            </a:xfrm>
            <a:custGeom>
              <a:avLst/>
              <a:gdLst/>
              <a:ahLst/>
              <a:cxnLst/>
              <a:rect r="r" b="b" t="t" l="l"/>
              <a:pathLst>
                <a:path h="9144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949" r="0" b="-40594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13969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count: </a:t>
              </a: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in Review 1 → 13 now (route_stop added, Crew_Assignment merged into trip)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THIRTEEN TABLES, TWO GROUPS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Implemented Relational Schema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2960" y="2138553"/>
            <a:ext cx="96012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MASTER TABLES (9)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5760" y="2138553"/>
            <a:ext cx="54864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TRANSACTION TABLES (4)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667476"/>
            <a:ext cx="3374708" cy="1660208"/>
            <a:chOff x="0" y="0"/>
            <a:chExt cx="4499610" cy="2213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2754630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35833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route_id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606165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source_city, dest_city, distance_km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409408" y="2667476"/>
            <a:ext cx="3374708" cy="1660208"/>
            <a:chOff x="0" y="0"/>
            <a:chExt cx="4499610" cy="22136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622292" y="2754630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22292" y="3235833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stop_id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22292" y="3606165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stop_name, city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003000" y="2667476"/>
            <a:ext cx="3374708" cy="1660208"/>
            <a:chOff x="0" y="0"/>
            <a:chExt cx="4499610" cy="2213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215884" y="2754630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route_stop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15884" y="3235833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(route_id, stop_id)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15884" y="3606165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stop_order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5816" y="4491704"/>
            <a:ext cx="3374708" cy="1660208"/>
            <a:chOff x="0" y="0"/>
            <a:chExt cx="4499610" cy="22136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28700" y="4578858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5060061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bus_id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5430393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reg_no, bus_type, total_seats, status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409408" y="4491704"/>
            <a:ext cx="3374708" cy="1660208"/>
            <a:chOff x="0" y="0"/>
            <a:chExt cx="4499610" cy="22136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4622292" y="4578858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22292" y="5060061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seat_id · FK bus_id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22292" y="5430393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seat_no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03000" y="4491704"/>
            <a:ext cx="3374708" cy="1660208"/>
            <a:chOff x="0" y="0"/>
            <a:chExt cx="4499610" cy="22136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8215884" y="4578858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driver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15884" y="5060061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driver_id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15884" y="5430393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name, license_no, phone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15816" y="6315932"/>
            <a:ext cx="3374708" cy="1660208"/>
            <a:chOff x="0" y="0"/>
            <a:chExt cx="4499610" cy="22136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28700" y="6403086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conductor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6884289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conductor_id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7254621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name, phone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409408" y="6315932"/>
            <a:ext cx="3374708" cy="1660208"/>
            <a:chOff x="0" y="0"/>
            <a:chExt cx="4499610" cy="22136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4622292" y="6403086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fare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622292" y="6884289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fare_id · FK route_id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22292" y="7254621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bus_type, base_fare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003000" y="6315932"/>
            <a:ext cx="3374708" cy="1660208"/>
            <a:chOff x="0" y="0"/>
            <a:chExt cx="4499610" cy="22136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99610" cy="2213610"/>
            </a:xfrm>
            <a:custGeom>
              <a:avLst/>
              <a:gdLst/>
              <a:ahLst/>
              <a:cxnLst/>
              <a:rect r="r" b="b" t="t" l="l"/>
              <a:pathLst>
                <a:path h="2213610" w="44996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352036" y="0"/>
                  </a:lnTo>
                  <a:cubicBezTo>
                    <a:pt x="4433570" y="0"/>
                    <a:pt x="4499610" y="66040"/>
                    <a:pt x="4499610" y="147574"/>
                  </a:cubicBezTo>
                  <a:lnTo>
                    <a:pt x="4499610" y="2066036"/>
                  </a:lnTo>
                  <a:cubicBezTo>
                    <a:pt x="4499610" y="2147570"/>
                    <a:pt x="4433570" y="2213610"/>
                    <a:pt x="4352036" y="2213610"/>
                  </a:cubicBezTo>
                  <a:lnTo>
                    <a:pt x="147574" y="2213610"/>
                  </a:lnTo>
                  <a:cubicBezTo>
                    <a:pt x="66040" y="2213610"/>
                    <a:pt x="0" y="2147570"/>
                    <a:pt x="0" y="206603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8215884" y="6403086"/>
            <a:ext cx="294894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passenger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15884" y="6884289"/>
            <a:ext cx="29489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passenger_id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15884" y="7254621"/>
            <a:ext cx="294894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name, phone, email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788616" y="2667476"/>
            <a:ext cx="5678996" cy="1248727"/>
            <a:chOff x="0" y="0"/>
            <a:chExt cx="7571994" cy="16649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71994" cy="1664970"/>
            </a:xfrm>
            <a:custGeom>
              <a:avLst/>
              <a:gdLst/>
              <a:ahLst/>
              <a:cxnLst/>
              <a:rect r="r" b="b" t="t" l="l"/>
              <a:pathLst>
                <a:path h="1664970" w="75719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7424039" y="0"/>
                  </a:lnTo>
                  <a:cubicBezTo>
                    <a:pt x="7505827" y="0"/>
                    <a:pt x="7571994" y="66294"/>
                    <a:pt x="7571994" y="147955"/>
                  </a:cubicBezTo>
                  <a:lnTo>
                    <a:pt x="7571994" y="1517015"/>
                  </a:lnTo>
                  <a:cubicBezTo>
                    <a:pt x="7571994" y="1598803"/>
                    <a:pt x="7505700" y="1664970"/>
                    <a:pt x="7424039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2070080" y="2727198"/>
            <a:ext cx="521208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trip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0080" y="3167253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trip_id · FK route_id, bus_id, driver_id, conductor_id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70080" y="3496437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departure_time, arrival_time, status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788616" y="4039076"/>
            <a:ext cx="5678996" cy="1248727"/>
            <a:chOff x="0" y="0"/>
            <a:chExt cx="7571994" cy="166497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571994" cy="1664970"/>
            </a:xfrm>
            <a:custGeom>
              <a:avLst/>
              <a:gdLst/>
              <a:ahLst/>
              <a:cxnLst/>
              <a:rect r="r" b="b" t="t" l="l"/>
              <a:pathLst>
                <a:path h="1664970" w="75719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7424039" y="0"/>
                  </a:lnTo>
                  <a:cubicBezTo>
                    <a:pt x="7505827" y="0"/>
                    <a:pt x="7571994" y="66294"/>
                    <a:pt x="7571994" y="147955"/>
                  </a:cubicBezTo>
                  <a:lnTo>
                    <a:pt x="7571994" y="1517015"/>
                  </a:lnTo>
                  <a:cubicBezTo>
                    <a:pt x="7571994" y="1598803"/>
                    <a:pt x="7505700" y="1664970"/>
                    <a:pt x="7424039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2070080" y="4098798"/>
            <a:ext cx="521208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booking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070080" y="4538853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booking_id · FK trip_id, seat_id, passenger_id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070080" y="4868037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status, active_seat (generated)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1788616" y="5410676"/>
            <a:ext cx="5678996" cy="1248727"/>
            <a:chOff x="0" y="0"/>
            <a:chExt cx="7571994" cy="16649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71994" cy="1664970"/>
            </a:xfrm>
            <a:custGeom>
              <a:avLst/>
              <a:gdLst/>
              <a:ahLst/>
              <a:cxnLst/>
              <a:rect r="r" b="b" t="t" l="l"/>
              <a:pathLst>
                <a:path h="1664970" w="75719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7424039" y="0"/>
                  </a:lnTo>
                  <a:cubicBezTo>
                    <a:pt x="7505827" y="0"/>
                    <a:pt x="7571994" y="66294"/>
                    <a:pt x="7571994" y="147955"/>
                  </a:cubicBezTo>
                  <a:lnTo>
                    <a:pt x="7571994" y="1517015"/>
                  </a:lnTo>
                  <a:cubicBezTo>
                    <a:pt x="7571994" y="1598803"/>
                    <a:pt x="7505700" y="1664970"/>
                    <a:pt x="7424039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12070080" y="5470398"/>
            <a:ext cx="521208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payment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070080" y="5910453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payment_id · FK booking_id (unique)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070080" y="6239637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amount, method, paid_at, status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788616" y="6782276"/>
            <a:ext cx="5678996" cy="1248727"/>
            <a:chOff x="0" y="0"/>
            <a:chExt cx="7571994" cy="16649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571994" cy="1664970"/>
            </a:xfrm>
            <a:custGeom>
              <a:avLst/>
              <a:gdLst/>
              <a:ahLst/>
              <a:cxnLst/>
              <a:rect r="r" b="b" t="t" l="l"/>
              <a:pathLst>
                <a:path h="1664970" w="75719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7424039" y="0"/>
                  </a:lnTo>
                  <a:cubicBezTo>
                    <a:pt x="7505827" y="0"/>
                    <a:pt x="7571994" y="66294"/>
                    <a:pt x="7571994" y="147955"/>
                  </a:cubicBezTo>
                  <a:lnTo>
                    <a:pt x="7571994" y="1517015"/>
                  </a:lnTo>
                  <a:cubicBezTo>
                    <a:pt x="7571994" y="1598803"/>
                    <a:pt x="7505700" y="1664970"/>
                    <a:pt x="7424039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2070080" y="6841998"/>
            <a:ext cx="521208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070080" y="7282053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PK cancel_id · FK booking_id (unique)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070080" y="7611237"/>
            <a:ext cx="521208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cancelled_at, refund_amount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15816" y="8428196"/>
            <a:ext cx="16651796" cy="974407"/>
            <a:chOff x="0" y="0"/>
            <a:chExt cx="22202394" cy="129921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E1E7EA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165860" y="8435340"/>
            <a:ext cx="16047720" cy="960120"/>
            <a:chOff x="0" y="0"/>
            <a:chExt cx="21396960" cy="12801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213969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chain:  </a:t>
              </a: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  →  trip  →  booking  →  payment  /  cancellation        (a trip also links bus, driver and conductor; a booking links seat and passenger)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INTEGRITY BUILT INTO THE DATABASE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Schema, Keys &amp; Constraints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324576"/>
            <a:ext cx="5281232" cy="2826067"/>
            <a:chOff x="0" y="0"/>
            <a:chExt cx="7041642" cy="37680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19950" y="2601278"/>
            <a:ext cx="585597" cy="585597"/>
            <a:chOff x="0" y="0"/>
            <a:chExt cx="780796" cy="7807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4712" y="2606040"/>
            <a:ext cx="576072" cy="576072"/>
            <a:chOff x="0" y="0"/>
            <a:chExt cx="768096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20240" y="2606040"/>
            <a:ext cx="3895344" cy="576072"/>
            <a:chOff x="0" y="0"/>
            <a:chExt cx="5193792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Keys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4712" y="335394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table uses an INT AUTO_INCREMENT key; route_stop uses a composite key (route_id, stop_id)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01098" y="2324576"/>
            <a:ext cx="5281232" cy="2826067"/>
            <a:chOff x="0" y="0"/>
            <a:chExt cx="7041642" cy="37680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05232" y="2601278"/>
            <a:ext cx="585597" cy="585597"/>
            <a:chOff x="0" y="0"/>
            <a:chExt cx="780796" cy="7807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09994" y="2606040"/>
            <a:ext cx="576072" cy="576072"/>
            <a:chOff x="0" y="0"/>
            <a:chExt cx="768096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05522" y="2606040"/>
            <a:ext cx="3895344" cy="576072"/>
            <a:chOff x="0" y="0"/>
            <a:chExt cx="5193792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Foreign Keys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809994" y="335394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trip → route, bus, driver, conductor. booking → trip, seat, passenger. payment and cancellation → booking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86380" y="2324576"/>
            <a:ext cx="5281232" cy="2826067"/>
            <a:chOff x="0" y="0"/>
            <a:chExt cx="7041642" cy="37680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90513" y="2601278"/>
            <a:ext cx="585597" cy="585597"/>
            <a:chOff x="0" y="0"/>
            <a:chExt cx="780796" cy="7807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495276" y="2606040"/>
            <a:ext cx="576072" cy="576072"/>
            <a:chOff x="0" y="0"/>
            <a:chExt cx="768096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290804" y="2606040"/>
            <a:ext cx="3895344" cy="576072"/>
            <a:chOff x="0" y="0"/>
            <a:chExt cx="5193792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&amp; NOT NULL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495276" y="335394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reg_no, license_no, phone and email are unique; route (source, dest), seat (bus, seat_no), fare (route, type)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5816" y="5342096"/>
            <a:ext cx="5281232" cy="2826067"/>
            <a:chOff x="0" y="0"/>
            <a:chExt cx="7041642" cy="37680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19950" y="5618797"/>
            <a:ext cx="585597" cy="585597"/>
            <a:chOff x="0" y="0"/>
            <a:chExt cx="780796" cy="7807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24712" y="5623560"/>
            <a:ext cx="576072" cy="576072"/>
            <a:chOff x="0" y="0"/>
            <a:chExt cx="768096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20240" y="5623560"/>
            <a:ext cx="3895344" cy="576072"/>
            <a:chOff x="0" y="0"/>
            <a:chExt cx="5193792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Constraints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24712" y="637146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distance &gt; 0, source ≠ destination, seats &gt; 0, base_fare &gt; 0, arrival &gt; departure, amount &gt; 0, refund ≥ 0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501098" y="5342096"/>
            <a:ext cx="5281232" cy="2826067"/>
            <a:chOff x="0" y="0"/>
            <a:chExt cx="7041642" cy="37680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05232" y="5618797"/>
            <a:ext cx="585597" cy="585597"/>
            <a:chOff x="0" y="0"/>
            <a:chExt cx="780796" cy="7807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809994" y="5623560"/>
            <a:ext cx="576072" cy="576072"/>
            <a:chOff x="0" y="0"/>
            <a:chExt cx="768096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605522" y="5623560"/>
            <a:ext cx="3895344" cy="576072"/>
            <a:chOff x="0" y="0"/>
            <a:chExt cx="5193792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ENUM Domains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6809994" y="637146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bus_type, bus status, trip status, booking status, payment method, payment status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186380" y="5342096"/>
            <a:ext cx="5281232" cy="2826067"/>
            <a:chOff x="0" y="0"/>
            <a:chExt cx="7041642" cy="37680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41642" cy="3768090"/>
            </a:xfrm>
            <a:custGeom>
              <a:avLst/>
              <a:gdLst/>
              <a:ahLst/>
              <a:cxnLst/>
              <a:rect r="r" b="b" t="t" l="l"/>
              <a:pathLst>
                <a:path h="3768090" w="7041642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94576" y="0"/>
                  </a:lnTo>
                  <a:cubicBezTo>
                    <a:pt x="6975729" y="0"/>
                    <a:pt x="7041642" y="65786"/>
                    <a:pt x="7041642" y="147066"/>
                  </a:cubicBezTo>
                  <a:lnTo>
                    <a:pt x="7041642" y="3621024"/>
                  </a:lnTo>
                  <a:cubicBezTo>
                    <a:pt x="7041642" y="3702177"/>
                    <a:pt x="6975856" y="3768090"/>
                    <a:pt x="6894576" y="3768090"/>
                  </a:cubicBezTo>
                  <a:lnTo>
                    <a:pt x="147066" y="3768090"/>
                  </a:lnTo>
                  <a:cubicBezTo>
                    <a:pt x="65786" y="3768090"/>
                    <a:pt x="0" y="3702304"/>
                    <a:pt x="0" y="362102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490513" y="5618797"/>
            <a:ext cx="585597" cy="585597"/>
            <a:chOff x="0" y="0"/>
            <a:chExt cx="780796" cy="7807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80796" cy="780796"/>
            </a:xfrm>
            <a:custGeom>
              <a:avLst/>
              <a:gdLst/>
              <a:ahLst/>
              <a:cxnLst/>
              <a:rect r="r" b="b" t="t" l="l"/>
              <a:pathLst>
                <a:path h="780796" w="780796">
                  <a:moveTo>
                    <a:pt x="0" y="390398"/>
                  </a:moveTo>
                  <a:cubicBezTo>
                    <a:pt x="0" y="174752"/>
                    <a:pt x="174752" y="0"/>
                    <a:pt x="390398" y="0"/>
                  </a:cubicBezTo>
                  <a:cubicBezTo>
                    <a:pt x="606044" y="0"/>
                    <a:pt x="780796" y="174752"/>
                    <a:pt x="780796" y="390398"/>
                  </a:cubicBezTo>
                  <a:cubicBezTo>
                    <a:pt x="780796" y="606044"/>
                    <a:pt x="606044" y="780796"/>
                    <a:pt x="390398" y="780796"/>
                  </a:cubicBezTo>
                  <a:cubicBezTo>
                    <a:pt x="174752" y="780796"/>
                    <a:pt x="0" y="606044"/>
                    <a:pt x="0" y="390398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495276" y="5623560"/>
            <a:ext cx="576072" cy="576072"/>
            <a:chOff x="0" y="0"/>
            <a:chExt cx="768096" cy="7680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290804" y="5623560"/>
            <a:ext cx="3895344" cy="576072"/>
            <a:chOff x="0" y="0"/>
            <a:chExt cx="5193792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93792" cy="768096"/>
            </a:xfrm>
            <a:custGeom>
              <a:avLst/>
              <a:gdLst/>
              <a:ahLst/>
              <a:cxnLst/>
              <a:rect r="r" b="b" t="t" l="l"/>
              <a:pathLst>
                <a:path h="768096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1937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DEFAULT &amp; Generated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495276" y="6371463"/>
            <a:ext cx="46634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Defaults: Active, Scheduled, Confirmed, Paid, CURRENT_TIMESTAMP. Generated column: active_seat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815816" y="8428196"/>
            <a:ext cx="16651796" cy="1042988"/>
            <a:chOff x="0" y="0"/>
            <a:chExt cx="22202394" cy="13906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65860" y="8435340"/>
            <a:ext cx="15979140" cy="1028700"/>
            <a:chOff x="0" y="0"/>
            <a:chExt cx="21305520" cy="1371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3055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667" r="0" b="-25266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213055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Normalization: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3NF, with no repeating groups or transitive dependencies.   </a:t>
              </a:r>
              <a:r>
                <a:rPr lang="en-US" sz="195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Indexes: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6, on route cities, trip (route, driver, conductor, bus) and booking passenger.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RULES THAT CHECK CANNOT EXPRESS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Rules Enforced by Triggers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255996"/>
            <a:ext cx="16651796" cy="1276159"/>
            <a:chOff x="0" y="0"/>
            <a:chExt cx="22202394" cy="17015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02394" cy="1701546"/>
            </a:xfrm>
            <a:custGeom>
              <a:avLst/>
              <a:gdLst/>
              <a:ahLst/>
              <a:cxnLst/>
              <a:rect r="r" b="b" t="t" l="l"/>
              <a:pathLst>
                <a:path h="1701546" w="222023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54438" y="0"/>
                  </a:lnTo>
                  <a:cubicBezTo>
                    <a:pt x="22136100" y="0"/>
                    <a:pt x="22202394" y="66294"/>
                    <a:pt x="22202394" y="147955"/>
                  </a:cubicBezTo>
                  <a:lnTo>
                    <a:pt x="22202394" y="1553591"/>
                  </a:lnTo>
                  <a:cubicBezTo>
                    <a:pt x="22202394" y="1635252"/>
                    <a:pt x="22136100" y="1701546"/>
                    <a:pt x="22054438" y="1701546"/>
                  </a:cubicBezTo>
                  <a:lnTo>
                    <a:pt x="147955" y="1701546"/>
                  </a:lnTo>
                  <a:cubicBezTo>
                    <a:pt x="66294" y="1701546"/>
                    <a:pt x="0" y="1635252"/>
                    <a:pt x="0" y="15535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1098" y="2587562"/>
            <a:ext cx="613029" cy="613029"/>
            <a:chOff x="0" y="0"/>
            <a:chExt cx="817372" cy="817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7372" cy="817372"/>
            </a:xfrm>
            <a:custGeom>
              <a:avLst/>
              <a:gdLst/>
              <a:ahLst/>
              <a:cxnLst/>
              <a:rect r="r" b="b" t="t" l="l"/>
              <a:pathLst>
                <a:path h="817372" w="817372">
                  <a:moveTo>
                    <a:pt x="0" y="408686"/>
                  </a:moveTo>
                  <a:cubicBezTo>
                    <a:pt x="0" y="183007"/>
                    <a:pt x="183007" y="0"/>
                    <a:pt x="408686" y="0"/>
                  </a:cubicBezTo>
                  <a:cubicBezTo>
                    <a:pt x="634365" y="0"/>
                    <a:pt x="817372" y="183007"/>
                    <a:pt x="817372" y="408686"/>
                  </a:cubicBezTo>
                  <a:cubicBezTo>
                    <a:pt x="817372" y="634365"/>
                    <a:pt x="634365" y="817372"/>
                    <a:pt x="408686" y="817372"/>
                  </a:cubicBezTo>
                  <a:cubicBezTo>
                    <a:pt x="183007" y="817372"/>
                    <a:pt x="0" y="634365"/>
                    <a:pt x="0" y="408686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592324"/>
            <a:ext cx="603504" cy="603504"/>
            <a:chOff x="0" y="0"/>
            <a:chExt cx="804672" cy="80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04672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5980" y="2372868"/>
            <a:ext cx="4663440" cy="548640"/>
            <a:chOff x="0" y="0"/>
            <a:chExt cx="62179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overlapping duties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25980" y="2920365"/>
            <a:ext cx="466344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INSERT / UPDATE on trip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063740" y="2263140"/>
            <a:ext cx="10149840" cy="1261872"/>
            <a:chOff x="0" y="0"/>
            <a:chExt cx="13533120" cy="16824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33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7" r="0" b="-10672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533120" cy="1730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trip is rejected if its driver, conductor or bus already has a non-cancelled trip in the same time window.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5816" y="3668744"/>
            <a:ext cx="16651796" cy="1276159"/>
            <a:chOff x="0" y="0"/>
            <a:chExt cx="22202394" cy="17015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202394" cy="1701546"/>
            </a:xfrm>
            <a:custGeom>
              <a:avLst/>
              <a:gdLst/>
              <a:ahLst/>
              <a:cxnLst/>
              <a:rect r="r" b="b" t="t" l="l"/>
              <a:pathLst>
                <a:path h="1701546" w="222023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54438" y="0"/>
                  </a:lnTo>
                  <a:cubicBezTo>
                    <a:pt x="22136100" y="0"/>
                    <a:pt x="22202394" y="66294"/>
                    <a:pt x="22202394" y="147955"/>
                  </a:cubicBezTo>
                  <a:lnTo>
                    <a:pt x="22202394" y="1553591"/>
                  </a:lnTo>
                  <a:cubicBezTo>
                    <a:pt x="22202394" y="1635252"/>
                    <a:pt x="22136100" y="1701546"/>
                    <a:pt x="22054438" y="1701546"/>
                  </a:cubicBezTo>
                  <a:lnTo>
                    <a:pt x="147955" y="1701546"/>
                  </a:lnTo>
                  <a:cubicBezTo>
                    <a:pt x="66294" y="1701546"/>
                    <a:pt x="0" y="1635252"/>
                    <a:pt x="0" y="15535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1098" y="4000310"/>
            <a:ext cx="613029" cy="613029"/>
            <a:chOff x="0" y="0"/>
            <a:chExt cx="817372" cy="817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7372" cy="817372"/>
            </a:xfrm>
            <a:custGeom>
              <a:avLst/>
              <a:gdLst/>
              <a:ahLst/>
              <a:cxnLst/>
              <a:rect r="r" b="b" t="t" l="l"/>
              <a:pathLst>
                <a:path h="817372" w="817372">
                  <a:moveTo>
                    <a:pt x="0" y="408686"/>
                  </a:moveTo>
                  <a:cubicBezTo>
                    <a:pt x="0" y="183007"/>
                    <a:pt x="183007" y="0"/>
                    <a:pt x="408686" y="0"/>
                  </a:cubicBezTo>
                  <a:cubicBezTo>
                    <a:pt x="634365" y="0"/>
                    <a:pt x="817372" y="183007"/>
                    <a:pt x="817372" y="408686"/>
                  </a:cubicBezTo>
                  <a:cubicBezTo>
                    <a:pt x="817372" y="634365"/>
                    <a:pt x="634365" y="817372"/>
                    <a:pt x="408686" y="817372"/>
                  </a:cubicBezTo>
                  <a:cubicBezTo>
                    <a:pt x="183007" y="817372"/>
                    <a:pt x="0" y="634365"/>
                    <a:pt x="0" y="408686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5860" y="4005072"/>
            <a:ext cx="603504" cy="603504"/>
            <a:chOff x="0" y="0"/>
            <a:chExt cx="804672" cy="8046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04672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25980" y="3785616"/>
            <a:ext cx="4663440" cy="548640"/>
            <a:chOff x="0" y="0"/>
            <a:chExt cx="62179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 seat and open trip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25980" y="4333113"/>
            <a:ext cx="466344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INSERT on booking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063740" y="3675888"/>
            <a:ext cx="10149840" cy="1261872"/>
            <a:chOff x="0" y="0"/>
            <a:chExt cx="13533120" cy="16824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33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7" r="0" b="-1067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3533120" cy="1730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seat must belong to the trip's bus, and the trip must still be Scheduled.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5816" y="5081492"/>
            <a:ext cx="16651796" cy="1276159"/>
            <a:chOff x="0" y="0"/>
            <a:chExt cx="22202394" cy="17015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2394" cy="1701546"/>
            </a:xfrm>
            <a:custGeom>
              <a:avLst/>
              <a:gdLst/>
              <a:ahLst/>
              <a:cxnLst/>
              <a:rect r="r" b="b" t="t" l="l"/>
              <a:pathLst>
                <a:path h="1701546" w="222023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54438" y="0"/>
                  </a:lnTo>
                  <a:cubicBezTo>
                    <a:pt x="22136100" y="0"/>
                    <a:pt x="22202394" y="66294"/>
                    <a:pt x="22202394" y="147955"/>
                  </a:cubicBezTo>
                  <a:lnTo>
                    <a:pt x="22202394" y="1553591"/>
                  </a:lnTo>
                  <a:cubicBezTo>
                    <a:pt x="22202394" y="1635252"/>
                    <a:pt x="22136100" y="1701546"/>
                    <a:pt x="22054438" y="1701546"/>
                  </a:cubicBezTo>
                  <a:lnTo>
                    <a:pt x="147955" y="1701546"/>
                  </a:lnTo>
                  <a:cubicBezTo>
                    <a:pt x="66294" y="1701546"/>
                    <a:pt x="0" y="1635252"/>
                    <a:pt x="0" y="15535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098" y="5413058"/>
            <a:ext cx="613029" cy="613029"/>
            <a:chOff x="0" y="0"/>
            <a:chExt cx="817372" cy="8173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7372" cy="817372"/>
            </a:xfrm>
            <a:custGeom>
              <a:avLst/>
              <a:gdLst/>
              <a:ahLst/>
              <a:cxnLst/>
              <a:rect r="r" b="b" t="t" l="l"/>
              <a:pathLst>
                <a:path h="817372" w="817372">
                  <a:moveTo>
                    <a:pt x="0" y="408686"/>
                  </a:moveTo>
                  <a:cubicBezTo>
                    <a:pt x="0" y="183007"/>
                    <a:pt x="183007" y="0"/>
                    <a:pt x="408686" y="0"/>
                  </a:cubicBezTo>
                  <a:cubicBezTo>
                    <a:pt x="634365" y="0"/>
                    <a:pt x="817372" y="183007"/>
                    <a:pt x="817372" y="408686"/>
                  </a:cubicBezTo>
                  <a:cubicBezTo>
                    <a:pt x="817372" y="634365"/>
                    <a:pt x="634365" y="817372"/>
                    <a:pt x="408686" y="817372"/>
                  </a:cubicBezTo>
                  <a:cubicBezTo>
                    <a:pt x="183007" y="817372"/>
                    <a:pt x="0" y="634365"/>
                    <a:pt x="0" y="408686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5417820"/>
            <a:ext cx="603504" cy="603504"/>
            <a:chOff x="0" y="0"/>
            <a:chExt cx="804672" cy="8046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04672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25980" y="5198364"/>
            <a:ext cx="4663440" cy="548640"/>
            <a:chOff x="0" y="0"/>
            <a:chExt cx="62179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 equals fare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125980" y="5745861"/>
            <a:ext cx="466344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INSERT on payment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063740" y="5088636"/>
            <a:ext cx="10149840" cy="1261872"/>
            <a:chOff x="0" y="0"/>
            <a:chExt cx="13533120" cy="16824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533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7" r="0" b="-10672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3533120" cy="1730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amount must match the base fare for the trip's route and bus type.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5816" y="6494240"/>
            <a:ext cx="16651796" cy="1276159"/>
            <a:chOff x="0" y="0"/>
            <a:chExt cx="22202394" cy="170154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202394" cy="1701546"/>
            </a:xfrm>
            <a:custGeom>
              <a:avLst/>
              <a:gdLst/>
              <a:ahLst/>
              <a:cxnLst/>
              <a:rect r="r" b="b" t="t" l="l"/>
              <a:pathLst>
                <a:path h="1701546" w="222023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54438" y="0"/>
                  </a:lnTo>
                  <a:cubicBezTo>
                    <a:pt x="22136100" y="0"/>
                    <a:pt x="22202394" y="66294"/>
                    <a:pt x="22202394" y="147955"/>
                  </a:cubicBezTo>
                  <a:lnTo>
                    <a:pt x="22202394" y="1553591"/>
                  </a:lnTo>
                  <a:cubicBezTo>
                    <a:pt x="22202394" y="1635252"/>
                    <a:pt x="22136100" y="1701546"/>
                    <a:pt x="22054438" y="1701546"/>
                  </a:cubicBezTo>
                  <a:lnTo>
                    <a:pt x="147955" y="1701546"/>
                  </a:lnTo>
                  <a:cubicBezTo>
                    <a:pt x="66294" y="1701546"/>
                    <a:pt x="0" y="1635252"/>
                    <a:pt x="0" y="15535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61098" y="6825806"/>
            <a:ext cx="613029" cy="613029"/>
            <a:chOff x="0" y="0"/>
            <a:chExt cx="817372" cy="8173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7372" cy="817372"/>
            </a:xfrm>
            <a:custGeom>
              <a:avLst/>
              <a:gdLst/>
              <a:ahLst/>
              <a:cxnLst/>
              <a:rect r="r" b="b" t="t" l="l"/>
              <a:pathLst>
                <a:path h="817372" w="817372">
                  <a:moveTo>
                    <a:pt x="0" y="408686"/>
                  </a:moveTo>
                  <a:cubicBezTo>
                    <a:pt x="0" y="183007"/>
                    <a:pt x="183007" y="0"/>
                    <a:pt x="408686" y="0"/>
                  </a:cubicBezTo>
                  <a:cubicBezTo>
                    <a:pt x="634365" y="0"/>
                    <a:pt x="817372" y="183007"/>
                    <a:pt x="817372" y="408686"/>
                  </a:cubicBezTo>
                  <a:cubicBezTo>
                    <a:pt x="817372" y="634365"/>
                    <a:pt x="634365" y="817372"/>
                    <a:pt x="408686" y="817372"/>
                  </a:cubicBezTo>
                  <a:cubicBezTo>
                    <a:pt x="183007" y="817372"/>
                    <a:pt x="0" y="634365"/>
                    <a:pt x="0" y="408686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6830568"/>
            <a:ext cx="603504" cy="603504"/>
            <a:chOff x="0" y="0"/>
            <a:chExt cx="804672" cy="8046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04672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125980" y="6611112"/>
            <a:ext cx="4663440" cy="548640"/>
            <a:chOff x="0" y="0"/>
            <a:chExt cx="62179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Cancellation policy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125980" y="7158609"/>
            <a:ext cx="466344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INSERT on cancellation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063740" y="6501384"/>
            <a:ext cx="10149840" cy="1261872"/>
            <a:chOff x="0" y="0"/>
            <a:chExt cx="13533120" cy="16824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533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7" r="0" b="-10672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3533120" cy="1730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Blocks repeat or post-departure cancellations and computes the refund from hours to departure.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5816" y="7906988"/>
            <a:ext cx="16651796" cy="1276159"/>
            <a:chOff x="0" y="0"/>
            <a:chExt cx="22202394" cy="170154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202394" cy="1701546"/>
            </a:xfrm>
            <a:custGeom>
              <a:avLst/>
              <a:gdLst/>
              <a:ahLst/>
              <a:cxnLst/>
              <a:rect r="r" b="b" t="t" l="l"/>
              <a:pathLst>
                <a:path h="1701546" w="2220239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54438" y="0"/>
                  </a:lnTo>
                  <a:cubicBezTo>
                    <a:pt x="22136100" y="0"/>
                    <a:pt x="22202394" y="66294"/>
                    <a:pt x="22202394" y="147955"/>
                  </a:cubicBezTo>
                  <a:lnTo>
                    <a:pt x="22202394" y="1553591"/>
                  </a:lnTo>
                  <a:cubicBezTo>
                    <a:pt x="22202394" y="1635252"/>
                    <a:pt x="22136100" y="1701546"/>
                    <a:pt x="22054438" y="1701546"/>
                  </a:cubicBezTo>
                  <a:lnTo>
                    <a:pt x="147955" y="1701546"/>
                  </a:lnTo>
                  <a:cubicBezTo>
                    <a:pt x="66294" y="1701546"/>
                    <a:pt x="0" y="1635252"/>
                    <a:pt x="0" y="15535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61098" y="8238554"/>
            <a:ext cx="613029" cy="613029"/>
            <a:chOff x="0" y="0"/>
            <a:chExt cx="817372" cy="8173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7372" cy="817372"/>
            </a:xfrm>
            <a:custGeom>
              <a:avLst/>
              <a:gdLst/>
              <a:ahLst/>
              <a:cxnLst/>
              <a:rect r="r" b="b" t="t" l="l"/>
              <a:pathLst>
                <a:path h="817372" w="817372">
                  <a:moveTo>
                    <a:pt x="0" y="408686"/>
                  </a:moveTo>
                  <a:cubicBezTo>
                    <a:pt x="0" y="183007"/>
                    <a:pt x="183007" y="0"/>
                    <a:pt x="408686" y="0"/>
                  </a:cubicBezTo>
                  <a:cubicBezTo>
                    <a:pt x="634365" y="0"/>
                    <a:pt x="817372" y="183007"/>
                    <a:pt x="817372" y="408686"/>
                  </a:cubicBezTo>
                  <a:cubicBezTo>
                    <a:pt x="817372" y="634365"/>
                    <a:pt x="634365" y="817372"/>
                    <a:pt x="408686" y="817372"/>
                  </a:cubicBezTo>
                  <a:cubicBezTo>
                    <a:pt x="183007" y="817372"/>
                    <a:pt x="0" y="634365"/>
                    <a:pt x="0" y="408686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65860" y="8243316"/>
            <a:ext cx="603504" cy="603504"/>
            <a:chOff x="0" y="0"/>
            <a:chExt cx="804672" cy="8046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04672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125980" y="8023860"/>
            <a:ext cx="4663440" cy="548640"/>
            <a:chOff x="0" y="0"/>
            <a:chExt cx="62179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clean-up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2125980" y="8571357"/>
            <a:ext cx="466344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INSERT on cancellation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063740" y="7914132"/>
            <a:ext cx="10149840" cy="1261872"/>
            <a:chOff x="0" y="0"/>
            <a:chExt cx="13533120" cy="16824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533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7" r="0" b="-10672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3533120" cy="1730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Marks the booking Cancelled, which frees the seat, and sets the payment to Refunded.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 KEY DESIGN DECISIONS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Double-Booking Prevention &amp; Refund Policy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324576"/>
            <a:ext cx="8655368" cy="7009447"/>
            <a:chOff x="0" y="0"/>
            <a:chExt cx="11540490" cy="9345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40490" cy="9345930"/>
            </a:xfrm>
            <a:custGeom>
              <a:avLst/>
              <a:gdLst/>
              <a:ahLst/>
              <a:cxnLst/>
              <a:rect r="r" b="b" t="t" l="l"/>
              <a:pathLst>
                <a:path h="9345930" w="1154049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1393805" y="0"/>
                  </a:lnTo>
                  <a:cubicBezTo>
                    <a:pt x="11474831" y="0"/>
                    <a:pt x="11540490" y="65659"/>
                    <a:pt x="11540490" y="146685"/>
                  </a:cubicBezTo>
                  <a:lnTo>
                    <a:pt x="11540490" y="9199245"/>
                  </a:lnTo>
                  <a:cubicBezTo>
                    <a:pt x="11540490" y="9280271"/>
                    <a:pt x="11474831" y="9345930"/>
                    <a:pt x="11393805" y="9345930"/>
                  </a:cubicBezTo>
                  <a:lnTo>
                    <a:pt x="146685" y="9345930"/>
                  </a:lnTo>
                  <a:cubicBezTo>
                    <a:pt x="65659" y="9345930"/>
                    <a:pt x="0" y="9280271"/>
                    <a:pt x="0" y="91992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34440" y="2548890"/>
            <a:ext cx="7818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active booking per seat per trip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440" y="3244215"/>
            <a:ext cx="78181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active_seat equals seat_id only while the booking is Confirmed, otherwise NULL. UNIQUE (trip_id, active_seat) ignores NULLs, so a cancelled seat can be sold again.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4899660"/>
            <a:ext cx="19202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booking_id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3260" y="4899660"/>
            <a:ext cx="15087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seat_id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00600" y="4899660"/>
            <a:ext cx="19888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0" y="4899660"/>
            <a:ext cx="21945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active_seat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7296" y="5451824"/>
            <a:ext cx="7832407" cy="700088"/>
            <a:chOff x="0" y="0"/>
            <a:chExt cx="10443210" cy="933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43210" cy="933450"/>
            </a:xfrm>
            <a:custGeom>
              <a:avLst/>
              <a:gdLst/>
              <a:ahLst/>
              <a:cxnLst/>
              <a:rect r="r" b="b" t="t" l="l"/>
              <a:pathLst>
                <a:path h="933450" w="1044321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331196" y="0"/>
                  </a:lnTo>
                  <a:cubicBezTo>
                    <a:pt x="10393045" y="0"/>
                    <a:pt x="10443210" y="50165"/>
                    <a:pt x="10443210" y="112014"/>
                  </a:cubicBezTo>
                  <a:lnTo>
                    <a:pt x="10443210" y="821436"/>
                  </a:lnTo>
                  <a:cubicBezTo>
                    <a:pt x="10443210" y="883285"/>
                    <a:pt x="10393045" y="933450"/>
                    <a:pt x="10331196" y="933450"/>
                  </a:cubicBezTo>
                  <a:lnTo>
                    <a:pt x="112014" y="933450"/>
                  </a:lnTo>
                  <a:cubicBezTo>
                    <a:pt x="50165" y="933450"/>
                    <a:pt x="0" y="883285"/>
                    <a:pt x="0" y="821436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5458968"/>
            <a:ext cx="1783080" cy="685800"/>
            <a:chOff x="0" y="0"/>
            <a:chExt cx="237744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7744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774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60420" y="5458968"/>
            <a:ext cx="1371600" cy="685800"/>
            <a:chOff x="0" y="0"/>
            <a:chExt cx="18288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828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37760" y="5458968"/>
            <a:ext cx="1851660" cy="685800"/>
            <a:chOff x="0" y="0"/>
            <a:chExt cx="246888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68880" cy="914400"/>
            </a:xfrm>
            <a:custGeom>
              <a:avLst/>
              <a:gdLst/>
              <a:ahLst/>
              <a:cxnLst/>
              <a:rect r="r" b="b" t="t" l="l"/>
              <a:pathLst>
                <a:path h="9144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468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Cancelled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95160" y="5458968"/>
            <a:ext cx="2057400" cy="685800"/>
            <a:chOff x="0" y="0"/>
            <a:chExt cx="27432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743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7296" y="6302216"/>
            <a:ext cx="7832407" cy="700088"/>
            <a:chOff x="0" y="0"/>
            <a:chExt cx="10443210" cy="9334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43210" cy="933450"/>
            </a:xfrm>
            <a:custGeom>
              <a:avLst/>
              <a:gdLst/>
              <a:ahLst/>
              <a:cxnLst/>
              <a:rect r="r" b="b" t="t" l="l"/>
              <a:pathLst>
                <a:path h="933450" w="1044321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331196" y="0"/>
                  </a:lnTo>
                  <a:cubicBezTo>
                    <a:pt x="10393045" y="0"/>
                    <a:pt x="10443210" y="50165"/>
                    <a:pt x="10443210" y="112014"/>
                  </a:cubicBezTo>
                  <a:lnTo>
                    <a:pt x="10443210" y="821436"/>
                  </a:lnTo>
                  <a:cubicBezTo>
                    <a:pt x="10443210" y="883285"/>
                    <a:pt x="10393045" y="933450"/>
                    <a:pt x="10331196" y="933450"/>
                  </a:cubicBezTo>
                  <a:lnTo>
                    <a:pt x="112014" y="933450"/>
                  </a:lnTo>
                  <a:cubicBezTo>
                    <a:pt x="50165" y="933450"/>
                    <a:pt x="0" y="883285"/>
                    <a:pt x="0" y="821436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71600" y="6309360"/>
            <a:ext cx="1783080" cy="685800"/>
            <a:chOff x="0" y="0"/>
            <a:chExt cx="23774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744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3774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360420" y="6309360"/>
            <a:ext cx="1371600" cy="685800"/>
            <a:chOff x="0" y="0"/>
            <a:chExt cx="18288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828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937760" y="6309360"/>
            <a:ext cx="1851660" cy="685800"/>
            <a:chOff x="0" y="0"/>
            <a:chExt cx="246888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68880" cy="914400"/>
            </a:xfrm>
            <a:custGeom>
              <a:avLst/>
              <a:gdLst/>
              <a:ahLst/>
              <a:cxnLst/>
              <a:rect r="r" b="b" t="t" l="l"/>
              <a:pathLst>
                <a:path h="9144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468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95160" y="6309360"/>
            <a:ext cx="2057400" cy="685800"/>
            <a:chOff x="0" y="0"/>
            <a:chExt cx="27432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743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7296" y="7152608"/>
            <a:ext cx="7832407" cy="700088"/>
            <a:chOff x="0" y="0"/>
            <a:chExt cx="10443210" cy="9334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43210" cy="933450"/>
            </a:xfrm>
            <a:custGeom>
              <a:avLst/>
              <a:gdLst/>
              <a:ahLst/>
              <a:cxnLst/>
              <a:rect r="r" b="b" t="t" l="l"/>
              <a:pathLst>
                <a:path h="933450" w="1044321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331196" y="0"/>
                  </a:lnTo>
                  <a:cubicBezTo>
                    <a:pt x="10393045" y="0"/>
                    <a:pt x="10443210" y="50165"/>
                    <a:pt x="10443210" y="112014"/>
                  </a:cubicBezTo>
                  <a:lnTo>
                    <a:pt x="10443210" y="821436"/>
                  </a:lnTo>
                  <a:cubicBezTo>
                    <a:pt x="10443210" y="883285"/>
                    <a:pt x="10393045" y="933450"/>
                    <a:pt x="10331196" y="933450"/>
                  </a:cubicBezTo>
                  <a:lnTo>
                    <a:pt x="112014" y="933450"/>
                  </a:lnTo>
                  <a:cubicBezTo>
                    <a:pt x="50165" y="933450"/>
                    <a:pt x="0" y="883285"/>
                    <a:pt x="0" y="821436"/>
                  </a:cubicBezTo>
                  <a:close/>
                </a:path>
              </a:pathLst>
            </a:custGeom>
            <a:solidFill>
              <a:srgbClr val="FBE9E7"/>
            </a:solidFill>
            <a:ln w="14288" cap="sq">
              <a:solidFill>
                <a:srgbClr val="E5737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7159752"/>
            <a:ext cx="1783080" cy="685800"/>
            <a:chOff x="0" y="0"/>
            <a:chExt cx="23774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3774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360420" y="7159752"/>
            <a:ext cx="1371600" cy="685800"/>
            <a:chOff x="0" y="0"/>
            <a:chExt cx="18288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828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37760" y="7159752"/>
            <a:ext cx="1851660" cy="685800"/>
            <a:chOff x="0" y="0"/>
            <a:chExt cx="246888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68880" cy="914400"/>
            </a:xfrm>
            <a:custGeom>
              <a:avLst/>
              <a:gdLst/>
              <a:ahLst/>
              <a:cxnLst/>
              <a:rect r="r" b="b" t="t" l="l"/>
              <a:pathLst>
                <a:path h="9144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468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95160" y="7159752"/>
            <a:ext cx="2057400" cy="685800"/>
            <a:chOff x="0" y="0"/>
            <a:chExt cx="27432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743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34440" y="8113395"/>
            <a:ext cx="78181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Row 103 is rejected: </a:t>
            </a:r>
            <a:r>
              <a:rPr lang="en-US" sz="1950">
                <a:solidFill>
                  <a:srgbClr val="1B2B34"/>
                </a:solidFill>
                <a:latin typeface="Calibri (MS)"/>
                <a:ea typeface="Calibri (MS)"/>
                <a:cs typeface="Calibri (MS)"/>
                <a:sym typeface="Calibri (MS)"/>
              </a:rPr>
              <a:t>duplicate (trip_id, active_seat). Row 102 is allowed because row 101 is cancelled.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34440" y="8818245"/>
            <a:ext cx="78181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5B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Illustrative values for one trip.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868376" y="2324576"/>
            <a:ext cx="7599236" cy="7009447"/>
            <a:chOff x="0" y="0"/>
            <a:chExt cx="10132314" cy="934593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32314" cy="9345930"/>
            </a:xfrm>
            <a:custGeom>
              <a:avLst/>
              <a:gdLst/>
              <a:ahLst/>
              <a:cxnLst/>
              <a:rect r="r" b="b" t="t" l="l"/>
              <a:pathLst>
                <a:path h="9345930" w="10132314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985629" y="0"/>
                  </a:lnTo>
                  <a:cubicBezTo>
                    <a:pt x="10066655" y="0"/>
                    <a:pt x="10132314" y="65659"/>
                    <a:pt x="10132314" y="146685"/>
                  </a:cubicBezTo>
                  <a:lnTo>
                    <a:pt x="10132314" y="9199245"/>
                  </a:lnTo>
                  <a:cubicBezTo>
                    <a:pt x="10132314" y="9280271"/>
                    <a:pt x="10066655" y="9345930"/>
                    <a:pt x="9985629" y="9345930"/>
                  </a:cubicBezTo>
                  <a:lnTo>
                    <a:pt x="146685" y="9345930"/>
                  </a:lnTo>
                  <a:cubicBezTo>
                    <a:pt x="65659" y="9345930"/>
                    <a:pt x="0" y="9280271"/>
                    <a:pt x="0" y="9199245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0287000" y="2548890"/>
            <a:ext cx="6858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 refund tiers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279856" y="3490436"/>
            <a:ext cx="6776275" cy="1317308"/>
            <a:chOff x="0" y="0"/>
            <a:chExt cx="9035034" cy="175641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035035" cy="1756410"/>
            </a:xfrm>
            <a:custGeom>
              <a:avLst/>
              <a:gdLst/>
              <a:ahLst/>
              <a:cxnLst/>
              <a:rect r="r" b="b" t="t" l="l"/>
              <a:pathLst>
                <a:path h="1756410" w="9035035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8887079" y="0"/>
                  </a:lnTo>
                  <a:cubicBezTo>
                    <a:pt x="8968740" y="0"/>
                    <a:pt x="9035035" y="66167"/>
                    <a:pt x="9035035" y="147955"/>
                  </a:cubicBezTo>
                  <a:lnTo>
                    <a:pt x="9035035" y="1608455"/>
                  </a:lnTo>
                  <a:cubicBezTo>
                    <a:pt x="9035035" y="1690116"/>
                    <a:pt x="8968867" y="1756410"/>
                    <a:pt x="8887079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492740" y="3497580"/>
            <a:ext cx="2057400" cy="1303020"/>
            <a:chOff x="0" y="0"/>
            <a:chExt cx="2743200" cy="1737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43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14300"/>
              <a:ext cx="274320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18720" y="3497580"/>
            <a:ext cx="4251960" cy="1303020"/>
            <a:chOff x="0" y="0"/>
            <a:chExt cx="5669280" cy="1737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69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2" r="0" b="-1358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669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 hours or more before departure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279856" y="4999196"/>
            <a:ext cx="6776275" cy="1317308"/>
            <a:chOff x="0" y="0"/>
            <a:chExt cx="9035034" cy="175641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035035" cy="1756410"/>
            </a:xfrm>
            <a:custGeom>
              <a:avLst/>
              <a:gdLst/>
              <a:ahLst/>
              <a:cxnLst/>
              <a:rect r="r" b="b" t="t" l="l"/>
              <a:pathLst>
                <a:path h="1756410" w="9035035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8887079" y="0"/>
                  </a:lnTo>
                  <a:cubicBezTo>
                    <a:pt x="8968740" y="0"/>
                    <a:pt x="9035035" y="66167"/>
                    <a:pt x="9035035" y="147955"/>
                  </a:cubicBezTo>
                  <a:lnTo>
                    <a:pt x="9035035" y="1608455"/>
                  </a:lnTo>
                  <a:cubicBezTo>
                    <a:pt x="9035035" y="1690116"/>
                    <a:pt x="8968867" y="1756410"/>
                    <a:pt x="8887079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492740" y="5006340"/>
            <a:ext cx="2057400" cy="1303020"/>
            <a:chOff x="0" y="0"/>
            <a:chExt cx="2743200" cy="1737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743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14300"/>
              <a:ext cx="274320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18720" y="5006340"/>
            <a:ext cx="4251960" cy="1303020"/>
            <a:chOff x="0" y="0"/>
            <a:chExt cx="5669280" cy="1737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69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2" r="0" b="-1358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669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to 24 hours before departure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79856" y="6507956"/>
            <a:ext cx="6776275" cy="1317308"/>
            <a:chOff x="0" y="0"/>
            <a:chExt cx="9035034" cy="175641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35035" cy="1756410"/>
            </a:xfrm>
            <a:custGeom>
              <a:avLst/>
              <a:gdLst/>
              <a:ahLst/>
              <a:cxnLst/>
              <a:rect r="r" b="b" t="t" l="l"/>
              <a:pathLst>
                <a:path h="1756410" w="9035035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8887079" y="0"/>
                  </a:lnTo>
                  <a:cubicBezTo>
                    <a:pt x="8968740" y="0"/>
                    <a:pt x="9035035" y="66167"/>
                    <a:pt x="9035035" y="147955"/>
                  </a:cubicBezTo>
                  <a:lnTo>
                    <a:pt x="9035035" y="1608455"/>
                  </a:lnTo>
                  <a:cubicBezTo>
                    <a:pt x="9035035" y="1690116"/>
                    <a:pt x="8968867" y="1756410"/>
                    <a:pt x="8887079" y="1756410"/>
                  </a:cubicBezTo>
                  <a:lnTo>
                    <a:pt x="147955" y="1756410"/>
                  </a:lnTo>
                  <a:cubicBezTo>
                    <a:pt x="66167" y="1756410"/>
                    <a:pt x="0" y="1690243"/>
                    <a:pt x="0" y="160845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492740" y="6515100"/>
            <a:ext cx="2057400" cy="1303020"/>
            <a:chOff x="0" y="0"/>
            <a:chExt cx="2743200" cy="1737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43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14300"/>
              <a:ext cx="274320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0%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618720" y="6515100"/>
            <a:ext cx="4251960" cy="1303020"/>
            <a:chOff x="0" y="0"/>
            <a:chExt cx="5669280" cy="1737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69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2" r="0" b="-1358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669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less than 6 hours before departure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0287000" y="8113395"/>
            <a:ext cx="676198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departure: cancellation is not allowed.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287000" y="8662035"/>
            <a:ext cx="6761988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D9E6E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Refund = amount paid × tier percentage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BACK-END, FRONT-END IN PROGRESS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393156"/>
            <a:ext cx="3511867" cy="2003108"/>
            <a:chOff x="0" y="0"/>
            <a:chExt cx="4682490" cy="2670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82490" cy="2670810"/>
            </a:xfrm>
            <a:custGeom>
              <a:avLst/>
              <a:gdLst/>
              <a:ahLst/>
              <a:cxnLst/>
              <a:rect r="r" b="b" t="t" l="l"/>
              <a:pathLst>
                <a:path h="2670810" w="468249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535170" y="0"/>
                  </a:lnTo>
                  <a:cubicBezTo>
                    <a:pt x="4616577" y="0"/>
                    <a:pt x="4682490" y="65913"/>
                    <a:pt x="4682490" y="147320"/>
                  </a:cubicBezTo>
                  <a:lnTo>
                    <a:pt x="4682490" y="2523490"/>
                  </a:lnTo>
                  <a:cubicBezTo>
                    <a:pt x="4682490" y="2604897"/>
                    <a:pt x="4616577" y="2670810"/>
                    <a:pt x="4535170" y="2670810"/>
                  </a:cubicBezTo>
                  <a:lnTo>
                    <a:pt x="147320" y="2670810"/>
                  </a:lnTo>
                  <a:cubicBezTo>
                    <a:pt x="65913" y="2670810"/>
                    <a:pt x="0" y="2604897"/>
                    <a:pt x="0" y="2523490"/>
                  </a:cubicBezTo>
                  <a:close/>
                </a:path>
              </a:pathLst>
            </a:custGeom>
            <a:solidFill>
              <a:srgbClr val="1C7293"/>
            </a:solidFill>
            <a:ln w="14288" cap="sq">
              <a:solidFill>
                <a:srgbClr val="1C729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548890"/>
            <a:ext cx="30861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244215"/>
            <a:ext cx="30861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Admin, clerk, passenger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411790" y="3149917"/>
            <a:ext cx="558165" cy="421005"/>
            <a:chOff x="0" y="0"/>
            <a:chExt cx="744220" cy="5613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4220" cy="561340"/>
            </a:xfrm>
            <a:custGeom>
              <a:avLst/>
              <a:gdLst/>
              <a:ahLst/>
              <a:cxnLst/>
              <a:rect r="r" b="b" t="t" l="l"/>
              <a:pathLst>
                <a:path h="561340" w="744220">
                  <a:moveTo>
                    <a:pt x="0" y="140335"/>
                  </a:moveTo>
                  <a:lnTo>
                    <a:pt x="463550" y="140335"/>
                  </a:lnTo>
                  <a:lnTo>
                    <a:pt x="463550" y="0"/>
                  </a:lnTo>
                  <a:lnTo>
                    <a:pt x="744220" y="280670"/>
                  </a:lnTo>
                  <a:lnTo>
                    <a:pt x="463550" y="561340"/>
                  </a:lnTo>
                  <a:lnTo>
                    <a:pt x="463550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5B6B74"/>
            </a:solidFill>
            <a:ln w="9525" cap="sq">
              <a:solidFill>
                <a:srgbClr val="5B6B7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95208" y="2393156"/>
            <a:ext cx="3511867" cy="2003108"/>
            <a:chOff x="0" y="0"/>
            <a:chExt cx="4682490" cy="2670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2490" cy="2670810"/>
            </a:xfrm>
            <a:custGeom>
              <a:avLst/>
              <a:gdLst/>
              <a:ahLst/>
              <a:cxnLst/>
              <a:rect r="r" b="b" t="t" l="l"/>
              <a:pathLst>
                <a:path h="2670810" w="468249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535170" y="0"/>
                  </a:lnTo>
                  <a:cubicBezTo>
                    <a:pt x="4616577" y="0"/>
                    <a:pt x="4682490" y="65913"/>
                    <a:pt x="4682490" y="147320"/>
                  </a:cubicBezTo>
                  <a:lnTo>
                    <a:pt x="4682490" y="2523490"/>
                  </a:lnTo>
                  <a:cubicBezTo>
                    <a:pt x="4682490" y="2604897"/>
                    <a:pt x="4616577" y="2670810"/>
                    <a:pt x="4535170" y="2670810"/>
                  </a:cubicBezTo>
                  <a:lnTo>
                    <a:pt x="147320" y="2670810"/>
                  </a:lnTo>
                  <a:cubicBezTo>
                    <a:pt x="65913" y="2670810"/>
                    <a:pt x="0" y="2604897"/>
                    <a:pt x="0" y="2523490"/>
                  </a:cubicBezTo>
                  <a:close/>
                </a:path>
              </a:pathLst>
            </a:custGeom>
            <a:solidFill>
              <a:srgbClr val="F5A623"/>
            </a:solidFill>
            <a:ln w="14288" cap="sq">
              <a:solidFill>
                <a:srgbClr val="F5A623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308092" y="2548890"/>
            <a:ext cx="30861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Front-end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08092" y="3244215"/>
            <a:ext cx="30861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B34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/ Java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83390" y="3808286"/>
            <a:ext cx="2135505" cy="421005"/>
            <a:chOff x="0" y="0"/>
            <a:chExt cx="2847340" cy="5613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47340" cy="561340"/>
            </a:xfrm>
            <a:custGeom>
              <a:avLst/>
              <a:gdLst/>
              <a:ahLst/>
              <a:cxnLst/>
              <a:rect r="r" b="b" t="t" l="l"/>
              <a:pathLst>
                <a:path h="561340" w="2847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566670" y="0"/>
                  </a:lnTo>
                  <a:cubicBezTo>
                    <a:pt x="2721737" y="0"/>
                    <a:pt x="2847340" y="125603"/>
                    <a:pt x="2847340" y="280670"/>
                  </a:cubicBezTo>
                  <a:cubicBezTo>
                    <a:pt x="2847340" y="435737"/>
                    <a:pt x="2721737" y="561340"/>
                    <a:pt x="25666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788152" y="3813048"/>
            <a:ext cx="2125980" cy="411480"/>
            <a:chOff x="0" y="0"/>
            <a:chExt cx="283464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4640" cy="548640"/>
            </a:xfrm>
            <a:custGeom>
              <a:avLst/>
              <a:gdLst/>
              <a:ahLst/>
              <a:cxnLst/>
              <a:rect r="r" b="b" t="t" l="l"/>
              <a:pathLst>
                <a:path h="54864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834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91182" y="3149917"/>
            <a:ext cx="558165" cy="421005"/>
            <a:chOff x="0" y="0"/>
            <a:chExt cx="744220" cy="5613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4220" cy="561340"/>
            </a:xfrm>
            <a:custGeom>
              <a:avLst/>
              <a:gdLst/>
              <a:ahLst/>
              <a:cxnLst/>
              <a:rect r="r" b="b" t="t" l="l"/>
              <a:pathLst>
                <a:path h="561340" w="744220">
                  <a:moveTo>
                    <a:pt x="0" y="140335"/>
                  </a:moveTo>
                  <a:lnTo>
                    <a:pt x="463550" y="140335"/>
                  </a:lnTo>
                  <a:lnTo>
                    <a:pt x="463550" y="0"/>
                  </a:lnTo>
                  <a:lnTo>
                    <a:pt x="744220" y="280670"/>
                  </a:lnTo>
                  <a:lnTo>
                    <a:pt x="463550" y="561340"/>
                  </a:lnTo>
                  <a:lnTo>
                    <a:pt x="463550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5B6B74"/>
            </a:solidFill>
            <a:ln w="9525" cap="sq">
              <a:solidFill>
                <a:srgbClr val="5B6B7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374600" y="2393156"/>
            <a:ext cx="3511867" cy="2003108"/>
            <a:chOff x="0" y="0"/>
            <a:chExt cx="4682490" cy="26708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82490" cy="2670810"/>
            </a:xfrm>
            <a:custGeom>
              <a:avLst/>
              <a:gdLst/>
              <a:ahLst/>
              <a:cxnLst/>
              <a:rect r="r" b="b" t="t" l="l"/>
              <a:pathLst>
                <a:path h="2670810" w="468249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535170" y="0"/>
                  </a:lnTo>
                  <a:cubicBezTo>
                    <a:pt x="4616577" y="0"/>
                    <a:pt x="4682490" y="65913"/>
                    <a:pt x="4682490" y="147320"/>
                  </a:cubicBezTo>
                  <a:lnTo>
                    <a:pt x="4682490" y="2523490"/>
                  </a:lnTo>
                  <a:cubicBezTo>
                    <a:pt x="4682490" y="2604897"/>
                    <a:pt x="4616577" y="2670810"/>
                    <a:pt x="4535170" y="2670810"/>
                  </a:cubicBezTo>
                  <a:lnTo>
                    <a:pt x="147320" y="2670810"/>
                  </a:lnTo>
                  <a:cubicBezTo>
                    <a:pt x="65913" y="2670810"/>
                    <a:pt x="0" y="2604897"/>
                    <a:pt x="0" y="2523490"/>
                  </a:cubicBezTo>
                  <a:close/>
                </a:path>
              </a:pathLst>
            </a:custGeom>
            <a:solidFill>
              <a:srgbClr val="F5A623"/>
            </a:solidFill>
            <a:ln w="14288" cap="sq">
              <a:solidFill>
                <a:srgbClr val="F5A623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587484" y="2548890"/>
            <a:ext cx="30861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layer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87484" y="3244215"/>
            <a:ext cx="30861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B34"/>
                </a:solidFill>
                <a:latin typeface="Calibri (MS)"/>
                <a:ea typeface="Calibri (MS)"/>
                <a:cs typeface="Calibri (MS)"/>
                <a:sym typeface="Calibri (MS)"/>
              </a:rPr>
              <a:t>Queries and views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62782" y="3808286"/>
            <a:ext cx="2135505" cy="421005"/>
            <a:chOff x="0" y="0"/>
            <a:chExt cx="2847340" cy="561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47340" cy="561340"/>
            </a:xfrm>
            <a:custGeom>
              <a:avLst/>
              <a:gdLst/>
              <a:ahLst/>
              <a:cxnLst/>
              <a:rect r="r" b="b" t="t" l="l"/>
              <a:pathLst>
                <a:path h="561340" w="2847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566670" y="0"/>
                  </a:lnTo>
                  <a:cubicBezTo>
                    <a:pt x="2721737" y="0"/>
                    <a:pt x="2847340" y="125603"/>
                    <a:pt x="2847340" y="280670"/>
                  </a:cubicBezTo>
                  <a:cubicBezTo>
                    <a:pt x="2847340" y="435737"/>
                    <a:pt x="2721737" y="561340"/>
                    <a:pt x="25666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067544" y="3813048"/>
            <a:ext cx="2125980" cy="411480"/>
            <a:chOff x="0" y="0"/>
            <a:chExt cx="28346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34640" cy="548640"/>
            </a:xfrm>
            <a:custGeom>
              <a:avLst/>
              <a:gdLst/>
              <a:ahLst/>
              <a:cxnLst/>
              <a:rect r="r" b="b" t="t" l="l"/>
              <a:pathLst>
                <a:path h="54864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834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70574" y="3149917"/>
            <a:ext cx="558165" cy="421005"/>
            <a:chOff x="0" y="0"/>
            <a:chExt cx="744220" cy="561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4220" cy="561340"/>
            </a:xfrm>
            <a:custGeom>
              <a:avLst/>
              <a:gdLst/>
              <a:ahLst/>
              <a:cxnLst/>
              <a:rect r="r" b="b" t="t" l="l"/>
              <a:pathLst>
                <a:path h="561340" w="744220">
                  <a:moveTo>
                    <a:pt x="0" y="140335"/>
                  </a:moveTo>
                  <a:lnTo>
                    <a:pt x="463550" y="140335"/>
                  </a:lnTo>
                  <a:lnTo>
                    <a:pt x="463550" y="0"/>
                  </a:lnTo>
                  <a:lnTo>
                    <a:pt x="744220" y="280670"/>
                  </a:lnTo>
                  <a:lnTo>
                    <a:pt x="463550" y="561340"/>
                  </a:lnTo>
                  <a:lnTo>
                    <a:pt x="463550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5B6B74"/>
            </a:solidFill>
            <a:ln w="9525" cap="sq">
              <a:solidFill>
                <a:srgbClr val="5B6B7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653992" y="2393156"/>
            <a:ext cx="3511867" cy="2003108"/>
            <a:chOff x="0" y="0"/>
            <a:chExt cx="4682490" cy="26708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82490" cy="2670810"/>
            </a:xfrm>
            <a:custGeom>
              <a:avLst/>
              <a:gdLst/>
              <a:ahLst/>
              <a:cxnLst/>
              <a:rect r="r" b="b" t="t" l="l"/>
              <a:pathLst>
                <a:path h="2670810" w="468249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535170" y="0"/>
                  </a:lnTo>
                  <a:cubicBezTo>
                    <a:pt x="4616577" y="0"/>
                    <a:pt x="4682490" y="65913"/>
                    <a:pt x="4682490" y="147320"/>
                  </a:cubicBezTo>
                  <a:lnTo>
                    <a:pt x="4682490" y="2523490"/>
                  </a:lnTo>
                  <a:cubicBezTo>
                    <a:pt x="4682490" y="2604897"/>
                    <a:pt x="4616577" y="2670810"/>
                    <a:pt x="4535170" y="2670810"/>
                  </a:cubicBezTo>
                  <a:lnTo>
                    <a:pt x="147320" y="2670810"/>
                  </a:lnTo>
                  <a:cubicBezTo>
                    <a:pt x="65913" y="2670810"/>
                    <a:pt x="0" y="2604897"/>
                    <a:pt x="0" y="2523490"/>
                  </a:cubicBezTo>
                  <a:close/>
                </a:path>
              </a:pathLst>
            </a:custGeom>
            <a:solidFill>
              <a:srgbClr val="0B3C5D"/>
            </a:solidFill>
            <a:ln w="14288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3866876" y="2548890"/>
            <a:ext cx="30861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8.0.16+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66876" y="3244215"/>
            <a:ext cx="30861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D9E6EC"/>
                </a:solidFill>
                <a:latin typeface="Calibri (MS)"/>
                <a:ea typeface="Calibri (MS)"/>
                <a:cs typeface="Calibri (MS)"/>
                <a:sym typeface="Calibri (MS)"/>
              </a:rPr>
              <a:t>bus_system database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15816" y="4999196"/>
            <a:ext cx="5349812" cy="4403408"/>
            <a:chOff x="0" y="0"/>
            <a:chExt cx="7133082" cy="58712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33082" cy="5871210"/>
            </a:xfrm>
            <a:custGeom>
              <a:avLst/>
              <a:gdLst/>
              <a:ahLst/>
              <a:cxnLst/>
              <a:rect r="r" b="b" t="t" l="l"/>
              <a:pathLst>
                <a:path h="5871210" w="7133082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86270" y="0"/>
                  </a:lnTo>
                  <a:cubicBezTo>
                    <a:pt x="7067296" y="0"/>
                    <a:pt x="7133082" y="65659"/>
                    <a:pt x="7133082" y="146812"/>
                  </a:cubicBezTo>
                  <a:lnTo>
                    <a:pt x="7133082" y="5724398"/>
                  </a:lnTo>
                  <a:cubicBezTo>
                    <a:pt x="7133082" y="5805424"/>
                    <a:pt x="7067423" y="5871210"/>
                    <a:pt x="6986270" y="5871210"/>
                  </a:cubicBezTo>
                  <a:lnTo>
                    <a:pt x="146812" y="5871210"/>
                  </a:lnTo>
                  <a:cubicBezTo>
                    <a:pt x="65659" y="5871210"/>
                    <a:pt x="0" y="5805551"/>
                    <a:pt x="0" y="57243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165860" y="5242560"/>
            <a:ext cx="4649724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Front-end layer (planned)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5860" y="5987415"/>
            <a:ext cx="4649724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or Java application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trips, book and cancel seats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Crew and fare workflows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466808" y="4999196"/>
            <a:ext cx="5349812" cy="4403408"/>
            <a:chOff x="0" y="0"/>
            <a:chExt cx="7133082" cy="58712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33082" cy="5871210"/>
            </a:xfrm>
            <a:custGeom>
              <a:avLst/>
              <a:gdLst/>
              <a:ahLst/>
              <a:cxnLst/>
              <a:rect r="r" b="b" t="t" l="l"/>
              <a:pathLst>
                <a:path h="5871210" w="7133082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86270" y="0"/>
                  </a:lnTo>
                  <a:cubicBezTo>
                    <a:pt x="7067296" y="0"/>
                    <a:pt x="7133082" y="65659"/>
                    <a:pt x="7133082" y="146812"/>
                  </a:cubicBezTo>
                  <a:lnTo>
                    <a:pt x="7133082" y="5724398"/>
                  </a:lnTo>
                  <a:cubicBezTo>
                    <a:pt x="7133082" y="5805424"/>
                    <a:pt x="7067423" y="5871210"/>
                    <a:pt x="6986270" y="5871210"/>
                  </a:cubicBezTo>
                  <a:lnTo>
                    <a:pt x="146812" y="5871210"/>
                  </a:lnTo>
                  <a:cubicBezTo>
                    <a:pt x="65659" y="5871210"/>
                    <a:pt x="0" y="5805551"/>
                    <a:pt x="0" y="57243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6816852" y="5242560"/>
            <a:ext cx="4649724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database (built)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16852" y="5987415"/>
            <a:ext cx="4649724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13 related tables, 6 indexes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Foreign keys keep records consistent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Schema script runs on MySQL 8.0.16+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117800" y="4999196"/>
            <a:ext cx="5349812" cy="4403408"/>
            <a:chOff x="0" y="0"/>
            <a:chExt cx="7133082" cy="587121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33082" cy="5871210"/>
            </a:xfrm>
            <a:custGeom>
              <a:avLst/>
              <a:gdLst/>
              <a:ahLst/>
              <a:cxnLst/>
              <a:rect r="r" b="b" t="t" l="l"/>
              <a:pathLst>
                <a:path h="5871210" w="7133082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86270" y="0"/>
                  </a:lnTo>
                  <a:cubicBezTo>
                    <a:pt x="7067296" y="0"/>
                    <a:pt x="7133082" y="65659"/>
                    <a:pt x="7133082" y="146812"/>
                  </a:cubicBezTo>
                  <a:lnTo>
                    <a:pt x="7133082" y="5724398"/>
                  </a:lnTo>
                  <a:cubicBezTo>
                    <a:pt x="7133082" y="5805424"/>
                    <a:pt x="7067423" y="5871210"/>
                    <a:pt x="6986270" y="5871210"/>
                  </a:cubicBezTo>
                  <a:lnTo>
                    <a:pt x="146812" y="5871210"/>
                  </a:lnTo>
                  <a:cubicBezTo>
                    <a:pt x="65659" y="5871210"/>
                    <a:pt x="0" y="5805551"/>
                    <a:pt x="0" y="57243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2467844" y="5242560"/>
            <a:ext cx="4649724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Rules inside the database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67844" y="5987415"/>
            <a:ext cx="4649724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Triggers block overlaps and bad payments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Refunds computed by the cancellation trigger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Rules hold for any front-end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BUILT SO FAR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Implementation Progress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4440" y="2193417"/>
            <a:ext cx="41148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97880" y="2193417"/>
            <a:ext cx="68580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IT DOES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13280" y="2193417"/>
            <a:ext cx="27432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5B6B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2708624"/>
            <a:ext cx="16651796" cy="727520"/>
            <a:chOff x="0" y="0"/>
            <a:chExt cx="22202394" cy="9700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715768"/>
            <a:ext cx="4389120" cy="713232"/>
            <a:chOff x="0" y="0"/>
            <a:chExt cx="5852160" cy="950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script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97880" y="2715768"/>
            <a:ext cx="8641080" cy="713232"/>
            <a:chOff x="0" y="0"/>
            <a:chExt cx="11521440" cy="9509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bus_system database with 13 tables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08518" y="2861881"/>
            <a:ext cx="1792605" cy="421005"/>
            <a:chOff x="0" y="0"/>
            <a:chExt cx="2390140" cy="5613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90140" cy="561340"/>
            </a:xfrm>
            <a:custGeom>
              <a:avLst/>
              <a:gdLst/>
              <a:ahLst/>
              <a:cxnLst/>
              <a:rect r="r" b="b" t="t" l="l"/>
              <a:pathLst>
                <a:path h="561340" w="23901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109470" y="0"/>
                  </a:lnTo>
                  <a:cubicBezTo>
                    <a:pt x="2264537" y="0"/>
                    <a:pt x="2390140" y="125603"/>
                    <a:pt x="2390140" y="280670"/>
                  </a:cubicBezTo>
                  <a:cubicBezTo>
                    <a:pt x="2390140" y="435737"/>
                    <a:pt x="2264537" y="561340"/>
                    <a:pt x="21094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813280" y="2866644"/>
            <a:ext cx="1783080" cy="411480"/>
            <a:chOff x="0" y="0"/>
            <a:chExt cx="237744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3774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5816" y="3531584"/>
            <a:ext cx="16651796" cy="727520"/>
            <a:chOff x="0" y="0"/>
            <a:chExt cx="22202394" cy="9700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" y="3538728"/>
            <a:ext cx="4389120" cy="713232"/>
            <a:chOff x="0" y="0"/>
            <a:chExt cx="5852160" cy="950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Constraints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97880" y="3538728"/>
            <a:ext cx="8641080" cy="713232"/>
            <a:chOff x="0" y="0"/>
            <a:chExt cx="11521440" cy="950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PK, FK, UNIQUE, NOT NULL, CHECK, ENUM, DEFAULT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808518" y="3684842"/>
            <a:ext cx="1792605" cy="421005"/>
            <a:chOff x="0" y="0"/>
            <a:chExt cx="2390140" cy="561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90140" cy="561340"/>
            </a:xfrm>
            <a:custGeom>
              <a:avLst/>
              <a:gdLst/>
              <a:ahLst/>
              <a:cxnLst/>
              <a:rect r="r" b="b" t="t" l="l"/>
              <a:pathLst>
                <a:path h="561340" w="23901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109470" y="0"/>
                  </a:lnTo>
                  <a:cubicBezTo>
                    <a:pt x="2264537" y="0"/>
                    <a:pt x="2390140" y="125603"/>
                    <a:pt x="2390140" y="280670"/>
                  </a:cubicBezTo>
                  <a:cubicBezTo>
                    <a:pt x="2390140" y="435737"/>
                    <a:pt x="2264537" y="561340"/>
                    <a:pt x="21094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813280" y="3689604"/>
            <a:ext cx="1783080" cy="411480"/>
            <a:chOff x="0" y="0"/>
            <a:chExt cx="237744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3774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5816" y="4354544"/>
            <a:ext cx="16651796" cy="727520"/>
            <a:chOff x="0" y="0"/>
            <a:chExt cx="22202394" cy="9700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" y="4361688"/>
            <a:ext cx="4389120" cy="713232"/>
            <a:chOff x="0" y="0"/>
            <a:chExt cx="5852160" cy="9509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897880" y="4361688"/>
            <a:ext cx="8641080" cy="713232"/>
            <a:chOff x="0" y="0"/>
            <a:chExt cx="11521440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Six indexes on route, trip and booking search columns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08518" y="4507802"/>
            <a:ext cx="1792605" cy="421005"/>
            <a:chOff x="0" y="0"/>
            <a:chExt cx="2390140" cy="5613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90140" cy="561340"/>
            </a:xfrm>
            <a:custGeom>
              <a:avLst/>
              <a:gdLst/>
              <a:ahLst/>
              <a:cxnLst/>
              <a:rect r="r" b="b" t="t" l="l"/>
              <a:pathLst>
                <a:path h="561340" w="23901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109470" y="0"/>
                  </a:lnTo>
                  <a:cubicBezTo>
                    <a:pt x="2264537" y="0"/>
                    <a:pt x="2390140" y="125603"/>
                    <a:pt x="2390140" y="280670"/>
                  </a:cubicBezTo>
                  <a:cubicBezTo>
                    <a:pt x="2390140" y="435737"/>
                    <a:pt x="2264537" y="561340"/>
                    <a:pt x="21094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813280" y="4512564"/>
            <a:ext cx="1783080" cy="411480"/>
            <a:chOff x="0" y="0"/>
            <a:chExt cx="237744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3774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5816" y="5177504"/>
            <a:ext cx="16651796" cy="727520"/>
            <a:chOff x="0" y="0"/>
            <a:chExt cx="22202394" cy="97002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34440" y="5184648"/>
            <a:ext cx="4389120" cy="713232"/>
            <a:chOff x="0" y="0"/>
            <a:chExt cx="5852160" cy="9509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Triggers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897880" y="5184648"/>
            <a:ext cx="8641080" cy="713232"/>
            <a:chOff x="0" y="0"/>
            <a:chExt cx="11521440" cy="9509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Overlap, booking, payment and cancellation rules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808518" y="5330762"/>
            <a:ext cx="1792605" cy="421005"/>
            <a:chOff x="0" y="0"/>
            <a:chExt cx="2390140" cy="5613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90140" cy="561340"/>
            </a:xfrm>
            <a:custGeom>
              <a:avLst/>
              <a:gdLst/>
              <a:ahLst/>
              <a:cxnLst/>
              <a:rect r="r" b="b" t="t" l="l"/>
              <a:pathLst>
                <a:path h="561340" w="23901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109470" y="0"/>
                  </a:lnTo>
                  <a:cubicBezTo>
                    <a:pt x="2264537" y="0"/>
                    <a:pt x="2390140" y="125603"/>
                    <a:pt x="2390140" y="280670"/>
                  </a:cubicBezTo>
                  <a:cubicBezTo>
                    <a:pt x="2390140" y="435737"/>
                    <a:pt x="2264537" y="561340"/>
                    <a:pt x="210947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C7293"/>
            </a:solidFill>
            <a:ln w="952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813280" y="5335524"/>
            <a:ext cx="1783080" cy="411480"/>
            <a:chOff x="0" y="0"/>
            <a:chExt cx="23774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3774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5816" y="6000464"/>
            <a:ext cx="16651796" cy="727520"/>
            <a:chOff x="0" y="0"/>
            <a:chExt cx="22202394" cy="97002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" y="6007608"/>
            <a:ext cx="4389120" cy="713232"/>
            <a:chOff x="0" y="0"/>
            <a:chExt cx="5852160" cy="9509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data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897880" y="6007608"/>
            <a:ext cx="8641080" cy="713232"/>
            <a:chOff x="0" y="0"/>
            <a:chExt cx="11521440" cy="95097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Routes, buses, seats, crews, trips and bookings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808518" y="6153721"/>
            <a:ext cx="2341245" cy="421005"/>
            <a:chOff x="0" y="0"/>
            <a:chExt cx="3121660" cy="561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21660" cy="561340"/>
            </a:xfrm>
            <a:custGeom>
              <a:avLst/>
              <a:gdLst/>
              <a:ahLst/>
              <a:cxnLst/>
              <a:rect r="r" b="b" t="t" l="l"/>
              <a:pathLst>
                <a:path h="561340" w="31216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840990" y="0"/>
                  </a:lnTo>
                  <a:cubicBezTo>
                    <a:pt x="2996057" y="0"/>
                    <a:pt x="3121660" y="125603"/>
                    <a:pt x="3121660" y="280670"/>
                  </a:cubicBezTo>
                  <a:cubicBezTo>
                    <a:pt x="3121660" y="435737"/>
                    <a:pt x="2996057" y="561340"/>
                    <a:pt x="28409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813280" y="6158484"/>
            <a:ext cx="2331720" cy="411480"/>
            <a:chOff x="0" y="0"/>
            <a:chExt cx="310896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31089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15816" y="6823424"/>
            <a:ext cx="16651796" cy="727520"/>
            <a:chOff x="0" y="0"/>
            <a:chExt cx="22202394" cy="9700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440" y="6830568"/>
            <a:ext cx="4389120" cy="713232"/>
            <a:chOff x="0" y="0"/>
            <a:chExt cx="5852160" cy="95097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Queries and views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897880" y="6830568"/>
            <a:ext cx="8641080" cy="713232"/>
            <a:chOff x="0" y="0"/>
            <a:chExt cx="11521440" cy="95097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Joins, aggregates, nested queries and report views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808518" y="6976682"/>
            <a:ext cx="2341245" cy="421005"/>
            <a:chOff x="0" y="0"/>
            <a:chExt cx="3121660" cy="5613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21660" cy="561340"/>
            </a:xfrm>
            <a:custGeom>
              <a:avLst/>
              <a:gdLst/>
              <a:ahLst/>
              <a:cxnLst/>
              <a:rect r="r" b="b" t="t" l="l"/>
              <a:pathLst>
                <a:path h="561340" w="31216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840990" y="0"/>
                  </a:lnTo>
                  <a:cubicBezTo>
                    <a:pt x="2996057" y="0"/>
                    <a:pt x="3121660" y="125603"/>
                    <a:pt x="3121660" y="280670"/>
                  </a:cubicBezTo>
                  <a:cubicBezTo>
                    <a:pt x="3121660" y="435737"/>
                    <a:pt x="2996057" y="561340"/>
                    <a:pt x="28409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4813280" y="6981444"/>
            <a:ext cx="2331720" cy="411480"/>
            <a:chOff x="0" y="0"/>
            <a:chExt cx="310896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31089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15816" y="7646384"/>
            <a:ext cx="16651796" cy="727520"/>
            <a:chOff x="0" y="0"/>
            <a:chExt cx="22202394" cy="97002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34440" y="7653528"/>
            <a:ext cx="4389120" cy="713232"/>
            <a:chOff x="0" y="0"/>
            <a:chExt cx="5852160" cy="95097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Front-end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897880" y="7653528"/>
            <a:ext cx="8641080" cy="713232"/>
            <a:chOff x="0" y="0"/>
            <a:chExt cx="11521440" cy="95097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Booking, cancellation, crew and fare workflows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808518" y="7799642"/>
            <a:ext cx="2341245" cy="421005"/>
            <a:chOff x="0" y="0"/>
            <a:chExt cx="3121660" cy="5613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121660" cy="561340"/>
            </a:xfrm>
            <a:custGeom>
              <a:avLst/>
              <a:gdLst/>
              <a:ahLst/>
              <a:cxnLst/>
              <a:rect r="r" b="b" t="t" l="l"/>
              <a:pathLst>
                <a:path h="561340" w="31216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840990" y="0"/>
                  </a:lnTo>
                  <a:cubicBezTo>
                    <a:pt x="2996057" y="0"/>
                    <a:pt x="3121660" y="125603"/>
                    <a:pt x="3121660" y="280670"/>
                  </a:cubicBezTo>
                  <a:cubicBezTo>
                    <a:pt x="3121660" y="435737"/>
                    <a:pt x="2996057" y="561340"/>
                    <a:pt x="28409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813280" y="7804404"/>
            <a:ext cx="2331720" cy="411480"/>
            <a:chOff x="0" y="0"/>
            <a:chExt cx="310896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31089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15816" y="8469344"/>
            <a:ext cx="16651796" cy="727520"/>
            <a:chOff x="0" y="0"/>
            <a:chExt cx="22202394" cy="97002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202394" cy="970026"/>
            </a:xfrm>
            <a:custGeom>
              <a:avLst/>
              <a:gdLst/>
              <a:ahLst/>
              <a:cxnLst/>
              <a:rect r="r" b="b" t="t" l="l"/>
              <a:pathLst>
                <a:path h="970026" w="2220239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053169" y="0"/>
                  </a:lnTo>
                  <a:cubicBezTo>
                    <a:pt x="22135592" y="0"/>
                    <a:pt x="22202394" y="66802"/>
                    <a:pt x="22202394" y="149225"/>
                  </a:cubicBezTo>
                  <a:lnTo>
                    <a:pt x="22202394" y="820801"/>
                  </a:lnTo>
                  <a:cubicBezTo>
                    <a:pt x="22202394" y="903224"/>
                    <a:pt x="22135592" y="970026"/>
                    <a:pt x="22053169" y="970026"/>
                  </a:cubicBezTo>
                  <a:lnTo>
                    <a:pt x="149225" y="970026"/>
                  </a:lnTo>
                  <a:cubicBezTo>
                    <a:pt x="66802" y="970026"/>
                    <a:pt x="0" y="903224"/>
                    <a:pt x="0" y="8208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34440" y="8476488"/>
            <a:ext cx="4389120" cy="713232"/>
            <a:chOff x="0" y="0"/>
            <a:chExt cx="5852160" cy="95097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852160" cy="950976"/>
            </a:xfrm>
            <a:custGeom>
              <a:avLst/>
              <a:gdLst/>
              <a:ahLst/>
              <a:cxnLst/>
              <a:rect r="r" b="b" t="t" l="l"/>
              <a:pathLst>
                <a:path h="95097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585216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897880" y="8476488"/>
            <a:ext cx="8641080" cy="713232"/>
            <a:chOff x="0" y="0"/>
            <a:chExt cx="11521440" cy="9509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521440" cy="950976"/>
            </a:xfrm>
            <a:custGeom>
              <a:avLst/>
              <a:gdLst/>
              <a:ahLst/>
              <a:cxnLst/>
              <a:rect r="r" b="b" t="t" l="l"/>
              <a:pathLst>
                <a:path h="950976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068" r="0" b="-18606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15214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tests of all business rules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808518" y="8622602"/>
            <a:ext cx="2341245" cy="421005"/>
            <a:chOff x="0" y="0"/>
            <a:chExt cx="3121660" cy="5613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121660" cy="561340"/>
            </a:xfrm>
            <a:custGeom>
              <a:avLst/>
              <a:gdLst/>
              <a:ahLst/>
              <a:cxnLst/>
              <a:rect r="r" b="b" t="t" l="l"/>
              <a:pathLst>
                <a:path h="561340" w="312166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lnTo>
                    <a:pt x="2840990" y="0"/>
                  </a:lnTo>
                  <a:cubicBezTo>
                    <a:pt x="2996057" y="0"/>
                    <a:pt x="3121660" y="125603"/>
                    <a:pt x="3121660" y="280670"/>
                  </a:cubicBezTo>
                  <a:cubicBezTo>
                    <a:pt x="3121660" y="435737"/>
                    <a:pt x="2996057" y="561340"/>
                    <a:pt x="2840990" y="561340"/>
                  </a:cubicBezTo>
                  <a:lnTo>
                    <a:pt x="280670" y="561340"/>
                  </a:ln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813280" y="8627364"/>
            <a:ext cx="2331720" cy="411480"/>
            <a:chOff x="0" y="0"/>
            <a:chExt cx="310896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31089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in Progress</a:t>
              </a: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465201"/>
            <a:ext cx="123444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449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DEMO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Database Rule Demonstration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5816" y="2324576"/>
            <a:ext cx="9066848" cy="7078028"/>
            <a:chOff x="0" y="0"/>
            <a:chExt cx="12089130" cy="9437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9130" cy="9437370"/>
            </a:xfrm>
            <a:custGeom>
              <a:avLst/>
              <a:gdLst/>
              <a:ahLst/>
              <a:cxnLst/>
              <a:rect r="r" b="b" t="t" l="l"/>
              <a:pathLst>
                <a:path h="9437370" w="12089130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11942572" y="0"/>
                  </a:lnTo>
                  <a:cubicBezTo>
                    <a:pt x="12023471" y="0"/>
                    <a:pt x="12089130" y="65659"/>
                    <a:pt x="12089130" y="146558"/>
                  </a:cubicBezTo>
                  <a:lnTo>
                    <a:pt x="12089130" y="9290812"/>
                  </a:lnTo>
                  <a:cubicBezTo>
                    <a:pt x="12089130" y="9371711"/>
                    <a:pt x="12023471" y="9437370"/>
                    <a:pt x="11942572" y="9437370"/>
                  </a:cubicBezTo>
                  <a:lnTo>
                    <a:pt x="146558" y="9437370"/>
                  </a:lnTo>
                  <a:cubicBezTo>
                    <a:pt x="65659" y="9437370"/>
                    <a:pt x="0" y="9371711"/>
                    <a:pt x="0" y="9290812"/>
                  </a:cubicBezTo>
                  <a:close/>
                </a:path>
              </a:pathLst>
            </a:custGeom>
            <a:solidFill>
              <a:srgbClr val="1B2B34"/>
            </a:solidFill>
            <a:ln w="14288" cap="sq">
              <a:solidFill>
                <a:srgbClr val="1B2B3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65860" y="2596515"/>
            <a:ext cx="8366760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ourier New"/>
                <a:ea typeface="Courier New"/>
                <a:cs typeface="Courier New"/>
                <a:sym typeface="Courier New"/>
              </a:rPr>
              <a:t>-- Same seat booked twice on one trip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booking (trip_id, seat_id, passenger_id)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VALUES (1, 5, 2);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-- ERROR 1062: Duplicate entry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ourier New"/>
                <a:ea typeface="Courier New"/>
                <a:cs typeface="Courier New"/>
                <a:sym typeface="Courier New"/>
              </a:rPr>
              <a:t>-- Wrong payment amount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payment (booking_id, amount, method)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VALUES (1, 100, 'UPI');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-- ERROR 1644: Payment amount does not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ourier New"/>
                <a:ea typeface="Courier New"/>
                <a:cs typeface="Courier New"/>
                <a:sym typeface="Courier New"/>
              </a:rPr>
              <a:t>--   match the fare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ourier New"/>
                <a:ea typeface="Courier New"/>
                <a:cs typeface="Courier New"/>
                <a:sym typeface="Courier New"/>
              </a:rPr>
              <a:t>-- Cancel a booking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cancellation (booking_id) VALUES (1);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FB3C7"/>
                </a:solidFill>
                <a:latin typeface="Courier New"/>
                <a:ea typeface="Courier New"/>
                <a:cs typeface="Courier New"/>
                <a:sym typeface="Courier New"/>
              </a:rPr>
              <a:t>-- refund_amount set by trigger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79856" y="2324576"/>
            <a:ext cx="7187756" cy="1042988"/>
            <a:chOff x="0" y="0"/>
            <a:chExt cx="9583674" cy="1390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556557" y="2532698"/>
            <a:ext cx="626745" cy="626745"/>
            <a:chOff x="0" y="0"/>
            <a:chExt cx="835660" cy="835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561320" y="2537460"/>
            <a:ext cx="617220" cy="617220"/>
            <a:chOff x="0" y="0"/>
            <a:chExt cx="822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52860" y="2331720"/>
            <a:ext cx="5829300" cy="1028700"/>
            <a:chOff x="0" y="0"/>
            <a:chExt cx="77724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schema.sql to build tables, indexes and triggers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79856" y="3517868"/>
            <a:ext cx="7187756" cy="1042988"/>
            <a:chOff x="0" y="0"/>
            <a:chExt cx="9583674" cy="1390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56557" y="3725990"/>
            <a:ext cx="626745" cy="626745"/>
            <a:chOff x="0" y="0"/>
            <a:chExt cx="835660" cy="8356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561320" y="3730752"/>
            <a:ext cx="617220" cy="617220"/>
            <a:chOff x="0" y="0"/>
            <a:chExt cx="82296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52860" y="3525012"/>
            <a:ext cx="5829300" cy="1028700"/>
            <a:chOff x="0" y="0"/>
            <a:chExt cx="77724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a trip and book a seat — accepted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79856" y="4711160"/>
            <a:ext cx="7187756" cy="1042988"/>
            <a:chOff x="0" y="0"/>
            <a:chExt cx="9583674" cy="13906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556557" y="4919282"/>
            <a:ext cx="626745" cy="626745"/>
            <a:chOff x="0" y="0"/>
            <a:chExt cx="835660" cy="8356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561320" y="4924044"/>
            <a:ext cx="617220" cy="617220"/>
            <a:chOff x="0" y="0"/>
            <a:chExt cx="82296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52860" y="4718304"/>
            <a:ext cx="5829300" cy="1028700"/>
            <a:chOff x="0" y="0"/>
            <a:chExt cx="7772400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 the same seat again — rejected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79856" y="5904452"/>
            <a:ext cx="7187756" cy="1042988"/>
            <a:chOff x="0" y="0"/>
            <a:chExt cx="9583674" cy="13906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556557" y="6112574"/>
            <a:ext cx="626745" cy="626745"/>
            <a:chOff x="0" y="0"/>
            <a:chExt cx="835660" cy="8356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561320" y="6117336"/>
            <a:ext cx="617220" cy="617220"/>
            <a:chOff x="0" y="0"/>
            <a:chExt cx="82296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52860" y="5911596"/>
            <a:ext cx="5829300" cy="1028700"/>
            <a:chOff x="0" y="0"/>
            <a:chExt cx="777240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Assign a driver to an overlapping trip — rejected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79856" y="7097744"/>
            <a:ext cx="7187756" cy="1042988"/>
            <a:chOff x="0" y="0"/>
            <a:chExt cx="9583674" cy="13906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556557" y="7305866"/>
            <a:ext cx="626745" cy="626745"/>
            <a:chOff x="0" y="0"/>
            <a:chExt cx="835660" cy="8356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561320" y="7310628"/>
            <a:ext cx="617220" cy="617220"/>
            <a:chOff x="0" y="0"/>
            <a:chExt cx="82296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52860" y="7104888"/>
            <a:ext cx="5829300" cy="1028700"/>
            <a:chOff x="0" y="0"/>
            <a:chExt cx="7772400" cy="1371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 a wrong amount — rejected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79856" y="8291036"/>
            <a:ext cx="7187756" cy="1042988"/>
            <a:chOff x="0" y="0"/>
            <a:chExt cx="9583674" cy="13906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83674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8367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9435338" y="0"/>
                  </a:lnTo>
                  <a:cubicBezTo>
                    <a:pt x="9517253" y="0"/>
                    <a:pt x="9583674" y="66421"/>
                    <a:pt x="9583674" y="148336"/>
                  </a:cubicBezTo>
                  <a:lnTo>
                    <a:pt x="9583674" y="1242314"/>
                  </a:lnTo>
                  <a:cubicBezTo>
                    <a:pt x="9583674" y="1324229"/>
                    <a:pt x="9517253" y="1390650"/>
                    <a:pt x="943533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556557" y="8499157"/>
            <a:ext cx="626745" cy="626745"/>
            <a:chOff x="0" y="0"/>
            <a:chExt cx="835660" cy="8356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35660" cy="835660"/>
            </a:xfrm>
            <a:custGeom>
              <a:avLst/>
              <a:gdLst/>
              <a:ahLst/>
              <a:cxnLst/>
              <a:rect r="r" b="b" t="t" l="l"/>
              <a:pathLst>
                <a:path h="835660" w="835660">
                  <a:moveTo>
                    <a:pt x="0" y="417830"/>
                  </a:moveTo>
                  <a:cubicBezTo>
                    <a:pt x="0" y="187071"/>
                    <a:pt x="187071" y="0"/>
                    <a:pt x="417830" y="0"/>
                  </a:cubicBezTo>
                  <a:cubicBezTo>
                    <a:pt x="648589" y="0"/>
                    <a:pt x="835660" y="187071"/>
                    <a:pt x="835660" y="417830"/>
                  </a:cubicBezTo>
                  <a:cubicBezTo>
                    <a:pt x="835660" y="648589"/>
                    <a:pt x="648589" y="835660"/>
                    <a:pt x="417830" y="835660"/>
                  </a:cubicBezTo>
                  <a:cubicBezTo>
                    <a:pt x="187071" y="835660"/>
                    <a:pt x="0" y="648589"/>
                    <a:pt x="0" y="417830"/>
                  </a:cubicBezTo>
                  <a:close/>
                </a:path>
              </a:pathLst>
            </a:custGeom>
            <a:solidFill>
              <a:srgbClr val="0B3C5D"/>
            </a:solidFill>
            <a:ln w="9525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561320" y="8503920"/>
            <a:ext cx="617220" cy="617220"/>
            <a:chOff x="0" y="0"/>
            <a:chExt cx="822960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452860" y="8298180"/>
            <a:ext cx="5829300" cy="1028700"/>
            <a:chOff x="0" y="0"/>
            <a:chExt cx="7772400" cy="1371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7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77724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Cancel a booking — refund tier applied, seat freed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0287000" y="9505188"/>
            <a:ext cx="7132320" cy="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"/>
              </a:lnSpc>
            </a:pPr>
            <a:r>
              <a:rPr lang="en-US" sz="1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Statements are illustrative; IDs depend on the sample data.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B6B74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384048"/>
            <a:chOff x="0" y="0"/>
            <a:chExt cx="1097280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FB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 Reservation &amp; Fleet Scheduling DBMS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028700"/>
            <a:chOff x="0" y="0"/>
            <a:chExt cx="2212848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Next Steps &amp; 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10026968" cy="1248727"/>
            <a:chOff x="0" y="0"/>
            <a:chExt cx="13369290" cy="1664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69291" cy="1664970"/>
            </a:xfrm>
            <a:custGeom>
              <a:avLst/>
              <a:gdLst/>
              <a:ahLst/>
              <a:cxnLst/>
              <a:rect r="r" b="b" t="t" l="l"/>
              <a:pathLst>
                <a:path h="1664970" w="13369291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3221336" y="0"/>
                  </a:lnTo>
                  <a:cubicBezTo>
                    <a:pt x="13303123" y="0"/>
                    <a:pt x="13369291" y="66294"/>
                    <a:pt x="13369291" y="147955"/>
                  </a:cubicBezTo>
                  <a:lnTo>
                    <a:pt x="13369291" y="1517015"/>
                  </a:lnTo>
                  <a:cubicBezTo>
                    <a:pt x="13369291" y="1598803"/>
                    <a:pt x="13302997" y="1664970"/>
                    <a:pt x="13221336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518" y="2601278"/>
            <a:ext cx="695325" cy="695325"/>
            <a:chOff x="0" y="0"/>
            <a:chExt cx="92710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60604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2331720"/>
            <a:ext cx="8572500" cy="1234440"/>
            <a:chOff x="0" y="0"/>
            <a:chExt cx="1143000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430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realistic sample data: routes, buses, seats, crews and trips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5816" y="3723608"/>
            <a:ext cx="10026968" cy="1248727"/>
            <a:chOff x="0" y="0"/>
            <a:chExt cx="13369290" cy="16649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69291" cy="1664970"/>
            </a:xfrm>
            <a:custGeom>
              <a:avLst/>
              <a:gdLst/>
              <a:ahLst/>
              <a:cxnLst/>
              <a:rect r="r" b="b" t="t" l="l"/>
              <a:pathLst>
                <a:path h="1664970" w="13369291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3221336" y="0"/>
                  </a:lnTo>
                  <a:cubicBezTo>
                    <a:pt x="13303123" y="0"/>
                    <a:pt x="13369291" y="66294"/>
                    <a:pt x="13369291" y="147955"/>
                  </a:cubicBezTo>
                  <a:lnTo>
                    <a:pt x="13369291" y="1517015"/>
                  </a:lnTo>
                  <a:cubicBezTo>
                    <a:pt x="13369291" y="1598803"/>
                    <a:pt x="13302997" y="1664970"/>
                    <a:pt x="13221336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2518" y="4000310"/>
            <a:ext cx="695325" cy="695325"/>
            <a:chOff x="0" y="0"/>
            <a:chExt cx="927100" cy="927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400507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57400" y="3730752"/>
            <a:ext cx="8572500" cy="1234440"/>
            <a:chOff x="0" y="0"/>
            <a:chExt cx="114300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430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Write joins, aggregates, nested queries and views for occupancy, revenue and utilization reports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5122640"/>
            <a:ext cx="10026968" cy="1248727"/>
            <a:chOff x="0" y="0"/>
            <a:chExt cx="13369290" cy="16649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369291" cy="1664970"/>
            </a:xfrm>
            <a:custGeom>
              <a:avLst/>
              <a:gdLst/>
              <a:ahLst/>
              <a:cxnLst/>
              <a:rect r="r" b="b" t="t" l="l"/>
              <a:pathLst>
                <a:path h="1664970" w="13369291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3221336" y="0"/>
                  </a:lnTo>
                  <a:cubicBezTo>
                    <a:pt x="13303123" y="0"/>
                    <a:pt x="13369291" y="66294"/>
                    <a:pt x="13369291" y="147955"/>
                  </a:cubicBezTo>
                  <a:lnTo>
                    <a:pt x="13369291" y="1517015"/>
                  </a:lnTo>
                  <a:cubicBezTo>
                    <a:pt x="13369291" y="1598803"/>
                    <a:pt x="13302997" y="1664970"/>
                    <a:pt x="13221336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2518" y="5399342"/>
            <a:ext cx="695325" cy="695325"/>
            <a:chOff x="0" y="0"/>
            <a:chExt cx="927100" cy="927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5404104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5129784"/>
            <a:ext cx="8572500" cy="1234440"/>
            <a:chOff x="0" y="0"/>
            <a:chExt cx="1143000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1430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the front-end (Python or Java) for search, booking and cancellation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5816" y="6521672"/>
            <a:ext cx="10026968" cy="1248727"/>
            <a:chOff x="0" y="0"/>
            <a:chExt cx="13369290" cy="16649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369291" cy="1664970"/>
            </a:xfrm>
            <a:custGeom>
              <a:avLst/>
              <a:gdLst/>
              <a:ahLst/>
              <a:cxnLst/>
              <a:rect r="r" b="b" t="t" l="l"/>
              <a:pathLst>
                <a:path h="1664970" w="13369291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3221336" y="0"/>
                  </a:lnTo>
                  <a:cubicBezTo>
                    <a:pt x="13303123" y="0"/>
                    <a:pt x="13369291" y="66294"/>
                    <a:pt x="13369291" y="147955"/>
                  </a:cubicBezTo>
                  <a:lnTo>
                    <a:pt x="13369291" y="1517015"/>
                  </a:lnTo>
                  <a:cubicBezTo>
                    <a:pt x="13369291" y="1598803"/>
                    <a:pt x="13302997" y="1664970"/>
                    <a:pt x="13221336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2518" y="6798374"/>
            <a:ext cx="695325" cy="695325"/>
            <a:chOff x="0" y="0"/>
            <a:chExt cx="927100" cy="927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6803136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7400" y="6528816"/>
            <a:ext cx="8572500" cy="1234440"/>
            <a:chOff x="0" y="0"/>
            <a:chExt cx="11430000" cy="1645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30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1430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every business rule end to end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5816" y="7920704"/>
            <a:ext cx="10026968" cy="1248727"/>
            <a:chOff x="0" y="0"/>
            <a:chExt cx="13369290" cy="16649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369291" cy="1664970"/>
            </a:xfrm>
            <a:custGeom>
              <a:avLst/>
              <a:gdLst/>
              <a:ahLst/>
              <a:cxnLst/>
              <a:rect r="r" b="b" t="t" l="l"/>
              <a:pathLst>
                <a:path h="1664970" w="13369291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3221336" y="0"/>
                  </a:lnTo>
                  <a:cubicBezTo>
                    <a:pt x="13303123" y="0"/>
                    <a:pt x="13369291" y="66294"/>
                    <a:pt x="13369291" y="147955"/>
                  </a:cubicBezTo>
                  <a:lnTo>
                    <a:pt x="13369291" y="1517015"/>
                  </a:lnTo>
                  <a:cubicBezTo>
                    <a:pt x="13369291" y="1598803"/>
                    <a:pt x="13302997" y="1664970"/>
                    <a:pt x="13221336" y="1664970"/>
                  </a:cubicBezTo>
                  <a:lnTo>
                    <a:pt x="147955" y="1664970"/>
                  </a:lnTo>
                  <a:cubicBezTo>
                    <a:pt x="66294" y="1664970"/>
                    <a:pt x="0" y="1598676"/>
                    <a:pt x="0" y="1517015"/>
                  </a:cubicBezTo>
                  <a:close/>
                </a:path>
              </a:pathLst>
            </a:custGeom>
            <a:solidFill>
              <a:srgbClr val="12507A"/>
            </a:solidFill>
            <a:ln w="14288" cap="sq">
              <a:solidFill>
                <a:srgbClr val="12507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92518" y="8197406"/>
            <a:ext cx="695325" cy="695325"/>
            <a:chOff x="0" y="0"/>
            <a:chExt cx="927100" cy="927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5A623"/>
            </a:solidFill>
            <a:ln w="9525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" y="8202168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2B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57400" y="7927848"/>
            <a:ext cx="8572500" cy="1234440"/>
            <a:chOff x="0" y="0"/>
            <a:chExt cx="11430000" cy="16459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430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1430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 final documentation and the viva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239976" y="2324576"/>
            <a:ext cx="6227636" cy="6872288"/>
            <a:chOff x="0" y="0"/>
            <a:chExt cx="8303514" cy="9163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03514" cy="9163050"/>
            </a:xfrm>
            <a:custGeom>
              <a:avLst/>
              <a:gdLst/>
              <a:ahLst/>
              <a:cxnLst/>
              <a:rect r="r" b="b" t="t" l="l"/>
              <a:pathLst>
                <a:path h="9163050" w="8303514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8156829" y="0"/>
                  </a:lnTo>
                  <a:cubicBezTo>
                    <a:pt x="8237855" y="0"/>
                    <a:pt x="8303514" y="65659"/>
                    <a:pt x="8303514" y="146685"/>
                  </a:cubicBezTo>
                  <a:lnTo>
                    <a:pt x="8303514" y="9016365"/>
                  </a:lnTo>
                  <a:cubicBezTo>
                    <a:pt x="8303514" y="9097391"/>
                    <a:pt x="8237855" y="9163050"/>
                    <a:pt x="8156829" y="9163050"/>
                  </a:cubicBezTo>
                  <a:lnTo>
                    <a:pt x="146685" y="9163050"/>
                  </a:lnTo>
                  <a:cubicBezTo>
                    <a:pt x="65659" y="9163050"/>
                    <a:pt x="0" y="9097391"/>
                    <a:pt x="0" y="901636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7EA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658600" y="2636520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F5A6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58600" y="3244215"/>
            <a:ext cx="5417820" cy="402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B34"/>
                </a:solidFill>
                <a:latin typeface="Calibri (MS)"/>
                <a:ea typeface="Calibri (MS)"/>
                <a:cs typeface="Calibri (MS)"/>
                <a:sym typeface="Calibri (MS)"/>
              </a:rPr>
              <a:t>The bus reservation and fleet scheduling schema is implemented in MySQL, with double-booking, crew overlap, payment and refund rules enforced by constraints and triggers. Queries, reports and the front-end are work in progress for Review 3.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58600" y="7408545"/>
            <a:ext cx="5486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824960" y="9718548"/>
            <a:ext cx="571500" cy="33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8FB3C7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DAHXcNQSc9Y</dc:identifier>
  <dcterms:modified xsi:type="dcterms:W3CDTF">2011-08-01T06:04:30Z</dcterms:modified>
  <cp:revision>1</cp:revision>
  <dc:title>Bus_Reservation_DBMS_Review_2.pptx</dc:title>
</cp:coreProperties>
</file>